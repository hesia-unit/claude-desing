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6812280"/>
            <a:ext cx="4876495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640080" y="640080"/>
            <a:ext cx="548640" cy="54864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23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7132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64008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INVESTOR DECK —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675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Sovereign security for critical
autonomous systems.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1E8"/>
                </a:solidFill>
                <a:latin typeface="Calibri Light"/>
              </a:rPr>
              <a:t>Standardized post-quantum cryptography. Hardware-backed. Made in Europe.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5A8"/>
                </a:solidFill>
                <a:latin typeface="Calibri Light"/>
              </a:rPr>
              <a:t>HESIA · Paris, France · hesia.eu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060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AT A GLANCE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08960"/>
            <a:ext cx="4114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→ Firmware + server platform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→ ML-KEM-1024 / ML-DSA-87 / OP-TEE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→ NIS2 and CRA compliant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→ TRL 4-5 · Customer pilots in flight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→ Targets: critical operators, EU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035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95A8"/>
                </a:solidFill>
                <a:latin typeface="Calibri Light"/>
              </a:rPr>
              <a:t>contact@hesia.eu · +33 X XX XX XX 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Give Europe control over its autonomous systems.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Europe cannot steer its sovereignty with firmwares it did not write, protocols it cannot audit, and cryptography that will be broken within a decade. HESIA builds the software layer that makes European drones and embedded systems trustworthy — today against classical threats, tomorrow against the quantum computer.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D4A017"/>
                </a:solidFill>
                <a:latin typeface="Calibr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303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The HESIA founding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Three forces converge — the window is closing.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1E8"/>
                </a:solidFill>
                <a:latin typeface="Calibri Light"/>
              </a:rPr>
              <a:t>European critical infrastructure operators and defense actors have no off-the-shelf solution today that meets all three requirements below.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703320" cy="31089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4864" cy="31089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Quantum is coming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32461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NIST published FIPS 203/204/205 in August 2024.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ANSSI, BSI, NSA mandate migration roadmaps.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"Harvest now, decrypt later" is a present risk.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Embedded drones lag on PQC migration.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017520"/>
            <a:ext cx="3703320" cy="31089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017520"/>
            <a:ext cx="54864" cy="31089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200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EU regulation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57600"/>
            <a:ext cx="32461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NIS2 transposed: mandatory audit of critical components.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Cyber Resilience Act: security-by-design, patching, audits.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Penalties: up to 2% of global revenue.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No off-the-shelf manufacturer toolkit today.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017520"/>
            <a:ext cx="3703320" cy="31089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3017520"/>
            <a:ext cx="54864" cy="31089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320040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Sovereignty &amp; 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657600"/>
            <a:ext cx="324612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Most stacks rely on non-auditable components.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CLOUD Act, FISA 702, ITAR: foreign legal exposure.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Rising EU demand for independent products.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Few credible certified alternatives.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Regulation and technology align — perfect window.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371600" cy="7772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4A017"/>
                </a:solidFill>
                <a:latin typeface="Calibri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23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NIST PQC standards published (FIPS 203/204/205)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6148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First official post-quantum standards — industrial migration can begin.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1371600" cy="7772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071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4A017"/>
                </a:solidFill>
                <a:latin typeface="Calibri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2918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ANSSI PQC guide v2 + BSI directives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63016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European national agencies formalize requirements for critical systems.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371600" cy="7772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793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4A017"/>
                </a:solidFill>
                <a:latin typeface="Calibri"/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1605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NIS2 transposed · CRA enters into force progressively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49884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All connected-device makers must demonstrate security-by-design.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371600" cy="7772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4807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D4A017"/>
                </a:solidFill>
                <a:latin typeface="Calibri"/>
              </a:rPr>
              <a:t>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029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CRA full enforcement · CSPN/CC EAL4+ wave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36752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First mandatory certifications — commercial window opens wide.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Full stack: from silicon to operator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1E8"/>
                </a:solidFill>
                <a:latin typeface="Calibri Light"/>
              </a:rPr>
              <a:t>HESIA is the first European platform integrating post-quantum cryptography, hardware attestation, and regulatory compliance for critical drones and embedded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2926080" cy="5943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54864" cy="594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06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Operator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9067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HESIA Command — fleet supervision, Ed25519 policy signing, immutable audit log.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2926080" cy="5943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54864" cy="594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764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Data / AI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7647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HESIA Observe — auditable embedded AI pipeline (YOLO + MiDaS), signed allowlist.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2926080" cy="5943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54864" cy="594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622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Firmware 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46227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HESIA Core — TLS 1.3 mTLS, hybrid ML-KEM-1024, hardened Linux sandbox.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83480"/>
            <a:ext cx="2926080" cy="5943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83480"/>
            <a:ext cx="54864" cy="594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480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Hardware plane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4807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HESIA Attest — OP-TEE TA, key sealing, remote attestation, verified secure boot.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2926080" cy="5943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3387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83387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Auto-generated NIS2 / CRA / ANSSI matrices, exportable to SIEM.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Four modules — deployable together or independently.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2697480" cy="36576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269748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A017"/>
                </a:solidFill>
                <a:latin typeface="Calibri"/>
              </a:rPr>
              <a:t>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4A017"/>
                </a:solidFill>
                <a:latin typeface="Calibri Light"/>
              </a:rPr>
              <a:t>Hardened embedded firmware.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TLS 1.3 mTLS + hybrid ML-KEM-1024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AES-256-GCM rotation &lt; 60s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Ed25519 module allowlist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seccomp / AppArmor sandbox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Chained immutable audit log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Linux Yocto (Jetson, iMX9)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2468880"/>
            <a:ext cx="2697480" cy="36576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10712" y="2468880"/>
            <a:ext cx="269748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26060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A017"/>
                </a:solidFill>
                <a:latin typeface="Calibri"/>
              </a:rPr>
              <a:t>Q3 2026 ALPHA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926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38328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4A017"/>
                </a:solidFill>
                <a:latin typeface="Calibri Light"/>
              </a:rPr>
              <a:t>Multi-drone supervision.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402336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Real-time WebGL console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ML-DSA-87 policy signing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RBAC + operations log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SIEM connector (Splunk, Elastic)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Documented REST / gRPC API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Self-hostable (sovereign)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2468880"/>
            <a:ext cx="2697480" cy="36576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4" y="2468880"/>
            <a:ext cx="269748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6060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A017"/>
                </a:solidFill>
                <a:latin typeface="Calibri"/>
              </a:rPr>
              <a:t>Q4 2026 BETA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2926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338328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4A017"/>
                </a:solidFill>
                <a:latin typeface="Calibri Light"/>
              </a:rPr>
              <a:t>Auditable embedded AI.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02336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YOLO + MiDaS sandbox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Strict memory / CPU limits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Signed AI outputs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Verifiable models (hash + sig)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Behavior profiling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GDPR-friendly 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4856" y="2468880"/>
            <a:ext cx="2697480" cy="36576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34856" y="2468880"/>
            <a:ext cx="269748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260604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4A017"/>
                </a:solidFill>
                <a:latin typeface="Calibri"/>
              </a:rPr>
              <a:t>Q1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29260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Attest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3456" y="338328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D4A017"/>
                </a:solidFill>
                <a:latin typeface="Calibri Light"/>
              </a:rPr>
              <a:t>Hardware-backed attestation.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4023360"/>
            <a:ext cx="2240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OP-TEE / TrustZone TA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Key sealing on SoC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Signed remote attestation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Verified secure boot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Anti-rollback (RPMB)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Optional TPM compatibility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TECHNICAL 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Sourced technical credibility — no claim without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1E8"/>
                </a:solidFill>
                <a:latin typeface="Calibri Light"/>
              </a:rPr>
              <a:t>HESIA's technical choices rely on open, audited standards recognized by national agencies.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5532120" cy="16916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54864" cy="1691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Post-quantum cryptography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ML-KEM-1024 (NIST FIPS 203, August 2024)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ML-DSA-87 for signatures (FIPS 204)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Hybrid mode X25519 + ML-KEM (defense in depth)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liboqs library (Open Quantum Safe — audited)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34640"/>
            <a:ext cx="5532120" cy="16916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834640"/>
            <a:ext cx="54864" cy="1691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Trusted Execution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OP-TEE 4.x (Linaro, open source)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ARM TrustZone on Cortex-A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Hardware-backed master key sealing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Remote attestation with RFC 9266 exporter binding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09160"/>
            <a:ext cx="5532120" cy="16916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09160"/>
            <a:ext cx="54864" cy="1691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Compliance &amp; certification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ANSSI CSPN application under review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FIPS 140-3 gap analysis completed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Common Criteria EAL4+ roadmap (2027)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NIS2 / CRA documented mapping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709160"/>
            <a:ext cx="5532120" cy="16916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709160"/>
            <a:ext cx="54864" cy="169164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892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Technical sovereignty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4924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Source code open to customer audits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100% EU hosting and support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Auditable open-source stack (OP-TEE, OpenSSL, liboqs)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• No ITAR or CLOUD Act dependency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An expanding market — structurally sovereign.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1E8"/>
                </a:solidFill>
                <a:latin typeface="Calibri Light"/>
              </a:rPr>
              <a:t>Sources: Teal Group, PwC, European Commission, NIST, ANSSI. Estimates modeled by HESIA from public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3703320" cy="21945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370332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TAM (Total)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$21B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Civil + defense drones + critical embedded systems · 2030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2926080"/>
            <a:ext cx="3703320" cy="21945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2926080"/>
            <a:ext cx="370332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31546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SAM (EU)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56616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$4.2B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3434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Critical inspection drones + EU sovereign UAS defense · 2028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2926080"/>
            <a:ext cx="3703320" cy="21945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2926080"/>
            <a:ext cx="370332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31546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SOM (5y)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4" y="356616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€5–25M ARR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43434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Target 0.3% SAM penetration · dual-use civil → defense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8A95A8"/>
                </a:solidFill>
                <a:latin typeface="Calibri Light"/>
              </a:rPr>
              <a:t>Note: ARR figures are a conservative commercial target. SAM derives from European share of global inspection drone market (Teal Group 2024) plus EU sovereign UAS programs (EDF / OCCAR / DGA public budgets).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GO-TO-MARKET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Civil first, defense next — explicit sequence.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532120" cy="36576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553212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PHASE 1 · M+0 TO M+18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Civil dual-use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Industrial inspection + critical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983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Targets: energy, transport, telecom operators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Cycle: 6-12 months, deal size €50-200k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Effect: track record + technical credibility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Driver: NIS2 / CRA forces decision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Output: 5-10 EU pilot 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468880"/>
            <a:ext cx="5532120" cy="36576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468880"/>
            <a:ext cx="553212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60604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PHASE 2 · M+18 TO M+36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Sovereign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290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Armed forces + primes + integrators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06240"/>
            <a:ext cx="4983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Targets: DGA, OCCAR, EU primes (Thales, Airbus DS)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Cycle: 12-24 months, deal size €200-500k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Effect: higher margins, multi-year contracts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Driver: civil track record + certifications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Output: 3-6 EU defense contracts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Embedded SaaS license + services — 80% recurring.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List pricing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6492240" cy="3657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9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791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791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6492240" cy="3657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HESIA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063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€2,500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063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per drone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290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HESIA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429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€15,000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29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instance / year + seats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6492240" cy="3657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794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HESIA 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7947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€1,500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794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per drone /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0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HESIA Attest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160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€800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160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per drone / year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34840"/>
            <a:ext cx="6492240" cy="3657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262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Audit /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526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€20,000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526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fixed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92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Gold Support (24/7 SLA)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20% MRR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8920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annual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1945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ARR projection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2606040"/>
            <a:ext cx="4297680" cy="32918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2880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Year 1 (2026)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2880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D4A017"/>
                </a:solidFill>
                <a:latin typeface="Calibri"/>
              </a:rPr>
              <a:t>€0.8 – 1.5M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4747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Year 2 (2027)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D4A017"/>
                </a:solidFill>
                <a:latin typeface="Calibri"/>
              </a:rPr>
              <a:t>€2.5 – 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069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Year 3 (2028)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4069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D4A017"/>
                </a:solidFill>
                <a:latin typeface="Calibri"/>
              </a:rPr>
              <a:t>€6 – 12M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6634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Year 5 (2030)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63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D4A017"/>
                </a:solidFill>
                <a:latin typeface="Calibri"/>
              </a:rPr>
              <a:t>€15 – 30M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5A8"/>
                </a:solidFill>
                <a:latin typeface="Calibri Light"/>
              </a:rPr>
              <a:t>Assumptions: 5-10 customers Y1 (POC + license), volume + module expansion Y2-Y3, defense entry Y3-Y4. Conservative vs B2B cyber category leaders.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ROADMAP &amp; 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24-month execution plan — public milestones.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Disciplined roadmap. Each quarter delivers a product milestone + a commercial milestone.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2697480" cy="338328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26974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Q1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Public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331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HESIA Core 1.0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Website + PR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First PQC whitepaper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1st pilot customer signed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FIC presence (Lille)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2743200"/>
            <a:ext cx="2697480" cy="338328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10712" y="2743200"/>
            <a:ext cx="26974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2926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Q2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291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Pre-CSPN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3840480"/>
            <a:ext cx="2331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Core 1.1 + external audit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OP-TEE TA alpha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CSPN application filed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2-3 additional pilots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Funding round (target)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4" y="2743200"/>
            <a:ext cx="2697480" cy="338328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2743200"/>
            <a:ext cx="26974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926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Q3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291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Command beta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840480"/>
            <a:ext cx="2331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HESIA Command alpha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SIEM connectors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Hire Security Engineer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UAV Show (Bordeaux)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First public case study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2743200"/>
            <a:ext cx="2697480" cy="338328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2743200"/>
            <a:ext cx="26974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2926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3291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Product maturity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3840480"/>
            <a:ext cx="2331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HESIA Attest beta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Common Criteria gap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Year review · ARR ≥ €800k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Milipol Paris (booth)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5F1E8"/>
                </a:solidFill>
                <a:latin typeface="Calibri Light"/>
              </a:rPr>
              <a:t>  DACH expansion prep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Where we sit on the board — a real market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HESIA is not a drone manufacturer, nor a cyber consultancy. It is the missing sovereign software vendor.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1064240" cy="41148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Player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803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Origin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8803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803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Native PQC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8803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EU sovereignty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192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Skydio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31927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🇺🇸 USA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319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Integrated HW + SW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3192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31927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No (ITAR)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76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Anduril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77647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🇺🇸 USA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776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HW + SW +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7764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77647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336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Parrot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23367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🇫🇷 France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2336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Consumer + pro HW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336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23367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Partial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6908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Quantum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69087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🇩🇪 Germany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6908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Reconnaissance HW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6908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No public claim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69087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1480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Elbit / IAI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14807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🇮🇱 Israel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51480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Integrated defense HW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1480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14807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6052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545"/>
                </a:solidFill>
                <a:latin typeface="Calibri Light"/>
              </a:rPr>
              <a:t>HESIA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60527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545"/>
                </a:solidFill>
                <a:latin typeface="Calibri Light"/>
              </a:rPr>
              <a:t>🇫🇷 → 🇪🇺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5605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545"/>
                </a:solidFill>
                <a:latin typeface="Calibri Light"/>
              </a:rPr>
              <a:t>Horizontal embedded SW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6052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545"/>
                </a:solidFill>
                <a:latin typeface="Calibri Light"/>
              </a:rPr>
              <a:t>Native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60527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545"/>
                </a:solidFill>
                <a:latin typeface="Calibri Light"/>
              </a:rPr>
              <a:t>Native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Rare technical profiles — unique cyber + embedded + EU mix.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Founding team of [N] people, complemented by specialized freelancers and external scientific 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3703320" cy="23774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370332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CO-FOUNDER &amp; 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[To be filled]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Cryptography + embedded security background. Previously at [ANSSI / Thales / Airbus / research lab]. OP-TEE expert and PQC migration. Public publications on [topics].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2788920"/>
            <a:ext cx="3703320" cy="23774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2788920"/>
            <a:ext cx="370332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3017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CO-FOUNDER &amp; CEO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3375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[To be filled]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84048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Product + B2B deeptech business background. Previously at [cyber / defense / industrial scale-up]. Network in EU OIV and defense procurement.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2788920"/>
            <a:ext cx="3703320" cy="23774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2788920"/>
            <a:ext cx="370332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301752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HEAD OF SECURITY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4" y="33375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[To hire Q3 2026]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384048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Targeting senior 8-12 years: OP-TEE, TrustZone, Yocto, Linux kernel. CSPN or Common Criteria certification cycle experience preferred.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ADVISORS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Scientific board (cryptography / defense) · Defense GTM advisor · NIS2 / CRA compliance advisor · French Tech / EIC mentors.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Financial model — conservative projections.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743200" cy="18288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D4A017"/>
                </a:solidFill>
                <a:latin typeface="Calibri"/>
              </a:rPr>
              <a:t>€0.8–1.5M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Year 1 ARR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286000"/>
            <a:ext cx="2743200" cy="18288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406908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D4A017"/>
                </a:solidFill>
                <a:latin typeface="Calibri"/>
              </a:rPr>
              <a:t>65–80%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657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Embedded SaaS gross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86000"/>
            <a:ext cx="2743200" cy="18288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06908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D4A017"/>
                </a:solidFill>
                <a:latin typeface="Calibri"/>
              </a:rPr>
              <a:t>9–12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Average sales 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286000"/>
            <a:ext cx="2743200" cy="18288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4069080"/>
            <a:ext cx="274320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6974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D4A017"/>
                </a:solidFill>
                <a:latin typeface="Calibri"/>
              </a:rPr>
              <a:t>3–5×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657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LTV/CAC at maturity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5-year trajectory (median scenario)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9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Indicator (€M)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919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919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919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49194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A017"/>
                </a:solidFill>
                <a:latin typeface="Calibri"/>
              </a:rPr>
              <a:t>2030 target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12080"/>
            <a:ext cx="10972800" cy="3200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2760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Cumulative signed ARR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2760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52760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3.5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52760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9.0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52760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22.0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5961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Paying customers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55961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5-8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55961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12-18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5961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25-35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55961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60+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9161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Headcount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9161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59161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9161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59161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70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2362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Burn / 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62362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0.1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62362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0.2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62362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0.3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62362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0.4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65562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Gross margin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0" y="6556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60%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6556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70%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600" y="6556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75%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15400" y="655624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80%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8762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 Light"/>
              </a:rPr>
              <a:t>Cash runway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68762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&gt;18m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7800" y="68762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&gt;18m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68762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&gt;18m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68762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self-funded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Allocation of raised funds — 18-24 months runway.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5F1E8"/>
                </a:solidFill>
                <a:latin typeface="Calibri Light"/>
              </a:rPr>
              <a:t>Priority: certified product + technical team + EU commercial traction. No premature brand spending.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4978908" cy="457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7548" y="2926080"/>
            <a:ext cx="2766060" cy="457200"/>
          </a:xfrm>
          <a:prstGeom prst="rect">
            <a:avLst/>
          </a:prstGeom>
          <a:solidFill>
            <a:srgbClr val="C99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93608" y="2926080"/>
            <a:ext cx="1659636" cy="457200"/>
          </a:xfrm>
          <a:prstGeom prst="rect">
            <a:avLst/>
          </a:prstGeom>
          <a:solidFill>
            <a:srgbClr val="A0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53244" y="2926080"/>
            <a:ext cx="1106424" cy="457200"/>
          </a:xfrm>
          <a:prstGeom prst="rect">
            <a:avLst/>
          </a:prstGeom>
          <a:solidFill>
            <a:srgbClr val="705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59668" y="2926080"/>
            <a:ext cx="553212" cy="457200"/>
          </a:xfrm>
          <a:prstGeom prst="rect">
            <a:avLst/>
          </a:prstGeom>
          <a:solidFill>
            <a:srgbClr val="4A3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79"/>
            <a:ext cx="164592" cy="16459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490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Product R&amp;D + certification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4903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4903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Engineering hires (5-7 FTE), CSPN, external pentest audit, CC EAL4+ gap.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43399"/>
            <a:ext cx="164592" cy="164592"/>
          </a:xfrm>
          <a:prstGeom prst="rect">
            <a:avLst/>
          </a:prstGeom>
          <a:solidFill>
            <a:srgbClr val="C99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5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Sales &amp;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25195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5195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Senior AE + SE + content marketing + 2 EU trade-show booths.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19"/>
            <a:ext cx="164592" cy="164592"/>
          </a:xfrm>
          <a:prstGeom prst="rect">
            <a:avLst/>
          </a:prstGeom>
          <a:solidFill>
            <a:srgbClr val="A07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5487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Operations &amp;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7548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75487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Fractional CFO, legal, HR, tooling, infrastructure.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49239"/>
            <a:ext cx="164592" cy="164592"/>
          </a:xfrm>
          <a:prstGeom prst="rect">
            <a:avLst/>
          </a:prstGeom>
          <a:solidFill>
            <a:srgbClr val="705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79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Strategic buffer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25779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25779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Reserve for M&amp;A opportunities, strategic partnerships.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52159"/>
            <a:ext cx="164592" cy="164592"/>
          </a:xfrm>
          <a:prstGeom prst="rect">
            <a:avLst/>
          </a:prstGeom>
          <a:solidFill>
            <a:srgbClr val="4A3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7607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Legal &amp;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576071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76071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Round, shareholders agreement, IP, compliance.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365760" y="274320"/>
            <a:ext cx="411480" cy="41148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17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Our ask — 18-month partnership.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0" cy="4572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7315200" cy="36576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73152" cy="36576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AMOUNT SOUGHT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Calibri"/>
              </a:rPr>
              <a:t>€5 – 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5F1E8"/>
                </a:solidFill>
                <a:latin typeface="Calibri Light"/>
              </a:rPr>
              <a:t>Seed+ / Series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Lead investor: €2-4M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Co-lead: €1-2M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Strategic tickets: €0.5-1M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Complementary public schemes: Bpifrance, EIC, France 2030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F5F1E8"/>
                </a:solidFill>
                <a:latin typeface="Calibri Light"/>
              </a:rPr>
              <a:t>  Preference for EU / sovereign investors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18-MONTH 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17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0175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Signed ARR ≥ €3M by end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20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5204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CSPN certification obtained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23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023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OP-TEE TA in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262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526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10+ EU pilot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0292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1st sovereign defense contract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532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5532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F1E8"/>
                </a:solidFill>
                <a:latin typeface="Calibri Light"/>
              </a:rPr>
              <a:t>Series A preparation (€12-25M)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476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HESIA —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6476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Investor Deck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6476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5A8"/>
                </a:solidFill>
                <a:latin typeface="Calibri Light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3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5852160" y="2606040"/>
            <a:ext cx="548640" cy="548640"/>
          </a:xfrm>
          <a:prstGeom prst="hexagon">
            <a:avLst/>
          </a:prstGeom>
          <a:noFill/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0" y="2606040"/>
            <a:ext cx="5486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2300">
                <a:solidFill>
                  <a:srgbClr val="D4A017"/>
                </a:solidFill>
                <a:latin typeface="Calibri"/>
              </a:rPr>
              <a:t>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267919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HESIA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3383280"/>
            <a:ext cx="640080" cy="54864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Sovereign security.
Post-quantum.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F5F1E8"/>
                </a:solidFill>
                <a:latin typeface="Calibri Light"/>
              </a:rPr>
              <a:t>Reach out to the founding team — we welcome strategic discussions, technical partnerships, and investments.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investors@hesia.eu  ·  hesia.eu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5A8"/>
                </a:solidFill>
                <a:latin typeface="Calibri Light"/>
              </a:rPr>
              <a:t>Confidential — for identified recipients only. © HESIA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