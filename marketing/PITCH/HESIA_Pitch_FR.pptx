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0" y="0"/>
            <a:ext cx="4876495" cy="685800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0" y="6812280"/>
            <a:ext cx="48764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exagon 4"/>
          <p:cNvSpPr/>
          <p:nvPr/>
        </p:nvSpPr>
        <p:spPr>
          <a:xfrm>
            <a:off x="640080" y="640080"/>
            <a:ext cx="548640" cy="548640"/>
          </a:xfrm>
          <a:prstGeom prst="hexagon">
            <a:avLst/>
          </a:prstGeom>
          <a:noFill/>
          <a:ln w="1905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640080"/>
            <a:ext cx="548640" cy="548640"/>
          </a:xfrm>
          <a:prstGeom prst="rect">
            <a:avLst/>
          </a:prstGeom>
          <a:noFill/>
        </p:spPr>
        <p:txBody>
          <a:bodyPr wrap="none" lIns="0" rIns="0" tIns="0" bIns="0" anchor="ctr">
            <a:spAutoFit/>
          </a:bodyPr>
          <a:lstStyle/>
          <a:p>
            <a:pPr algn="ctr"/>
            <a:r>
              <a:rPr b="1" sz="2300">
                <a:solidFill>
                  <a:srgbClr val="D4A017"/>
                </a:solidFill>
                <a:latin typeface="Calibri"/>
              </a:rPr>
              <a:t>H</a:t>
            </a:r>
          </a:p>
        </p:txBody>
      </p:sp>
      <p:sp>
        <p:nvSpPr>
          <p:cNvPr id="7" name="TextBox 6"/>
          <p:cNvSpPr txBox="1"/>
          <p:nvPr/>
        </p:nvSpPr>
        <p:spPr>
          <a:xfrm>
            <a:off x="1280160" y="713232"/>
            <a:ext cx="2743200" cy="457200"/>
          </a:xfrm>
          <a:prstGeom prst="rect">
            <a:avLst/>
          </a:prstGeom>
          <a:noFill/>
        </p:spPr>
        <p:txBody>
          <a:bodyPr wrap="square" lIns="0" rIns="0" tIns="0" bIns="0" anchor="t">
            <a:spAutoFit/>
          </a:bodyPr>
          <a:lstStyle/>
          <a:p>
            <a:pPr algn="l">
              <a:lnSpc>
                <a:spcPct val="115000"/>
              </a:lnSpc>
            </a:pPr>
            <a:r>
              <a:rPr sz="2200" b="1">
                <a:solidFill>
                  <a:srgbClr val="FFFFFF"/>
                </a:solidFill>
                <a:latin typeface="Calibri"/>
              </a:rPr>
              <a:t>HESIA</a:t>
            </a:r>
          </a:p>
        </p:txBody>
      </p:sp>
      <p:sp>
        <p:nvSpPr>
          <p:cNvPr id="8" name="Rectangle 7"/>
          <p:cNvSpPr/>
          <p:nvPr/>
        </p:nvSpPr>
        <p:spPr>
          <a:xfrm>
            <a:off x="640080" y="2377440"/>
            <a:ext cx="64008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606040"/>
            <a:ext cx="6400800" cy="548640"/>
          </a:xfrm>
          <a:prstGeom prst="rect">
            <a:avLst/>
          </a:prstGeom>
          <a:noFill/>
        </p:spPr>
        <p:txBody>
          <a:bodyPr wrap="square" lIns="0" rIns="0" tIns="0" bIns="0" anchor="t">
            <a:spAutoFit/>
          </a:bodyPr>
          <a:lstStyle/>
          <a:p>
            <a:pPr algn="l">
              <a:lnSpc>
                <a:spcPct val="115000"/>
              </a:lnSpc>
            </a:pPr>
            <a:r>
              <a:rPr sz="1400" b="1">
                <a:solidFill>
                  <a:srgbClr val="D4A017"/>
                </a:solidFill>
                <a:latin typeface="Calibri"/>
              </a:rPr>
              <a:t>PITCH INVESTISSEURS — 2026</a:t>
            </a:r>
          </a:p>
        </p:txBody>
      </p:sp>
      <p:sp>
        <p:nvSpPr>
          <p:cNvPr id="10" name="TextBox 9"/>
          <p:cNvSpPr txBox="1"/>
          <p:nvPr/>
        </p:nvSpPr>
        <p:spPr>
          <a:xfrm>
            <a:off x="640080" y="3017520"/>
            <a:ext cx="6675120" cy="2194560"/>
          </a:xfrm>
          <a:prstGeom prst="rect">
            <a:avLst/>
          </a:prstGeom>
          <a:noFill/>
        </p:spPr>
        <p:txBody>
          <a:bodyPr wrap="square" lIns="0" rIns="0" tIns="0" bIns="0" anchor="t">
            <a:spAutoFit/>
          </a:bodyPr>
          <a:lstStyle/>
          <a:p>
            <a:pPr algn="l">
              <a:lnSpc>
                <a:spcPct val="105000"/>
              </a:lnSpc>
            </a:pPr>
            <a:r>
              <a:rPr sz="4200" b="1">
                <a:solidFill>
                  <a:srgbClr val="FFFFFF"/>
                </a:solidFill>
                <a:latin typeface="Calibri"/>
              </a:rPr>
              <a:t>Sécurité souveraine pour les systèmes
autonomes critiques.</a:t>
            </a:r>
          </a:p>
        </p:txBody>
      </p:sp>
      <p:sp>
        <p:nvSpPr>
          <p:cNvPr id="11" name="TextBox 10"/>
          <p:cNvSpPr txBox="1"/>
          <p:nvPr/>
        </p:nvSpPr>
        <p:spPr>
          <a:xfrm>
            <a:off x="640080" y="5212080"/>
            <a:ext cx="6400800" cy="457200"/>
          </a:xfrm>
          <a:prstGeom prst="rect">
            <a:avLst/>
          </a:prstGeom>
          <a:noFill/>
        </p:spPr>
        <p:txBody>
          <a:bodyPr wrap="square" lIns="0" rIns="0" tIns="0" bIns="0" anchor="t">
            <a:spAutoFit/>
          </a:bodyPr>
          <a:lstStyle/>
          <a:p>
            <a:pPr algn="l">
              <a:lnSpc>
                <a:spcPct val="115000"/>
              </a:lnSpc>
            </a:pPr>
            <a:r>
              <a:rPr sz="1500" b="0">
                <a:solidFill>
                  <a:srgbClr val="F5F1E8"/>
                </a:solidFill>
                <a:latin typeface="Calibri Light"/>
              </a:rPr>
              <a:t>Cryptographie post-quantique standardisée. Hardware-backed. Made in Europe.</a:t>
            </a:r>
          </a:p>
        </p:txBody>
      </p:sp>
      <p:sp>
        <p:nvSpPr>
          <p:cNvPr id="12" name="TextBox 11"/>
          <p:cNvSpPr txBox="1"/>
          <p:nvPr/>
        </p:nvSpPr>
        <p:spPr>
          <a:xfrm>
            <a:off x="640080" y="6035040"/>
            <a:ext cx="6400800" cy="365760"/>
          </a:xfrm>
          <a:prstGeom prst="rect">
            <a:avLst/>
          </a:prstGeom>
          <a:noFill/>
        </p:spPr>
        <p:txBody>
          <a:bodyPr wrap="square" lIns="0" rIns="0" tIns="0" bIns="0" anchor="t">
            <a:spAutoFit/>
          </a:bodyPr>
          <a:lstStyle/>
          <a:p>
            <a:pPr algn="l">
              <a:lnSpc>
                <a:spcPct val="115000"/>
              </a:lnSpc>
            </a:pPr>
            <a:r>
              <a:rPr sz="1100" b="0">
                <a:solidFill>
                  <a:srgbClr val="8A95A8"/>
                </a:solidFill>
                <a:latin typeface="Calibri Light"/>
              </a:rPr>
              <a:t>HESIA · Paris, France · hesia.eu · Confidentiel</a:t>
            </a:r>
          </a:p>
        </p:txBody>
      </p:sp>
      <p:sp>
        <p:nvSpPr>
          <p:cNvPr id="13" name="TextBox 12"/>
          <p:cNvSpPr txBox="1"/>
          <p:nvPr/>
        </p:nvSpPr>
        <p:spPr>
          <a:xfrm>
            <a:off x="7772400" y="2606040"/>
            <a:ext cx="4114800" cy="45720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EN UNE PHRASE</a:t>
            </a:r>
          </a:p>
        </p:txBody>
      </p:sp>
      <p:sp>
        <p:nvSpPr>
          <p:cNvPr id="14" name="TextBox 13"/>
          <p:cNvSpPr txBox="1"/>
          <p:nvPr/>
        </p:nvSpPr>
        <p:spPr>
          <a:xfrm>
            <a:off x="7772400" y="3108960"/>
            <a:ext cx="4114800" cy="3200400"/>
          </a:xfrm>
          <a:prstGeom prst="rect">
            <a:avLst/>
          </a:prstGeom>
          <a:noFill/>
        </p:spPr>
        <p:txBody>
          <a:bodyPr wrap="square" lIns="0" rIns="0" tIns="0" bIns="0">
            <a:spAutoFit/>
          </a:bodyPr>
          <a:lstStyle/>
          <a:p>
            <a:pPr algn="l">
              <a:lnSpc>
                <a:spcPct val="160000"/>
              </a:lnSpc>
            </a:pPr>
            <a:r>
              <a:rPr sz="1400" b="0">
                <a:solidFill>
                  <a:srgbClr val="F5F1E8"/>
                </a:solidFill>
                <a:latin typeface="Calibri Light"/>
              </a:rPr>
              <a:t>→ Plateforme firmware + serveur</a:t>
            </a:r>
          </a:p>
          <a:p>
            <a:pPr algn="l">
              <a:lnSpc>
                <a:spcPct val="160000"/>
              </a:lnSpc>
            </a:pPr>
            <a:r>
              <a:rPr sz="1400" b="0">
                <a:solidFill>
                  <a:srgbClr val="F5F1E8"/>
                </a:solidFill>
                <a:latin typeface="Calibri Light"/>
              </a:rPr>
              <a:t>→ ML-KEM-1024 / ML-DSA-87 / OP-TEE</a:t>
            </a:r>
          </a:p>
          <a:p>
            <a:pPr algn="l">
              <a:lnSpc>
                <a:spcPct val="160000"/>
              </a:lnSpc>
            </a:pPr>
            <a:r>
              <a:rPr sz="1400" b="0">
                <a:solidFill>
                  <a:srgbClr val="F5F1E8"/>
                </a:solidFill>
                <a:latin typeface="Calibri Light"/>
              </a:rPr>
              <a:t>→ Conforme NIS2 et CRA</a:t>
            </a:r>
          </a:p>
          <a:p>
            <a:pPr algn="l">
              <a:lnSpc>
                <a:spcPct val="160000"/>
              </a:lnSpc>
            </a:pPr>
            <a:r>
              <a:rPr sz="1400" b="0">
                <a:solidFill>
                  <a:srgbClr val="F5F1E8"/>
                </a:solidFill>
                <a:latin typeface="Calibri Light"/>
              </a:rPr>
              <a:t>→ TRL 4-5 · POC clients en cours</a:t>
            </a:r>
          </a:p>
          <a:p>
            <a:pPr algn="l">
              <a:lnSpc>
                <a:spcPct val="160000"/>
              </a:lnSpc>
            </a:pPr>
            <a:r>
              <a:rPr sz="1400" b="0">
                <a:solidFill>
                  <a:srgbClr val="F5F1E8"/>
                </a:solidFill>
                <a:latin typeface="Calibri Light"/>
              </a:rPr>
              <a:t>→ Cible : OIV, défense, intégrateurs UE</a:t>
            </a:r>
          </a:p>
        </p:txBody>
      </p:sp>
      <p:sp>
        <p:nvSpPr>
          <p:cNvPr id="15" name="TextBox 14"/>
          <p:cNvSpPr txBox="1"/>
          <p:nvPr/>
        </p:nvSpPr>
        <p:spPr>
          <a:xfrm>
            <a:off x="7772400" y="6035040"/>
            <a:ext cx="4114800" cy="365760"/>
          </a:xfrm>
          <a:prstGeom prst="rect">
            <a:avLst/>
          </a:prstGeom>
          <a:noFill/>
        </p:spPr>
        <p:txBody>
          <a:bodyPr wrap="square" lIns="0" rIns="0" tIns="0" bIns="0" anchor="t">
            <a:spAutoFit/>
          </a:bodyPr>
          <a:lstStyle/>
          <a:p>
            <a:pPr algn="l">
              <a:lnSpc>
                <a:spcPct val="115000"/>
              </a:lnSpc>
            </a:pPr>
            <a:r>
              <a:rPr sz="1100" b="0">
                <a:solidFill>
                  <a:srgbClr val="8A95A8"/>
                </a:solidFill>
                <a:latin typeface="Calibri Light"/>
              </a:rPr>
              <a:t>contact@hesia.eu · +33 X XX XX XX XX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365760" y="274320"/>
            <a:ext cx="411480" cy="411480"/>
          </a:xfrm>
          <a:prstGeom prst="hexagon">
            <a:avLst/>
          </a:prstGeom>
          <a:noFill/>
          <a:ln w="1905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411480" cy="411480"/>
          </a:xfrm>
          <a:prstGeom prst="rect">
            <a:avLst/>
          </a:prstGeom>
          <a:noFill/>
        </p:spPr>
        <p:txBody>
          <a:bodyPr wrap="none" lIns="0" rIns="0" tIns="0" bIns="0" anchor="ctr">
            <a:spAutoFit/>
          </a:bodyPr>
          <a:lstStyle/>
          <a:p>
            <a:pPr algn="ctr"/>
            <a:r>
              <a:rPr b="1" sz="1700">
                <a:solidFill>
                  <a:srgbClr val="D4A017"/>
                </a:solidFill>
                <a:latin typeface="Calibri"/>
              </a:rPr>
              <a:t>H</a:t>
            </a:r>
          </a:p>
        </p:txBody>
      </p:sp>
      <p:sp>
        <p:nvSpPr>
          <p:cNvPr id="5" name="TextBox 4"/>
          <p:cNvSpPr txBox="1"/>
          <p:nvPr/>
        </p:nvSpPr>
        <p:spPr>
          <a:xfrm>
            <a:off x="868680" y="292608"/>
            <a:ext cx="1828800" cy="365760"/>
          </a:xfrm>
          <a:prstGeom prst="rect">
            <a:avLst/>
          </a:prstGeom>
          <a:noFill/>
        </p:spPr>
        <p:txBody>
          <a:bodyPr wrap="square" lIns="0" rIns="0" tIns="0" bIns="0" anchor="t">
            <a:spAutoFit/>
          </a:bodyPr>
          <a:lstStyle/>
          <a:p>
            <a:pPr algn="l">
              <a:lnSpc>
                <a:spcPct val="115000"/>
              </a:lnSpc>
            </a:pPr>
            <a:r>
              <a:rPr sz="1600" b="1">
                <a:solidFill>
                  <a:srgbClr val="FFFFFF"/>
                </a:solidFill>
                <a:latin typeface="Calibri"/>
              </a:rPr>
              <a:t>HESIA</a:t>
            </a:r>
          </a:p>
        </p:txBody>
      </p:sp>
      <p:sp>
        <p:nvSpPr>
          <p:cNvPr id="6" name="TextBox 5"/>
          <p:cNvSpPr txBox="1"/>
          <p:nvPr/>
        </p:nvSpPr>
        <p:spPr>
          <a:xfrm>
            <a:off x="548640" y="868680"/>
            <a:ext cx="7315200" cy="32004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VISION</a:t>
            </a:r>
          </a:p>
        </p:txBody>
      </p:sp>
      <p:sp>
        <p:nvSpPr>
          <p:cNvPr id="7" name="TextBox 6"/>
          <p:cNvSpPr txBox="1"/>
          <p:nvPr/>
        </p:nvSpPr>
        <p:spPr>
          <a:xfrm>
            <a:off x="548640" y="1188720"/>
            <a:ext cx="10972800" cy="822960"/>
          </a:xfrm>
          <a:prstGeom prst="rect">
            <a:avLst/>
          </a:prstGeom>
          <a:noFill/>
        </p:spPr>
        <p:txBody>
          <a:bodyPr wrap="square" lIns="0" rIns="0" tIns="0" bIns="0" anchor="t">
            <a:spAutoFit/>
          </a:bodyPr>
          <a:lstStyle/>
          <a:p>
            <a:pPr algn="l">
              <a:lnSpc>
                <a:spcPct val="115000"/>
              </a:lnSpc>
            </a:pPr>
            <a:r>
              <a:rPr sz="3200" b="1">
                <a:solidFill>
                  <a:srgbClr val="FFFFFF"/>
                </a:solidFill>
                <a:latin typeface="Calibri"/>
              </a:rPr>
              <a:t>Donner à l'Europe le contrôle de ses systèmes autonomes.</a:t>
            </a:r>
          </a:p>
        </p:txBody>
      </p:sp>
      <p:sp>
        <p:nvSpPr>
          <p:cNvPr id="8" name="Rectangle 7"/>
          <p:cNvSpPr/>
          <p:nvPr/>
        </p:nvSpPr>
        <p:spPr>
          <a:xfrm>
            <a:off x="548640" y="1965960"/>
            <a:ext cx="6400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560320"/>
            <a:ext cx="10972800" cy="2286000"/>
          </a:xfrm>
          <a:prstGeom prst="rect">
            <a:avLst/>
          </a:prstGeom>
          <a:noFill/>
        </p:spPr>
        <p:txBody>
          <a:bodyPr wrap="square" lIns="0" rIns="0" tIns="0" bIns="0" anchor="t">
            <a:spAutoFit/>
          </a:bodyPr>
          <a:lstStyle/>
          <a:p>
            <a:pPr algn="l">
              <a:lnSpc>
                <a:spcPct val="125000"/>
              </a:lnSpc>
            </a:pPr>
            <a:r>
              <a:rPr sz="2800" b="0">
                <a:solidFill>
                  <a:srgbClr val="FFFFFF"/>
                </a:solidFill>
                <a:latin typeface="Calibri"/>
              </a:rPr>
              <a:t>L'Europe ne peut pas piloter sa souveraineté avec des firmwares qu'elle n'a pas écrits, des protocoles qu'elle ne peut pas auditer, et une cryptographie qui sera cassée d'ici 10 ans. HESIA construit la couche logicielle qui rend les drones et systèmes embarqués européens dignes de confiance — aujourd'hui contre les menaces classiques, demain contre l'ordinateur quantique.</a:t>
            </a:r>
          </a:p>
        </p:txBody>
      </p:sp>
      <p:sp>
        <p:nvSpPr>
          <p:cNvPr id="10" name="TextBox 9"/>
          <p:cNvSpPr txBox="1"/>
          <p:nvPr/>
        </p:nvSpPr>
        <p:spPr>
          <a:xfrm>
            <a:off x="548640" y="5212080"/>
            <a:ext cx="365760" cy="365760"/>
          </a:xfrm>
          <a:prstGeom prst="rect">
            <a:avLst/>
          </a:prstGeom>
          <a:noFill/>
        </p:spPr>
        <p:txBody>
          <a:bodyPr wrap="square" lIns="0" rIns="0" tIns="0" bIns="0" anchor="t">
            <a:spAutoFit/>
          </a:bodyPr>
          <a:lstStyle/>
          <a:p>
            <a:pPr algn="l">
              <a:lnSpc>
                <a:spcPct val="115000"/>
              </a:lnSpc>
            </a:pPr>
            <a:r>
              <a:rPr sz="2000" b="1">
                <a:solidFill>
                  <a:srgbClr val="D4A017"/>
                </a:solidFill>
                <a:latin typeface="Calibri"/>
              </a:rPr>
              <a:t>—</a:t>
            </a:r>
          </a:p>
        </p:txBody>
      </p:sp>
      <p:sp>
        <p:nvSpPr>
          <p:cNvPr id="11" name="TextBox 10"/>
          <p:cNvSpPr txBox="1"/>
          <p:nvPr/>
        </p:nvSpPr>
        <p:spPr>
          <a:xfrm>
            <a:off x="868680" y="5230368"/>
            <a:ext cx="10058400" cy="365760"/>
          </a:xfrm>
          <a:prstGeom prst="rect">
            <a:avLst/>
          </a:prstGeom>
          <a:noFill/>
        </p:spPr>
        <p:txBody>
          <a:bodyPr wrap="square" lIns="0" rIns="0" tIns="0" bIns="0" anchor="t">
            <a:spAutoFit/>
          </a:bodyPr>
          <a:lstStyle/>
          <a:p>
            <a:pPr algn="l">
              <a:lnSpc>
                <a:spcPct val="115000"/>
              </a:lnSpc>
            </a:pPr>
            <a:r>
              <a:rPr sz="1400" b="1">
                <a:solidFill>
                  <a:srgbClr val="D4A017"/>
                </a:solidFill>
                <a:latin typeface="Calibri"/>
              </a:rPr>
              <a:t>L'équipe fondatrice HESIA</a:t>
            </a:r>
          </a:p>
        </p:txBody>
      </p:sp>
      <p:sp>
        <p:nvSpPr>
          <p:cNvPr id="12" name="Rectangle 11"/>
          <p:cNvSpPr/>
          <p:nvPr/>
        </p:nvSpPr>
        <p:spPr>
          <a:xfrm>
            <a:off x="0" y="6629400"/>
            <a:ext cx="12191695" cy="2286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6647688"/>
            <a:ext cx="3657600" cy="201168"/>
          </a:xfrm>
          <a:prstGeom prst="rect">
            <a:avLst/>
          </a:prstGeom>
          <a:noFill/>
        </p:spPr>
        <p:txBody>
          <a:bodyPr wrap="square" lIns="0" rIns="0" tIns="0" bIns="0" anchor="t">
            <a:spAutoFit/>
          </a:bodyPr>
          <a:lstStyle/>
          <a:p>
            <a:pPr algn="l">
              <a:lnSpc>
                <a:spcPct val="115000"/>
              </a:lnSpc>
            </a:pPr>
            <a:r>
              <a:rPr sz="900" b="0">
                <a:solidFill>
                  <a:srgbClr val="8A95A8"/>
                </a:solidFill>
                <a:latin typeface="Calibri Light"/>
              </a:rPr>
              <a:t>HESIA — Confidential</a:t>
            </a:r>
          </a:p>
        </p:txBody>
      </p:sp>
      <p:sp>
        <p:nvSpPr>
          <p:cNvPr id="14" name="TextBox 13"/>
          <p:cNvSpPr txBox="1"/>
          <p:nvPr/>
        </p:nvSpPr>
        <p:spPr>
          <a:xfrm>
            <a:off x="4572000" y="6647688"/>
            <a:ext cx="2743200" cy="201168"/>
          </a:xfrm>
          <a:prstGeom prst="rect">
            <a:avLst/>
          </a:prstGeom>
          <a:noFill/>
        </p:spPr>
        <p:txBody>
          <a:bodyPr wrap="square" lIns="0" rIns="0" tIns="0" bIns="0" anchor="t">
            <a:spAutoFit/>
          </a:bodyPr>
          <a:lstStyle/>
          <a:p>
            <a:pPr algn="ctr">
              <a:lnSpc>
                <a:spcPct val="115000"/>
              </a:lnSpc>
            </a:pPr>
            <a:r>
              <a:rPr sz="900" b="0">
                <a:solidFill>
                  <a:srgbClr val="8A95A8"/>
                </a:solidFill>
                <a:latin typeface="Calibri Light"/>
              </a:rPr>
              <a:t>Pitch Investisseurs · 2026</a:t>
            </a:r>
          </a:p>
        </p:txBody>
      </p:sp>
      <p:sp>
        <p:nvSpPr>
          <p:cNvPr id="15" name="TextBox 14"/>
          <p:cNvSpPr txBox="1"/>
          <p:nvPr/>
        </p:nvSpPr>
        <p:spPr>
          <a:xfrm>
            <a:off x="10058400" y="6647688"/>
            <a:ext cx="1828800" cy="201168"/>
          </a:xfrm>
          <a:prstGeom prst="rect">
            <a:avLst/>
          </a:prstGeom>
          <a:noFill/>
        </p:spPr>
        <p:txBody>
          <a:bodyPr wrap="square" lIns="0" rIns="0" tIns="0" bIns="0" anchor="t">
            <a:spAutoFit/>
          </a:bodyPr>
          <a:lstStyle/>
          <a:p>
            <a:pPr algn="r">
              <a:lnSpc>
                <a:spcPct val="115000"/>
              </a:lnSpc>
            </a:pPr>
            <a:r>
              <a:rPr sz="900" b="0">
                <a:solidFill>
                  <a:srgbClr val="8A95A8"/>
                </a:solidFill>
                <a:latin typeface="Calibri Light"/>
              </a:rPr>
              <a:t>2 /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365760" y="274320"/>
            <a:ext cx="411480" cy="411480"/>
          </a:xfrm>
          <a:prstGeom prst="hexagon">
            <a:avLst/>
          </a:prstGeom>
          <a:noFill/>
          <a:ln w="1905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411480" cy="411480"/>
          </a:xfrm>
          <a:prstGeom prst="rect">
            <a:avLst/>
          </a:prstGeom>
          <a:noFill/>
        </p:spPr>
        <p:txBody>
          <a:bodyPr wrap="none" lIns="0" rIns="0" tIns="0" bIns="0" anchor="ctr">
            <a:spAutoFit/>
          </a:bodyPr>
          <a:lstStyle/>
          <a:p>
            <a:pPr algn="ctr"/>
            <a:r>
              <a:rPr b="1" sz="1700">
                <a:solidFill>
                  <a:srgbClr val="D4A017"/>
                </a:solidFill>
                <a:latin typeface="Calibri"/>
              </a:rPr>
              <a:t>H</a:t>
            </a:r>
          </a:p>
        </p:txBody>
      </p:sp>
      <p:sp>
        <p:nvSpPr>
          <p:cNvPr id="5" name="TextBox 4"/>
          <p:cNvSpPr txBox="1"/>
          <p:nvPr/>
        </p:nvSpPr>
        <p:spPr>
          <a:xfrm>
            <a:off x="868680" y="292608"/>
            <a:ext cx="1828800" cy="365760"/>
          </a:xfrm>
          <a:prstGeom prst="rect">
            <a:avLst/>
          </a:prstGeom>
          <a:noFill/>
        </p:spPr>
        <p:txBody>
          <a:bodyPr wrap="square" lIns="0" rIns="0" tIns="0" bIns="0" anchor="t">
            <a:spAutoFit/>
          </a:bodyPr>
          <a:lstStyle/>
          <a:p>
            <a:pPr algn="l">
              <a:lnSpc>
                <a:spcPct val="115000"/>
              </a:lnSpc>
            </a:pPr>
            <a:r>
              <a:rPr sz="1600" b="1">
                <a:solidFill>
                  <a:srgbClr val="FFFFFF"/>
                </a:solidFill>
                <a:latin typeface="Calibri"/>
              </a:rPr>
              <a:t>HESIA</a:t>
            </a:r>
          </a:p>
        </p:txBody>
      </p:sp>
      <p:sp>
        <p:nvSpPr>
          <p:cNvPr id="6" name="TextBox 5"/>
          <p:cNvSpPr txBox="1"/>
          <p:nvPr/>
        </p:nvSpPr>
        <p:spPr>
          <a:xfrm>
            <a:off x="548640" y="868680"/>
            <a:ext cx="7315200" cy="32004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LE PROBLÈME</a:t>
            </a:r>
          </a:p>
        </p:txBody>
      </p:sp>
      <p:sp>
        <p:nvSpPr>
          <p:cNvPr id="7" name="TextBox 6"/>
          <p:cNvSpPr txBox="1"/>
          <p:nvPr/>
        </p:nvSpPr>
        <p:spPr>
          <a:xfrm>
            <a:off x="548640" y="1188720"/>
            <a:ext cx="10972800" cy="822960"/>
          </a:xfrm>
          <a:prstGeom prst="rect">
            <a:avLst/>
          </a:prstGeom>
          <a:noFill/>
        </p:spPr>
        <p:txBody>
          <a:bodyPr wrap="square" lIns="0" rIns="0" tIns="0" bIns="0" anchor="t">
            <a:spAutoFit/>
          </a:bodyPr>
          <a:lstStyle/>
          <a:p>
            <a:pPr algn="l">
              <a:lnSpc>
                <a:spcPct val="115000"/>
              </a:lnSpc>
            </a:pPr>
            <a:r>
              <a:rPr sz="3200" b="1">
                <a:solidFill>
                  <a:srgbClr val="FFFFFF"/>
                </a:solidFill>
                <a:latin typeface="Calibri"/>
              </a:rPr>
              <a:t>Trois forces convergent — la fenêtre se ferme.</a:t>
            </a:r>
          </a:p>
        </p:txBody>
      </p:sp>
      <p:sp>
        <p:nvSpPr>
          <p:cNvPr id="8" name="Rectangle 7"/>
          <p:cNvSpPr/>
          <p:nvPr/>
        </p:nvSpPr>
        <p:spPr>
          <a:xfrm>
            <a:off x="548640" y="1965960"/>
            <a:ext cx="6400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194560"/>
            <a:ext cx="10972800" cy="457200"/>
          </a:xfrm>
          <a:prstGeom prst="rect">
            <a:avLst/>
          </a:prstGeom>
          <a:noFill/>
        </p:spPr>
        <p:txBody>
          <a:bodyPr wrap="square" lIns="0" rIns="0" tIns="0" bIns="0" anchor="t">
            <a:spAutoFit/>
          </a:bodyPr>
          <a:lstStyle/>
          <a:p>
            <a:pPr algn="l">
              <a:lnSpc>
                <a:spcPct val="115000"/>
              </a:lnSpc>
            </a:pPr>
            <a:r>
              <a:rPr sz="1500" b="0">
                <a:solidFill>
                  <a:srgbClr val="F5F1E8"/>
                </a:solidFill>
                <a:latin typeface="Calibri Light"/>
              </a:rPr>
              <a:t>Les opérateurs européens d'infrastructures critiques et de défense n'ont aujourd'hui aucune solution prête à l'emploi qui combine les trois exigences ci-dessous.</a:t>
            </a:r>
          </a:p>
        </p:txBody>
      </p:sp>
      <p:sp>
        <p:nvSpPr>
          <p:cNvPr id="10" name="Rectangle 9"/>
          <p:cNvSpPr/>
          <p:nvPr/>
        </p:nvSpPr>
        <p:spPr>
          <a:xfrm>
            <a:off x="548640" y="3017520"/>
            <a:ext cx="3703320" cy="310896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017520"/>
            <a:ext cx="54864" cy="310896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200400"/>
            <a:ext cx="3246120" cy="365760"/>
          </a:xfrm>
          <a:prstGeom prst="rect">
            <a:avLst/>
          </a:prstGeom>
          <a:noFill/>
        </p:spPr>
        <p:txBody>
          <a:bodyPr wrap="square" lIns="0" rIns="0" tIns="0" bIns="0" anchor="t">
            <a:spAutoFit/>
          </a:bodyPr>
          <a:lstStyle/>
          <a:p>
            <a:pPr algn="l">
              <a:lnSpc>
                <a:spcPct val="115000"/>
              </a:lnSpc>
            </a:pPr>
            <a:r>
              <a:rPr sz="1400" b="1">
                <a:solidFill>
                  <a:srgbClr val="FFFFFF"/>
                </a:solidFill>
                <a:latin typeface="Calibri"/>
              </a:rPr>
              <a:t>Quantum is coming</a:t>
            </a:r>
          </a:p>
        </p:txBody>
      </p:sp>
      <p:sp>
        <p:nvSpPr>
          <p:cNvPr id="13" name="TextBox 12"/>
          <p:cNvSpPr txBox="1"/>
          <p:nvPr/>
        </p:nvSpPr>
        <p:spPr>
          <a:xfrm>
            <a:off x="777240" y="3657600"/>
            <a:ext cx="3246120" cy="2331720"/>
          </a:xfrm>
          <a:prstGeom prst="rect">
            <a:avLst/>
          </a:prstGeom>
          <a:noFill/>
        </p:spPr>
        <p:txBody>
          <a:bodyPr wrap="square" lIns="0" rIns="0" tIns="0" bIns="0">
            <a:spAutoFit/>
          </a:bodyPr>
          <a:lstStyle/>
          <a:p>
            <a:pPr algn="l">
              <a:lnSpc>
                <a:spcPct val="135000"/>
              </a:lnSpc>
            </a:pPr>
            <a:r>
              <a:rPr sz="1100" b="0">
                <a:solidFill>
                  <a:srgbClr val="F5F1E8"/>
                </a:solidFill>
                <a:latin typeface="Calibri Light"/>
              </a:rPr>
              <a:t>NIST a publié les standards FIPS 203/204/205 en août 2024.</a:t>
            </a:r>
          </a:p>
          <a:p>
            <a:pPr algn="l">
              <a:lnSpc>
                <a:spcPct val="135000"/>
              </a:lnSpc>
            </a:pPr>
            <a:r>
              <a:rPr sz="1100" b="0">
                <a:solidFill>
                  <a:srgbClr val="F5F1E8"/>
                </a:solidFill>
                <a:latin typeface="Calibri Light"/>
              </a:rPr>
              <a:t>L'ANSSI, le BSI, la NSA imposent des roadmaps de migration.</a:t>
            </a:r>
          </a:p>
          <a:p>
            <a:pPr algn="l">
              <a:lnSpc>
                <a:spcPct val="135000"/>
              </a:lnSpc>
            </a:pPr>
            <a:r>
              <a:rPr sz="1100" b="0">
                <a:solidFill>
                  <a:srgbClr val="F5F1E8"/>
                </a:solidFill>
                <a:latin typeface="Calibri Light"/>
              </a:rPr>
              <a:t>« Harvest now, decrypt later » est un risque actuel, pas futur.</a:t>
            </a:r>
          </a:p>
          <a:p>
            <a:pPr algn="l">
              <a:lnSpc>
                <a:spcPct val="135000"/>
              </a:lnSpc>
            </a:pPr>
            <a:r>
              <a:rPr sz="1100" b="0">
                <a:solidFill>
                  <a:srgbClr val="F5F1E8"/>
                </a:solidFill>
                <a:latin typeface="Calibri Light"/>
              </a:rPr>
              <a:t>Les drones embarqués sont en retard sur la migration.</a:t>
            </a:r>
          </a:p>
        </p:txBody>
      </p:sp>
      <p:sp>
        <p:nvSpPr>
          <p:cNvPr id="14" name="Rectangle 13"/>
          <p:cNvSpPr/>
          <p:nvPr/>
        </p:nvSpPr>
        <p:spPr>
          <a:xfrm>
            <a:off x="4434840" y="3017520"/>
            <a:ext cx="3703320" cy="310896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34840" y="3017520"/>
            <a:ext cx="54864" cy="310896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3200400"/>
            <a:ext cx="3246120" cy="365760"/>
          </a:xfrm>
          <a:prstGeom prst="rect">
            <a:avLst/>
          </a:prstGeom>
          <a:noFill/>
        </p:spPr>
        <p:txBody>
          <a:bodyPr wrap="square" lIns="0" rIns="0" tIns="0" bIns="0" anchor="t">
            <a:spAutoFit/>
          </a:bodyPr>
          <a:lstStyle/>
          <a:p>
            <a:pPr algn="l">
              <a:lnSpc>
                <a:spcPct val="115000"/>
              </a:lnSpc>
            </a:pPr>
            <a:r>
              <a:rPr sz="1400" b="1">
                <a:solidFill>
                  <a:srgbClr val="FFFFFF"/>
                </a:solidFill>
                <a:latin typeface="Calibri"/>
              </a:rPr>
              <a:t>Réglementation européenne</a:t>
            </a:r>
          </a:p>
        </p:txBody>
      </p:sp>
      <p:sp>
        <p:nvSpPr>
          <p:cNvPr id="17" name="TextBox 16"/>
          <p:cNvSpPr txBox="1"/>
          <p:nvPr/>
        </p:nvSpPr>
        <p:spPr>
          <a:xfrm>
            <a:off x="4663440" y="3657600"/>
            <a:ext cx="3246120" cy="2331720"/>
          </a:xfrm>
          <a:prstGeom prst="rect">
            <a:avLst/>
          </a:prstGeom>
          <a:noFill/>
        </p:spPr>
        <p:txBody>
          <a:bodyPr wrap="square" lIns="0" rIns="0" tIns="0" bIns="0">
            <a:spAutoFit/>
          </a:bodyPr>
          <a:lstStyle/>
          <a:p>
            <a:pPr algn="l">
              <a:lnSpc>
                <a:spcPct val="135000"/>
              </a:lnSpc>
            </a:pPr>
            <a:r>
              <a:rPr sz="1100" b="0">
                <a:solidFill>
                  <a:srgbClr val="F5F1E8"/>
                </a:solidFill>
                <a:latin typeface="Calibri Light"/>
              </a:rPr>
              <a:t>NIS2 transposé : audit obligatoire des composants critiques.</a:t>
            </a:r>
          </a:p>
          <a:p>
            <a:pPr algn="l">
              <a:lnSpc>
                <a:spcPct val="135000"/>
              </a:lnSpc>
            </a:pPr>
            <a:r>
              <a:rPr sz="1100" b="0">
                <a:solidFill>
                  <a:srgbClr val="F5F1E8"/>
                </a:solidFill>
                <a:latin typeface="Calibri Light"/>
              </a:rPr>
              <a:t>Cyber Resilience Act : sécurité par conception, patching, audit.</a:t>
            </a:r>
          </a:p>
          <a:p>
            <a:pPr algn="l">
              <a:lnSpc>
                <a:spcPct val="135000"/>
              </a:lnSpc>
            </a:pPr>
            <a:r>
              <a:rPr sz="1100" b="0">
                <a:solidFill>
                  <a:srgbClr val="F5F1E8"/>
                </a:solidFill>
                <a:latin typeface="Calibri Light"/>
              </a:rPr>
              <a:t>Sanctions : jusqu'à 2% du CA mondial.</a:t>
            </a:r>
          </a:p>
          <a:p>
            <a:pPr algn="l">
              <a:lnSpc>
                <a:spcPct val="135000"/>
              </a:lnSpc>
            </a:pPr>
            <a:r>
              <a:rPr sz="1100" b="0">
                <a:solidFill>
                  <a:srgbClr val="F5F1E8"/>
                </a:solidFill>
                <a:latin typeface="Calibri Light"/>
              </a:rPr>
              <a:t>Pas d'outillage fabricant aujourd'hui.</a:t>
            </a:r>
          </a:p>
        </p:txBody>
      </p:sp>
      <p:sp>
        <p:nvSpPr>
          <p:cNvPr id="18" name="Rectangle 17"/>
          <p:cNvSpPr/>
          <p:nvPr/>
        </p:nvSpPr>
        <p:spPr>
          <a:xfrm>
            <a:off x="8321040" y="3017520"/>
            <a:ext cx="3703320" cy="310896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21040" y="3017520"/>
            <a:ext cx="54864" cy="310896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49640" y="3200400"/>
            <a:ext cx="3246120" cy="365760"/>
          </a:xfrm>
          <a:prstGeom prst="rect">
            <a:avLst/>
          </a:prstGeom>
          <a:noFill/>
        </p:spPr>
        <p:txBody>
          <a:bodyPr wrap="square" lIns="0" rIns="0" tIns="0" bIns="0" anchor="t">
            <a:spAutoFit/>
          </a:bodyPr>
          <a:lstStyle/>
          <a:p>
            <a:pPr algn="l">
              <a:lnSpc>
                <a:spcPct val="115000"/>
              </a:lnSpc>
            </a:pPr>
            <a:r>
              <a:rPr sz="1400" b="1">
                <a:solidFill>
                  <a:srgbClr val="FFFFFF"/>
                </a:solidFill>
                <a:latin typeface="Calibri"/>
              </a:rPr>
              <a:t>Souveraineté &amp; supply chain</a:t>
            </a:r>
          </a:p>
        </p:txBody>
      </p:sp>
      <p:sp>
        <p:nvSpPr>
          <p:cNvPr id="21" name="TextBox 20"/>
          <p:cNvSpPr txBox="1"/>
          <p:nvPr/>
        </p:nvSpPr>
        <p:spPr>
          <a:xfrm>
            <a:off x="8549640" y="3657600"/>
            <a:ext cx="3246120" cy="2331720"/>
          </a:xfrm>
          <a:prstGeom prst="rect">
            <a:avLst/>
          </a:prstGeom>
          <a:noFill/>
        </p:spPr>
        <p:txBody>
          <a:bodyPr wrap="square" lIns="0" rIns="0" tIns="0" bIns="0">
            <a:spAutoFit/>
          </a:bodyPr>
          <a:lstStyle/>
          <a:p>
            <a:pPr algn="l">
              <a:lnSpc>
                <a:spcPct val="135000"/>
              </a:lnSpc>
            </a:pPr>
            <a:r>
              <a:rPr sz="1100" b="0">
                <a:solidFill>
                  <a:srgbClr val="F5F1E8"/>
                </a:solidFill>
                <a:latin typeface="Calibri Light"/>
              </a:rPr>
              <a:t>Trop de stacks reposent sur des composants non auditables.</a:t>
            </a:r>
          </a:p>
          <a:p>
            <a:pPr algn="l">
              <a:lnSpc>
                <a:spcPct val="135000"/>
              </a:lnSpc>
            </a:pPr>
            <a:r>
              <a:rPr sz="1100" b="0">
                <a:solidFill>
                  <a:srgbClr val="F5F1E8"/>
                </a:solidFill>
                <a:latin typeface="Calibri Light"/>
              </a:rPr>
              <a:t>CLOUD Act, FISA 702, ITAR : risque juridique étranger.</a:t>
            </a:r>
          </a:p>
          <a:p>
            <a:pPr algn="l">
              <a:lnSpc>
                <a:spcPct val="135000"/>
              </a:lnSpc>
            </a:pPr>
            <a:r>
              <a:rPr sz="1100" b="0">
                <a:solidFill>
                  <a:srgbClr val="F5F1E8"/>
                </a:solidFill>
                <a:latin typeface="Calibri Light"/>
              </a:rPr>
              <a:t>Demande EU pour produits indépendants en hausse.</a:t>
            </a:r>
          </a:p>
          <a:p>
            <a:pPr algn="l">
              <a:lnSpc>
                <a:spcPct val="135000"/>
              </a:lnSpc>
            </a:pPr>
            <a:r>
              <a:rPr sz="1100" b="0">
                <a:solidFill>
                  <a:srgbClr val="F5F1E8"/>
                </a:solidFill>
                <a:latin typeface="Calibri Light"/>
              </a:rPr>
              <a:t>Mais peu d'offre alternative crédible et certifiée.</a:t>
            </a:r>
          </a:p>
        </p:txBody>
      </p:sp>
      <p:sp>
        <p:nvSpPr>
          <p:cNvPr id="22" name="Rectangle 21"/>
          <p:cNvSpPr/>
          <p:nvPr/>
        </p:nvSpPr>
        <p:spPr>
          <a:xfrm>
            <a:off x="0" y="6629400"/>
            <a:ext cx="12191695" cy="2286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6647688"/>
            <a:ext cx="3657600" cy="201168"/>
          </a:xfrm>
          <a:prstGeom prst="rect">
            <a:avLst/>
          </a:prstGeom>
          <a:noFill/>
        </p:spPr>
        <p:txBody>
          <a:bodyPr wrap="square" lIns="0" rIns="0" tIns="0" bIns="0" anchor="t">
            <a:spAutoFit/>
          </a:bodyPr>
          <a:lstStyle/>
          <a:p>
            <a:pPr algn="l">
              <a:lnSpc>
                <a:spcPct val="115000"/>
              </a:lnSpc>
            </a:pPr>
            <a:r>
              <a:rPr sz="900" b="0">
                <a:solidFill>
                  <a:srgbClr val="8A95A8"/>
                </a:solidFill>
                <a:latin typeface="Calibri Light"/>
              </a:rPr>
              <a:t>HESIA — Confidential</a:t>
            </a:r>
          </a:p>
        </p:txBody>
      </p:sp>
      <p:sp>
        <p:nvSpPr>
          <p:cNvPr id="24" name="TextBox 23"/>
          <p:cNvSpPr txBox="1"/>
          <p:nvPr/>
        </p:nvSpPr>
        <p:spPr>
          <a:xfrm>
            <a:off x="4572000" y="6647688"/>
            <a:ext cx="2743200" cy="201168"/>
          </a:xfrm>
          <a:prstGeom prst="rect">
            <a:avLst/>
          </a:prstGeom>
          <a:noFill/>
        </p:spPr>
        <p:txBody>
          <a:bodyPr wrap="square" lIns="0" rIns="0" tIns="0" bIns="0" anchor="t">
            <a:spAutoFit/>
          </a:bodyPr>
          <a:lstStyle/>
          <a:p>
            <a:pPr algn="ctr">
              <a:lnSpc>
                <a:spcPct val="115000"/>
              </a:lnSpc>
            </a:pPr>
            <a:r>
              <a:rPr sz="900" b="0">
                <a:solidFill>
                  <a:srgbClr val="8A95A8"/>
                </a:solidFill>
                <a:latin typeface="Calibri Light"/>
              </a:rPr>
              <a:t>Pitch Investisseurs · 2026</a:t>
            </a:r>
          </a:p>
        </p:txBody>
      </p:sp>
      <p:sp>
        <p:nvSpPr>
          <p:cNvPr id="25" name="TextBox 24"/>
          <p:cNvSpPr txBox="1"/>
          <p:nvPr/>
        </p:nvSpPr>
        <p:spPr>
          <a:xfrm>
            <a:off x="10058400" y="6647688"/>
            <a:ext cx="1828800" cy="201168"/>
          </a:xfrm>
          <a:prstGeom prst="rect">
            <a:avLst/>
          </a:prstGeom>
          <a:noFill/>
        </p:spPr>
        <p:txBody>
          <a:bodyPr wrap="square" lIns="0" rIns="0" tIns="0" bIns="0" anchor="t">
            <a:spAutoFit/>
          </a:bodyPr>
          <a:lstStyle/>
          <a:p>
            <a:pPr algn="r">
              <a:lnSpc>
                <a:spcPct val="115000"/>
              </a:lnSpc>
            </a:pPr>
            <a:r>
              <a:rPr sz="900" b="0">
                <a:solidFill>
                  <a:srgbClr val="8A95A8"/>
                </a:solidFill>
                <a:latin typeface="Calibri Light"/>
              </a:rPr>
              <a:t>3 /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365760" y="274320"/>
            <a:ext cx="411480" cy="411480"/>
          </a:xfrm>
          <a:prstGeom prst="hexagon">
            <a:avLst/>
          </a:prstGeom>
          <a:noFill/>
          <a:ln w="1905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411480" cy="411480"/>
          </a:xfrm>
          <a:prstGeom prst="rect">
            <a:avLst/>
          </a:prstGeom>
          <a:noFill/>
        </p:spPr>
        <p:txBody>
          <a:bodyPr wrap="none" lIns="0" rIns="0" tIns="0" bIns="0" anchor="ctr">
            <a:spAutoFit/>
          </a:bodyPr>
          <a:lstStyle/>
          <a:p>
            <a:pPr algn="ctr"/>
            <a:r>
              <a:rPr b="1" sz="1700">
                <a:solidFill>
                  <a:srgbClr val="D4A017"/>
                </a:solidFill>
                <a:latin typeface="Calibri"/>
              </a:rPr>
              <a:t>H</a:t>
            </a:r>
          </a:p>
        </p:txBody>
      </p:sp>
      <p:sp>
        <p:nvSpPr>
          <p:cNvPr id="5" name="TextBox 4"/>
          <p:cNvSpPr txBox="1"/>
          <p:nvPr/>
        </p:nvSpPr>
        <p:spPr>
          <a:xfrm>
            <a:off x="868680" y="292608"/>
            <a:ext cx="1828800" cy="365760"/>
          </a:xfrm>
          <a:prstGeom prst="rect">
            <a:avLst/>
          </a:prstGeom>
          <a:noFill/>
        </p:spPr>
        <p:txBody>
          <a:bodyPr wrap="square" lIns="0" rIns="0" tIns="0" bIns="0" anchor="t">
            <a:spAutoFit/>
          </a:bodyPr>
          <a:lstStyle/>
          <a:p>
            <a:pPr algn="l">
              <a:lnSpc>
                <a:spcPct val="115000"/>
              </a:lnSpc>
            </a:pPr>
            <a:r>
              <a:rPr sz="1600" b="1">
                <a:solidFill>
                  <a:srgbClr val="FFFFFF"/>
                </a:solidFill>
                <a:latin typeface="Calibri"/>
              </a:rPr>
              <a:t>HESIA</a:t>
            </a:r>
          </a:p>
        </p:txBody>
      </p:sp>
      <p:sp>
        <p:nvSpPr>
          <p:cNvPr id="6" name="TextBox 5"/>
          <p:cNvSpPr txBox="1"/>
          <p:nvPr/>
        </p:nvSpPr>
        <p:spPr>
          <a:xfrm>
            <a:off x="548640" y="868680"/>
            <a:ext cx="7315200" cy="32004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POURQUOI MAINTENANT</a:t>
            </a:r>
          </a:p>
        </p:txBody>
      </p:sp>
      <p:sp>
        <p:nvSpPr>
          <p:cNvPr id="7" name="TextBox 6"/>
          <p:cNvSpPr txBox="1"/>
          <p:nvPr/>
        </p:nvSpPr>
        <p:spPr>
          <a:xfrm>
            <a:off x="548640" y="1188720"/>
            <a:ext cx="10972800" cy="822960"/>
          </a:xfrm>
          <a:prstGeom prst="rect">
            <a:avLst/>
          </a:prstGeom>
          <a:noFill/>
        </p:spPr>
        <p:txBody>
          <a:bodyPr wrap="square" lIns="0" rIns="0" tIns="0" bIns="0" anchor="t">
            <a:spAutoFit/>
          </a:bodyPr>
          <a:lstStyle/>
          <a:p>
            <a:pPr algn="l">
              <a:lnSpc>
                <a:spcPct val="115000"/>
              </a:lnSpc>
            </a:pPr>
            <a:r>
              <a:rPr sz="3200" b="1">
                <a:solidFill>
                  <a:srgbClr val="FFFFFF"/>
                </a:solidFill>
                <a:latin typeface="Calibri"/>
              </a:rPr>
              <a:t>Le calendrier réglementaire et technologique aligne tout.</a:t>
            </a:r>
          </a:p>
        </p:txBody>
      </p:sp>
      <p:sp>
        <p:nvSpPr>
          <p:cNvPr id="8" name="Rectangle 7"/>
          <p:cNvSpPr/>
          <p:nvPr/>
        </p:nvSpPr>
        <p:spPr>
          <a:xfrm>
            <a:off x="548640" y="1965960"/>
            <a:ext cx="6400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377440"/>
            <a:ext cx="1371600" cy="77724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542032"/>
            <a:ext cx="1371600" cy="457200"/>
          </a:xfrm>
          <a:prstGeom prst="rect">
            <a:avLst/>
          </a:prstGeom>
          <a:noFill/>
        </p:spPr>
        <p:txBody>
          <a:bodyPr wrap="square" lIns="0" rIns="0" tIns="0" bIns="0" anchor="t">
            <a:spAutoFit/>
          </a:bodyPr>
          <a:lstStyle/>
          <a:p>
            <a:pPr algn="ctr">
              <a:lnSpc>
                <a:spcPct val="115000"/>
              </a:lnSpc>
            </a:pPr>
            <a:r>
              <a:rPr sz="1800" b="1">
                <a:solidFill>
                  <a:srgbClr val="D4A017"/>
                </a:solidFill>
                <a:latin typeface="Calibri"/>
              </a:rPr>
              <a:t>2024</a:t>
            </a:r>
          </a:p>
        </p:txBody>
      </p:sp>
      <p:sp>
        <p:nvSpPr>
          <p:cNvPr id="11" name="TextBox 10"/>
          <p:cNvSpPr txBox="1"/>
          <p:nvPr/>
        </p:nvSpPr>
        <p:spPr>
          <a:xfrm>
            <a:off x="2103120" y="2423160"/>
            <a:ext cx="9601200" cy="365760"/>
          </a:xfrm>
          <a:prstGeom prst="rect">
            <a:avLst/>
          </a:prstGeom>
          <a:noFill/>
        </p:spPr>
        <p:txBody>
          <a:bodyPr wrap="square" lIns="0" rIns="0" tIns="0" bIns="0" anchor="t">
            <a:spAutoFit/>
          </a:bodyPr>
          <a:lstStyle/>
          <a:p>
            <a:pPr algn="l">
              <a:lnSpc>
                <a:spcPct val="115000"/>
              </a:lnSpc>
            </a:pPr>
            <a:r>
              <a:rPr sz="1500" b="1">
                <a:solidFill>
                  <a:srgbClr val="FFFFFF"/>
                </a:solidFill>
                <a:latin typeface="Calibri"/>
              </a:rPr>
              <a:t>Standards NIST PQC publiés (FIPS 203/204/205)</a:t>
            </a:r>
          </a:p>
        </p:txBody>
      </p:sp>
      <p:sp>
        <p:nvSpPr>
          <p:cNvPr id="12" name="TextBox 11"/>
          <p:cNvSpPr txBox="1"/>
          <p:nvPr/>
        </p:nvSpPr>
        <p:spPr>
          <a:xfrm>
            <a:off x="2103120" y="2761488"/>
            <a:ext cx="9601200" cy="457200"/>
          </a:xfrm>
          <a:prstGeom prst="rect">
            <a:avLst/>
          </a:prstGeom>
          <a:noFill/>
        </p:spPr>
        <p:txBody>
          <a:bodyPr wrap="square" lIns="0" rIns="0" tIns="0" bIns="0" anchor="t">
            <a:spAutoFit/>
          </a:bodyPr>
          <a:lstStyle/>
          <a:p>
            <a:pPr algn="l">
              <a:lnSpc>
                <a:spcPct val="125000"/>
              </a:lnSpc>
            </a:pPr>
            <a:r>
              <a:rPr sz="1200" b="0">
                <a:solidFill>
                  <a:srgbClr val="F5F1E8"/>
                </a:solidFill>
                <a:latin typeface="Calibri Light"/>
              </a:rPr>
              <a:t>Premiers standards post-quantiques officiels — la migration peut démarrer industriellement.</a:t>
            </a:r>
          </a:p>
        </p:txBody>
      </p:sp>
      <p:sp>
        <p:nvSpPr>
          <p:cNvPr id="13" name="Rectangle 12"/>
          <p:cNvSpPr/>
          <p:nvPr/>
        </p:nvSpPr>
        <p:spPr>
          <a:xfrm>
            <a:off x="548640" y="3246120"/>
            <a:ext cx="1371600" cy="77724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410712"/>
            <a:ext cx="1371600" cy="457200"/>
          </a:xfrm>
          <a:prstGeom prst="rect">
            <a:avLst/>
          </a:prstGeom>
          <a:noFill/>
        </p:spPr>
        <p:txBody>
          <a:bodyPr wrap="square" lIns="0" rIns="0" tIns="0" bIns="0" anchor="t">
            <a:spAutoFit/>
          </a:bodyPr>
          <a:lstStyle/>
          <a:p>
            <a:pPr algn="ctr">
              <a:lnSpc>
                <a:spcPct val="115000"/>
              </a:lnSpc>
            </a:pPr>
            <a:r>
              <a:rPr sz="1800" b="1">
                <a:solidFill>
                  <a:srgbClr val="D4A017"/>
                </a:solidFill>
                <a:latin typeface="Calibri"/>
              </a:rPr>
              <a:t>2025</a:t>
            </a:r>
          </a:p>
        </p:txBody>
      </p:sp>
      <p:sp>
        <p:nvSpPr>
          <p:cNvPr id="15" name="TextBox 14"/>
          <p:cNvSpPr txBox="1"/>
          <p:nvPr/>
        </p:nvSpPr>
        <p:spPr>
          <a:xfrm>
            <a:off x="2103120" y="3291840"/>
            <a:ext cx="9601200" cy="365760"/>
          </a:xfrm>
          <a:prstGeom prst="rect">
            <a:avLst/>
          </a:prstGeom>
          <a:noFill/>
        </p:spPr>
        <p:txBody>
          <a:bodyPr wrap="square" lIns="0" rIns="0" tIns="0" bIns="0" anchor="t">
            <a:spAutoFit/>
          </a:bodyPr>
          <a:lstStyle/>
          <a:p>
            <a:pPr algn="l">
              <a:lnSpc>
                <a:spcPct val="115000"/>
              </a:lnSpc>
            </a:pPr>
            <a:r>
              <a:rPr sz="1500" b="1">
                <a:solidFill>
                  <a:srgbClr val="FFFFFF"/>
                </a:solidFill>
                <a:latin typeface="Calibri"/>
              </a:rPr>
              <a:t>ANSSI guide PQC v2 + BSI directives</a:t>
            </a:r>
          </a:p>
        </p:txBody>
      </p:sp>
      <p:sp>
        <p:nvSpPr>
          <p:cNvPr id="16" name="TextBox 15"/>
          <p:cNvSpPr txBox="1"/>
          <p:nvPr/>
        </p:nvSpPr>
        <p:spPr>
          <a:xfrm>
            <a:off x="2103120" y="3630168"/>
            <a:ext cx="9601200" cy="457200"/>
          </a:xfrm>
          <a:prstGeom prst="rect">
            <a:avLst/>
          </a:prstGeom>
          <a:noFill/>
        </p:spPr>
        <p:txBody>
          <a:bodyPr wrap="square" lIns="0" rIns="0" tIns="0" bIns="0" anchor="t">
            <a:spAutoFit/>
          </a:bodyPr>
          <a:lstStyle/>
          <a:p>
            <a:pPr algn="l">
              <a:lnSpc>
                <a:spcPct val="125000"/>
              </a:lnSpc>
            </a:pPr>
            <a:r>
              <a:rPr sz="1200" b="0">
                <a:solidFill>
                  <a:srgbClr val="F5F1E8"/>
                </a:solidFill>
                <a:latin typeface="Calibri Light"/>
              </a:rPr>
              <a:t>Les agences nationales européennes formalisent leurs exigences pour les systèmes critiques.</a:t>
            </a:r>
          </a:p>
        </p:txBody>
      </p:sp>
      <p:sp>
        <p:nvSpPr>
          <p:cNvPr id="17" name="Rectangle 16"/>
          <p:cNvSpPr/>
          <p:nvPr/>
        </p:nvSpPr>
        <p:spPr>
          <a:xfrm>
            <a:off x="548640" y="4114800"/>
            <a:ext cx="1371600" cy="77724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279392"/>
            <a:ext cx="1371600" cy="457200"/>
          </a:xfrm>
          <a:prstGeom prst="rect">
            <a:avLst/>
          </a:prstGeom>
          <a:noFill/>
        </p:spPr>
        <p:txBody>
          <a:bodyPr wrap="square" lIns="0" rIns="0" tIns="0" bIns="0" anchor="t">
            <a:spAutoFit/>
          </a:bodyPr>
          <a:lstStyle/>
          <a:p>
            <a:pPr algn="ctr">
              <a:lnSpc>
                <a:spcPct val="115000"/>
              </a:lnSpc>
            </a:pPr>
            <a:r>
              <a:rPr sz="1800" b="1">
                <a:solidFill>
                  <a:srgbClr val="D4A017"/>
                </a:solidFill>
                <a:latin typeface="Calibri"/>
              </a:rPr>
              <a:t>2026</a:t>
            </a:r>
          </a:p>
        </p:txBody>
      </p:sp>
      <p:sp>
        <p:nvSpPr>
          <p:cNvPr id="19" name="TextBox 18"/>
          <p:cNvSpPr txBox="1"/>
          <p:nvPr/>
        </p:nvSpPr>
        <p:spPr>
          <a:xfrm>
            <a:off x="2103120" y="4160520"/>
            <a:ext cx="9601200" cy="365760"/>
          </a:xfrm>
          <a:prstGeom prst="rect">
            <a:avLst/>
          </a:prstGeom>
          <a:noFill/>
        </p:spPr>
        <p:txBody>
          <a:bodyPr wrap="square" lIns="0" rIns="0" tIns="0" bIns="0" anchor="t">
            <a:spAutoFit/>
          </a:bodyPr>
          <a:lstStyle/>
          <a:p>
            <a:pPr algn="l">
              <a:lnSpc>
                <a:spcPct val="115000"/>
              </a:lnSpc>
            </a:pPr>
            <a:r>
              <a:rPr sz="1500" b="1">
                <a:solidFill>
                  <a:srgbClr val="FFFFFF"/>
                </a:solidFill>
                <a:latin typeface="Calibri"/>
              </a:rPr>
              <a:t>NIS2 transposé · CRA s'applique progressivement</a:t>
            </a:r>
          </a:p>
        </p:txBody>
      </p:sp>
      <p:sp>
        <p:nvSpPr>
          <p:cNvPr id="20" name="TextBox 19"/>
          <p:cNvSpPr txBox="1"/>
          <p:nvPr/>
        </p:nvSpPr>
        <p:spPr>
          <a:xfrm>
            <a:off x="2103120" y="4498848"/>
            <a:ext cx="9601200" cy="457200"/>
          </a:xfrm>
          <a:prstGeom prst="rect">
            <a:avLst/>
          </a:prstGeom>
          <a:noFill/>
        </p:spPr>
        <p:txBody>
          <a:bodyPr wrap="square" lIns="0" rIns="0" tIns="0" bIns="0" anchor="t">
            <a:spAutoFit/>
          </a:bodyPr>
          <a:lstStyle/>
          <a:p>
            <a:pPr algn="l">
              <a:lnSpc>
                <a:spcPct val="125000"/>
              </a:lnSpc>
            </a:pPr>
            <a:r>
              <a:rPr sz="1200" b="0">
                <a:solidFill>
                  <a:srgbClr val="F5F1E8"/>
                </a:solidFill>
                <a:latin typeface="Calibri Light"/>
              </a:rPr>
              <a:t>Tous les fabricants d'équipements connectés doivent prouver la sécurité par conception.</a:t>
            </a:r>
          </a:p>
        </p:txBody>
      </p:sp>
      <p:sp>
        <p:nvSpPr>
          <p:cNvPr id="21" name="Rectangle 20"/>
          <p:cNvSpPr/>
          <p:nvPr/>
        </p:nvSpPr>
        <p:spPr>
          <a:xfrm>
            <a:off x="548640" y="4983480"/>
            <a:ext cx="1371600" cy="77724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148072"/>
            <a:ext cx="1371600" cy="457200"/>
          </a:xfrm>
          <a:prstGeom prst="rect">
            <a:avLst/>
          </a:prstGeom>
          <a:noFill/>
        </p:spPr>
        <p:txBody>
          <a:bodyPr wrap="square" lIns="0" rIns="0" tIns="0" bIns="0" anchor="t">
            <a:spAutoFit/>
          </a:bodyPr>
          <a:lstStyle/>
          <a:p>
            <a:pPr algn="ctr">
              <a:lnSpc>
                <a:spcPct val="115000"/>
              </a:lnSpc>
            </a:pPr>
            <a:r>
              <a:rPr sz="1800" b="1">
                <a:solidFill>
                  <a:srgbClr val="D4A017"/>
                </a:solidFill>
                <a:latin typeface="Calibri"/>
              </a:rPr>
              <a:t>2027</a:t>
            </a:r>
          </a:p>
        </p:txBody>
      </p:sp>
      <p:sp>
        <p:nvSpPr>
          <p:cNvPr id="23" name="TextBox 22"/>
          <p:cNvSpPr txBox="1"/>
          <p:nvPr/>
        </p:nvSpPr>
        <p:spPr>
          <a:xfrm>
            <a:off x="2103120" y="5029200"/>
            <a:ext cx="9601200" cy="365760"/>
          </a:xfrm>
          <a:prstGeom prst="rect">
            <a:avLst/>
          </a:prstGeom>
          <a:noFill/>
        </p:spPr>
        <p:txBody>
          <a:bodyPr wrap="square" lIns="0" rIns="0" tIns="0" bIns="0" anchor="t">
            <a:spAutoFit/>
          </a:bodyPr>
          <a:lstStyle/>
          <a:p>
            <a:pPr algn="l">
              <a:lnSpc>
                <a:spcPct val="115000"/>
              </a:lnSpc>
            </a:pPr>
            <a:r>
              <a:rPr sz="1500" b="1">
                <a:solidFill>
                  <a:srgbClr val="FFFFFF"/>
                </a:solidFill>
                <a:latin typeface="Calibri"/>
              </a:rPr>
              <a:t>CRA pleine application · CSPN/CC EAL4+</a:t>
            </a:r>
          </a:p>
        </p:txBody>
      </p:sp>
      <p:sp>
        <p:nvSpPr>
          <p:cNvPr id="24" name="TextBox 23"/>
          <p:cNvSpPr txBox="1"/>
          <p:nvPr/>
        </p:nvSpPr>
        <p:spPr>
          <a:xfrm>
            <a:off x="2103120" y="5367528"/>
            <a:ext cx="9601200" cy="457200"/>
          </a:xfrm>
          <a:prstGeom prst="rect">
            <a:avLst/>
          </a:prstGeom>
          <a:noFill/>
        </p:spPr>
        <p:txBody>
          <a:bodyPr wrap="square" lIns="0" rIns="0" tIns="0" bIns="0" anchor="t">
            <a:spAutoFit/>
          </a:bodyPr>
          <a:lstStyle/>
          <a:p>
            <a:pPr algn="l">
              <a:lnSpc>
                <a:spcPct val="125000"/>
              </a:lnSpc>
            </a:pPr>
            <a:r>
              <a:rPr sz="1200" b="0">
                <a:solidFill>
                  <a:srgbClr val="F5F1E8"/>
                </a:solidFill>
                <a:latin typeface="Calibri Light"/>
              </a:rPr>
              <a:t>Première vague de certifications obligatoires — fenêtre commerciale ouverte.</a:t>
            </a:r>
          </a:p>
        </p:txBody>
      </p:sp>
      <p:sp>
        <p:nvSpPr>
          <p:cNvPr id="25" name="Rectangle 24"/>
          <p:cNvSpPr/>
          <p:nvPr/>
        </p:nvSpPr>
        <p:spPr>
          <a:xfrm>
            <a:off x="0" y="6629400"/>
            <a:ext cx="12191695" cy="2286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6647688"/>
            <a:ext cx="3657600" cy="201168"/>
          </a:xfrm>
          <a:prstGeom prst="rect">
            <a:avLst/>
          </a:prstGeom>
          <a:noFill/>
        </p:spPr>
        <p:txBody>
          <a:bodyPr wrap="square" lIns="0" rIns="0" tIns="0" bIns="0" anchor="t">
            <a:spAutoFit/>
          </a:bodyPr>
          <a:lstStyle/>
          <a:p>
            <a:pPr algn="l">
              <a:lnSpc>
                <a:spcPct val="115000"/>
              </a:lnSpc>
            </a:pPr>
            <a:r>
              <a:rPr sz="900" b="0">
                <a:solidFill>
                  <a:srgbClr val="8A95A8"/>
                </a:solidFill>
                <a:latin typeface="Calibri Light"/>
              </a:rPr>
              <a:t>HESIA — Confidential</a:t>
            </a:r>
          </a:p>
        </p:txBody>
      </p:sp>
      <p:sp>
        <p:nvSpPr>
          <p:cNvPr id="27" name="TextBox 26"/>
          <p:cNvSpPr txBox="1"/>
          <p:nvPr/>
        </p:nvSpPr>
        <p:spPr>
          <a:xfrm>
            <a:off x="4572000" y="6647688"/>
            <a:ext cx="2743200" cy="201168"/>
          </a:xfrm>
          <a:prstGeom prst="rect">
            <a:avLst/>
          </a:prstGeom>
          <a:noFill/>
        </p:spPr>
        <p:txBody>
          <a:bodyPr wrap="square" lIns="0" rIns="0" tIns="0" bIns="0" anchor="t">
            <a:spAutoFit/>
          </a:bodyPr>
          <a:lstStyle/>
          <a:p>
            <a:pPr algn="ctr">
              <a:lnSpc>
                <a:spcPct val="115000"/>
              </a:lnSpc>
            </a:pPr>
            <a:r>
              <a:rPr sz="900" b="0">
                <a:solidFill>
                  <a:srgbClr val="8A95A8"/>
                </a:solidFill>
                <a:latin typeface="Calibri Light"/>
              </a:rPr>
              <a:t>Pitch Investisseurs · 2026</a:t>
            </a:r>
          </a:p>
        </p:txBody>
      </p:sp>
      <p:sp>
        <p:nvSpPr>
          <p:cNvPr id="28" name="TextBox 27"/>
          <p:cNvSpPr txBox="1"/>
          <p:nvPr/>
        </p:nvSpPr>
        <p:spPr>
          <a:xfrm>
            <a:off x="10058400" y="6647688"/>
            <a:ext cx="1828800" cy="201168"/>
          </a:xfrm>
          <a:prstGeom prst="rect">
            <a:avLst/>
          </a:prstGeom>
          <a:noFill/>
        </p:spPr>
        <p:txBody>
          <a:bodyPr wrap="square" lIns="0" rIns="0" tIns="0" bIns="0" anchor="t">
            <a:spAutoFit/>
          </a:bodyPr>
          <a:lstStyle/>
          <a:p>
            <a:pPr algn="r">
              <a:lnSpc>
                <a:spcPct val="115000"/>
              </a:lnSpc>
            </a:pPr>
            <a:r>
              <a:rPr sz="900" b="0">
                <a:solidFill>
                  <a:srgbClr val="8A95A8"/>
                </a:solidFill>
                <a:latin typeface="Calibri Light"/>
              </a:rPr>
              <a:t>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365760" y="274320"/>
            <a:ext cx="411480" cy="411480"/>
          </a:xfrm>
          <a:prstGeom prst="hexagon">
            <a:avLst/>
          </a:prstGeom>
          <a:noFill/>
          <a:ln w="1905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411480" cy="411480"/>
          </a:xfrm>
          <a:prstGeom prst="rect">
            <a:avLst/>
          </a:prstGeom>
          <a:noFill/>
        </p:spPr>
        <p:txBody>
          <a:bodyPr wrap="none" lIns="0" rIns="0" tIns="0" bIns="0" anchor="ctr">
            <a:spAutoFit/>
          </a:bodyPr>
          <a:lstStyle/>
          <a:p>
            <a:pPr algn="ctr"/>
            <a:r>
              <a:rPr b="1" sz="1700">
                <a:solidFill>
                  <a:srgbClr val="D4A017"/>
                </a:solidFill>
                <a:latin typeface="Calibri"/>
              </a:rPr>
              <a:t>H</a:t>
            </a:r>
          </a:p>
        </p:txBody>
      </p:sp>
      <p:sp>
        <p:nvSpPr>
          <p:cNvPr id="5" name="TextBox 4"/>
          <p:cNvSpPr txBox="1"/>
          <p:nvPr/>
        </p:nvSpPr>
        <p:spPr>
          <a:xfrm>
            <a:off x="868680" y="292608"/>
            <a:ext cx="1828800" cy="365760"/>
          </a:xfrm>
          <a:prstGeom prst="rect">
            <a:avLst/>
          </a:prstGeom>
          <a:noFill/>
        </p:spPr>
        <p:txBody>
          <a:bodyPr wrap="square" lIns="0" rIns="0" tIns="0" bIns="0" anchor="t">
            <a:spAutoFit/>
          </a:bodyPr>
          <a:lstStyle/>
          <a:p>
            <a:pPr algn="l">
              <a:lnSpc>
                <a:spcPct val="115000"/>
              </a:lnSpc>
            </a:pPr>
            <a:r>
              <a:rPr sz="1600" b="1">
                <a:solidFill>
                  <a:srgbClr val="FFFFFF"/>
                </a:solidFill>
                <a:latin typeface="Calibri"/>
              </a:rPr>
              <a:t>HESIA</a:t>
            </a:r>
          </a:p>
        </p:txBody>
      </p:sp>
      <p:sp>
        <p:nvSpPr>
          <p:cNvPr id="6" name="TextBox 5"/>
          <p:cNvSpPr txBox="1"/>
          <p:nvPr/>
        </p:nvSpPr>
        <p:spPr>
          <a:xfrm>
            <a:off x="548640" y="868680"/>
            <a:ext cx="7315200" cy="32004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LA SOLUTION</a:t>
            </a:r>
          </a:p>
        </p:txBody>
      </p:sp>
      <p:sp>
        <p:nvSpPr>
          <p:cNvPr id="7" name="TextBox 6"/>
          <p:cNvSpPr txBox="1"/>
          <p:nvPr/>
        </p:nvSpPr>
        <p:spPr>
          <a:xfrm>
            <a:off x="548640" y="1188720"/>
            <a:ext cx="10972800" cy="822960"/>
          </a:xfrm>
          <a:prstGeom prst="rect">
            <a:avLst/>
          </a:prstGeom>
          <a:noFill/>
        </p:spPr>
        <p:txBody>
          <a:bodyPr wrap="square" lIns="0" rIns="0" tIns="0" bIns="0" anchor="t">
            <a:spAutoFit/>
          </a:bodyPr>
          <a:lstStyle/>
          <a:p>
            <a:pPr algn="l">
              <a:lnSpc>
                <a:spcPct val="115000"/>
              </a:lnSpc>
            </a:pPr>
            <a:r>
              <a:rPr sz="3200" b="1">
                <a:solidFill>
                  <a:srgbClr val="FFFFFF"/>
                </a:solidFill>
                <a:latin typeface="Calibri"/>
              </a:rPr>
              <a:t>Une pile complète : du silicium au tableau de bord opérateur.</a:t>
            </a:r>
          </a:p>
        </p:txBody>
      </p:sp>
      <p:sp>
        <p:nvSpPr>
          <p:cNvPr id="8" name="Rectangle 7"/>
          <p:cNvSpPr/>
          <p:nvPr/>
        </p:nvSpPr>
        <p:spPr>
          <a:xfrm>
            <a:off x="548640" y="1965960"/>
            <a:ext cx="6400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194560"/>
            <a:ext cx="10972800" cy="457200"/>
          </a:xfrm>
          <a:prstGeom prst="rect">
            <a:avLst/>
          </a:prstGeom>
          <a:noFill/>
        </p:spPr>
        <p:txBody>
          <a:bodyPr wrap="square" lIns="0" rIns="0" tIns="0" bIns="0" anchor="t">
            <a:spAutoFit/>
          </a:bodyPr>
          <a:lstStyle/>
          <a:p>
            <a:pPr algn="l">
              <a:lnSpc>
                <a:spcPct val="115000"/>
              </a:lnSpc>
            </a:pPr>
            <a:r>
              <a:rPr sz="1500" b="0">
                <a:solidFill>
                  <a:srgbClr val="F5F1E8"/>
                </a:solidFill>
                <a:latin typeface="Calibri Light"/>
              </a:rPr>
              <a:t>HESIA est la première plateforme européenne intégrant cryptographie post-quantique, attestation matérielle et conformité réglementaire pour les drones et systèmes embarqués critiques.</a:t>
            </a:r>
          </a:p>
        </p:txBody>
      </p:sp>
      <p:sp>
        <p:nvSpPr>
          <p:cNvPr id="10" name="Rectangle 9"/>
          <p:cNvSpPr/>
          <p:nvPr/>
        </p:nvSpPr>
        <p:spPr>
          <a:xfrm>
            <a:off x="548640" y="2926080"/>
            <a:ext cx="2926080" cy="59436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926080"/>
            <a:ext cx="54864" cy="59436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090672"/>
            <a:ext cx="2560320" cy="320040"/>
          </a:xfrm>
          <a:prstGeom prst="rect">
            <a:avLst/>
          </a:prstGeom>
          <a:noFill/>
        </p:spPr>
        <p:txBody>
          <a:bodyPr wrap="square" lIns="0" rIns="0" tIns="0" bIns="0" anchor="t">
            <a:spAutoFit/>
          </a:bodyPr>
          <a:lstStyle/>
          <a:p>
            <a:pPr algn="l">
              <a:lnSpc>
                <a:spcPct val="115000"/>
              </a:lnSpc>
            </a:pPr>
            <a:r>
              <a:rPr sz="1200" b="1">
                <a:solidFill>
                  <a:srgbClr val="FFFFFF"/>
                </a:solidFill>
                <a:latin typeface="Calibri"/>
              </a:rPr>
              <a:t>Plan opérateur</a:t>
            </a:r>
          </a:p>
        </p:txBody>
      </p:sp>
      <p:sp>
        <p:nvSpPr>
          <p:cNvPr id="13" name="TextBox 12"/>
          <p:cNvSpPr txBox="1"/>
          <p:nvPr/>
        </p:nvSpPr>
        <p:spPr>
          <a:xfrm>
            <a:off x="3657600" y="3090672"/>
            <a:ext cx="7955279" cy="365760"/>
          </a:xfrm>
          <a:prstGeom prst="rect">
            <a:avLst/>
          </a:prstGeom>
          <a:noFill/>
        </p:spPr>
        <p:txBody>
          <a:bodyPr wrap="square" lIns="0" rIns="0" tIns="0" bIns="0" anchor="t">
            <a:spAutoFit/>
          </a:bodyPr>
          <a:lstStyle/>
          <a:p>
            <a:pPr algn="l">
              <a:lnSpc>
                <a:spcPct val="115000"/>
              </a:lnSpc>
            </a:pPr>
            <a:r>
              <a:rPr sz="1200" b="0">
                <a:solidFill>
                  <a:srgbClr val="F5F1E8"/>
                </a:solidFill>
                <a:latin typeface="Calibri Light"/>
              </a:rPr>
              <a:t>HESIA Command — supervision flotte, signature policy Ed25519, audit log immuable.</a:t>
            </a:r>
          </a:p>
        </p:txBody>
      </p:sp>
      <p:sp>
        <p:nvSpPr>
          <p:cNvPr id="14" name="Rectangle 13"/>
          <p:cNvSpPr/>
          <p:nvPr/>
        </p:nvSpPr>
        <p:spPr>
          <a:xfrm>
            <a:off x="548640" y="3611880"/>
            <a:ext cx="2926080" cy="59436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611880"/>
            <a:ext cx="54864" cy="59436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776472"/>
            <a:ext cx="2560320" cy="320040"/>
          </a:xfrm>
          <a:prstGeom prst="rect">
            <a:avLst/>
          </a:prstGeom>
          <a:noFill/>
        </p:spPr>
        <p:txBody>
          <a:bodyPr wrap="square" lIns="0" rIns="0" tIns="0" bIns="0" anchor="t">
            <a:spAutoFit/>
          </a:bodyPr>
          <a:lstStyle/>
          <a:p>
            <a:pPr algn="l">
              <a:lnSpc>
                <a:spcPct val="115000"/>
              </a:lnSpc>
            </a:pPr>
            <a:r>
              <a:rPr sz="1200" b="1">
                <a:solidFill>
                  <a:srgbClr val="FFFFFF"/>
                </a:solidFill>
                <a:latin typeface="Calibri"/>
              </a:rPr>
              <a:t>Plan données / IA</a:t>
            </a:r>
          </a:p>
        </p:txBody>
      </p:sp>
      <p:sp>
        <p:nvSpPr>
          <p:cNvPr id="17" name="TextBox 16"/>
          <p:cNvSpPr txBox="1"/>
          <p:nvPr/>
        </p:nvSpPr>
        <p:spPr>
          <a:xfrm>
            <a:off x="3657600" y="3776472"/>
            <a:ext cx="7955279" cy="365760"/>
          </a:xfrm>
          <a:prstGeom prst="rect">
            <a:avLst/>
          </a:prstGeom>
          <a:noFill/>
        </p:spPr>
        <p:txBody>
          <a:bodyPr wrap="square" lIns="0" rIns="0" tIns="0" bIns="0" anchor="t">
            <a:spAutoFit/>
          </a:bodyPr>
          <a:lstStyle/>
          <a:p>
            <a:pPr algn="l">
              <a:lnSpc>
                <a:spcPct val="115000"/>
              </a:lnSpc>
            </a:pPr>
            <a:r>
              <a:rPr sz="1200" b="0">
                <a:solidFill>
                  <a:srgbClr val="F5F1E8"/>
                </a:solidFill>
                <a:latin typeface="Calibri Light"/>
              </a:rPr>
              <a:t>HESIA Observe — pipeline IA embarquée auditable (YOLO + MiDaS), allowlist signée.</a:t>
            </a:r>
          </a:p>
        </p:txBody>
      </p:sp>
      <p:sp>
        <p:nvSpPr>
          <p:cNvPr id="18" name="Rectangle 17"/>
          <p:cNvSpPr/>
          <p:nvPr/>
        </p:nvSpPr>
        <p:spPr>
          <a:xfrm>
            <a:off x="548640" y="4297680"/>
            <a:ext cx="2926080" cy="59436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297680"/>
            <a:ext cx="54864" cy="59436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462272"/>
            <a:ext cx="2560320" cy="320040"/>
          </a:xfrm>
          <a:prstGeom prst="rect">
            <a:avLst/>
          </a:prstGeom>
          <a:noFill/>
        </p:spPr>
        <p:txBody>
          <a:bodyPr wrap="square" lIns="0" rIns="0" tIns="0" bIns="0" anchor="t">
            <a:spAutoFit/>
          </a:bodyPr>
          <a:lstStyle/>
          <a:p>
            <a:pPr algn="l">
              <a:lnSpc>
                <a:spcPct val="115000"/>
              </a:lnSpc>
            </a:pPr>
            <a:r>
              <a:rPr sz="1200" b="1">
                <a:solidFill>
                  <a:srgbClr val="FFFFFF"/>
                </a:solidFill>
                <a:latin typeface="Calibri"/>
              </a:rPr>
              <a:t>Plan firmware</a:t>
            </a:r>
          </a:p>
        </p:txBody>
      </p:sp>
      <p:sp>
        <p:nvSpPr>
          <p:cNvPr id="21" name="TextBox 20"/>
          <p:cNvSpPr txBox="1"/>
          <p:nvPr/>
        </p:nvSpPr>
        <p:spPr>
          <a:xfrm>
            <a:off x="3657600" y="4462272"/>
            <a:ext cx="7955279" cy="365760"/>
          </a:xfrm>
          <a:prstGeom prst="rect">
            <a:avLst/>
          </a:prstGeom>
          <a:noFill/>
        </p:spPr>
        <p:txBody>
          <a:bodyPr wrap="square" lIns="0" rIns="0" tIns="0" bIns="0" anchor="t">
            <a:spAutoFit/>
          </a:bodyPr>
          <a:lstStyle/>
          <a:p>
            <a:pPr algn="l">
              <a:lnSpc>
                <a:spcPct val="115000"/>
              </a:lnSpc>
            </a:pPr>
            <a:r>
              <a:rPr sz="1200" b="0">
                <a:solidFill>
                  <a:srgbClr val="F5F1E8"/>
                </a:solidFill>
                <a:latin typeface="Calibri Light"/>
              </a:rPr>
              <a:t>HESIA Core — TLS 1.3 mTLS, ML-KEM-1024 hybride, sandbox Linux durci.</a:t>
            </a:r>
          </a:p>
        </p:txBody>
      </p:sp>
      <p:sp>
        <p:nvSpPr>
          <p:cNvPr id="22" name="Rectangle 21"/>
          <p:cNvSpPr/>
          <p:nvPr/>
        </p:nvSpPr>
        <p:spPr>
          <a:xfrm>
            <a:off x="548640" y="4983480"/>
            <a:ext cx="2926080" cy="59436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4983480"/>
            <a:ext cx="54864" cy="59436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148072"/>
            <a:ext cx="2560320" cy="320040"/>
          </a:xfrm>
          <a:prstGeom prst="rect">
            <a:avLst/>
          </a:prstGeom>
          <a:noFill/>
        </p:spPr>
        <p:txBody>
          <a:bodyPr wrap="square" lIns="0" rIns="0" tIns="0" bIns="0" anchor="t">
            <a:spAutoFit/>
          </a:bodyPr>
          <a:lstStyle/>
          <a:p>
            <a:pPr algn="l">
              <a:lnSpc>
                <a:spcPct val="115000"/>
              </a:lnSpc>
            </a:pPr>
            <a:r>
              <a:rPr sz="1200" b="1">
                <a:solidFill>
                  <a:srgbClr val="FFFFFF"/>
                </a:solidFill>
                <a:latin typeface="Calibri"/>
              </a:rPr>
              <a:t>Plan matériel</a:t>
            </a:r>
          </a:p>
        </p:txBody>
      </p:sp>
      <p:sp>
        <p:nvSpPr>
          <p:cNvPr id="25" name="TextBox 24"/>
          <p:cNvSpPr txBox="1"/>
          <p:nvPr/>
        </p:nvSpPr>
        <p:spPr>
          <a:xfrm>
            <a:off x="3657600" y="5148072"/>
            <a:ext cx="7955279" cy="365760"/>
          </a:xfrm>
          <a:prstGeom prst="rect">
            <a:avLst/>
          </a:prstGeom>
          <a:noFill/>
        </p:spPr>
        <p:txBody>
          <a:bodyPr wrap="square" lIns="0" rIns="0" tIns="0" bIns="0" anchor="t">
            <a:spAutoFit/>
          </a:bodyPr>
          <a:lstStyle/>
          <a:p>
            <a:pPr algn="l">
              <a:lnSpc>
                <a:spcPct val="115000"/>
              </a:lnSpc>
            </a:pPr>
            <a:r>
              <a:rPr sz="1200" b="0">
                <a:solidFill>
                  <a:srgbClr val="F5F1E8"/>
                </a:solidFill>
                <a:latin typeface="Calibri Light"/>
              </a:rPr>
              <a:t>HESIA Attest — TA OP-TEE, scellement clés, attestation distante, secure boot vérifié.</a:t>
            </a:r>
          </a:p>
        </p:txBody>
      </p:sp>
      <p:sp>
        <p:nvSpPr>
          <p:cNvPr id="26" name="Rectangle 25"/>
          <p:cNvSpPr/>
          <p:nvPr/>
        </p:nvSpPr>
        <p:spPr>
          <a:xfrm>
            <a:off x="548640" y="5669280"/>
            <a:ext cx="2926080" cy="59436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669280"/>
            <a:ext cx="54864" cy="59436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833872"/>
            <a:ext cx="2560320" cy="320040"/>
          </a:xfrm>
          <a:prstGeom prst="rect">
            <a:avLst/>
          </a:prstGeom>
          <a:noFill/>
        </p:spPr>
        <p:txBody>
          <a:bodyPr wrap="square" lIns="0" rIns="0" tIns="0" bIns="0" anchor="t">
            <a:spAutoFit/>
          </a:bodyPr>
          <a:lstStyle/>
          <a:p>
            <a:pPr algn="l">
              <a:lnSpc>
                <a:spcPct val="115000"/>
              </a:lnSpc>
            </a:pPr>
            <a:r>
              <a:rPr sz="1200" b="1">
                <a:solidFill>
                  <a:srgbClr val="FFFFFF"/>
                </a:solidFill>
                <a:latin typeface="Calibri"/>
              </a:rPr>
              <a:t>Conformité</a:t>
            </a:r>
          </a:p>
        </p:txBody>
      </p:sp>
      <p:sp>
        <p:nvSpPr>
          <p:cNvPr id="29" name="TextBox 28"/>
          <p:cNvSpPr txBox="1"/>
          <p:nvPr/>
        </p:nvSpPr>
        <p:spPr>
          <a:xfrm>
            <a:off x="3657600" y="5833872"/>
            <a:ext cx="7955279" cy="365760"/>
          </a:xfrm>
          <a:prstGeom prst="rect">
            <a:avLst/>
          </a:prstGeom>
          <a:noFill/>
        </p:spPr>
        <p:txBody>
          <a:bodyPr wrap="square" lIns="0" rIns="0" tIns="0" bIns="0" anchor="t">
            <a:spAutoFit/>
          </a:bodyPr>
          <a:lstStyle/>
          <a:p>
            <a:pPr algn="l">
              <a:lnSpc>
                <a:spcPct val="115000"/>
              </a:lnSpc>
            </a:pPr>
            <a:r>
              <a:rPr sz="1200" b="0">
                <a:solidFill>
                  <a:srgbClr val="F5F1E8"/>
                </a:solidFill>
                <a:latin typeface="Calibri Light"/>
              </a:rPr>
              <a:t>Matrices NIS2 / CRA / ANSSI générées automatiquement, exportables au SIEM.</a:t>
            </a:r>
          </a:p>
        </p:txBody>
      </p:sp>
      <p:sp>
        <p:nvSpPr>
          <p:cNvPr id="30" name="Rectangle 29"/>
          <p:cNvSpPr/>
          <p:nvPr/>
        </p:nvSpPr>
        <p:spPr>
          <a:xfrm>
            <a:off x="0" y="6629400"/>
            <a:ext cx="12191695" cy="2286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647688"/>
            <a:ext cx="3657600" cy="201168"/>
          </a:xfrm>
          <a:prstGeom prst="rect">
            <a:avLst/>
          </a:prstGeom>
          <a:noFill/>
        </p:spPr>
        <p:txBody>
          <a:bodyPr wrap="square" lIns="0" rIns="0" tIns="0" bIns="0" anchor="t">
            <a:spAutoFit/>
          </a:bodyPr>
          <a:lstStyle/>
          <a:p>
            <a:pPr algn="l">
              <a:lnSpc>
                <a:spcPct val="115000"/>
              </a:lnSpc>
            </a:pPr>
            <a:r>
              <a:rPr sz="900" b="0">
                <a:solidFill>
                  <a:srgbClr val="8A95A8"/>
                </a:solidFill>
                <a:latin typeface="Calibri Light"/>
              </a:rPr>
              <a:t>HESIA — Confidential</a:t>
            </a:r>
          </a:p>
        </p:txBody>
      </p:sp>
      <p:sp>
        <p:nvSpPr>
          <p:cNvPr id="32" name="TextBox 31"/>
          <p:cNvSpPr txBox="1"/>
          <p:nvPr/>
        </p:nvSpPr>
        <p:spPr>
          <a:xfrm>
            <a:off x="4572000" y="6647688"/>
            <a:ext cx="2743200" cy="201168"/>
          </a:xfrm>
          <a:prstGeom prst="rect">
            <a:avLst/>
          </a:prstGeom>
          <a:noFill/>
        </p:spPr>
        <p:txBody>
          <a:bodyPr wrap="square" lIns="0" rIns="0" tIns="0" bIns="0" anchor="t">
            <a:spAutoFit/>
          </a:bodyPr>
          <a:lstStyle/>
          <a:p>
            <a:pPr algn="ctr">
              <a:lnSpc>
                <a:spcPct val="115000"/>
              </a:lnSpc>
            </a:pPr>
            <a:r>
              <a:rPr sz="900" b="0">
                <a:solidFill>
                  <a:srgbClr val="8A95A8"/>
                </a:solidFill>
                <a:latin typeface="Calibri Light"/>
              </a:rPr>
              <a:t>Pitch Investisseurs · 2026</a:t>
            </a:r>
          </a:p>
        </p:txBody>
      </p:sp>
      <p:sp>
        <p:nvSpPr>
          <p:cNvPr id="33" name="TextBox 32"/>
          <p:cNvSpPr txBox="1"/>
          <p:nvPr/>
        </p:nvSpPr>
        <p:spPr>
          <a:xfrm>
            <a:off x="10058400" y="6647688"/>
            <a:ext cx="1828800" cy="201168"/>
          </a:xfrm>
          <a:prstGeom prst="rect">
            <a:avLst/>
          </a:prstGeom>
          <a:noFill/>
        </p:spPr>
        <p:txBody>
          <a:bodyPr wrap="square" lIns="0" rIns="0" tIns="0" bIns="0" anchor="t">
            <a:spAutoFit/>
          </a:bodyPr>
          <a:lstStyle/>
          <a:p>
            <a:pPr algn="r">
              <a:lnSpc>
                <a:spcPct val="115000"/>
              </a:lnSpc>
            </a:pPr>
            <a:r>
              <a:rPr sz="900" b="0">
                <a:solidFill>
                  <a:srgbClr val="8A95A8"/>
                </a:solidFill>
                <a:latin typeface="Calibri Light"/>
              </a:rPr>
              <a:t>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365760" y="274320"/>
            <a:ext cx="411480" cy="411480"/>
          </a:xfrm>
          <a:prstGeom prst="hexagon">
            <a:avLst/>
          </a:prstGeom>
          <a:noFill/>
          <a:ln w="1905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411480" cy="411480"/>
          </a:xfrm>
          <a:prstGeom prst="rect">
            <a:avLst/>
          </a:prstGeom>
          <a:noFill/>
        </p:spPr>
        <p:txBody>
          <a:bodyPr wrap="none" lIns="0" rIns="0" tIns="0" bIns="0" anchor="ctr">
            <a:spAutoFit/>
          </a:bodyPr>
          <a:lstStyle/>
          <a:p>
            <a:pPr algn="ctr"/>
            <a:r>
              <a:rPr b="1" sz="1700">
                <a:solidFill>
                  <a:srgbClr val="D4A017"/>
                </a:solidFill>
                <a:latin typeface="Calibri"/>
              </a:rPr>
              <a:t>H</a:t>
            </a:r>
          </a:p>
        </p:txBody>
      </p:sp>
      <p:sp>
        <p:nvSpPr>
          <p:cNvPr id="5" name="TextBox 4"/>
          <p:cNvSpPr txBox="1"/>
          <p:nvPr/>
        </p:nvSpPr>
        <p:spPr>
          <a:xfrm>
            <a:off x="868680" y="292608"/>
            <a:ext cx="1828800" cy="365760"/>
          </a:xfrm>
          <a:prstGeom prst="rect">
            <a:avLst/>
          </a:prstGeom>
          <a:noFill/>
        </p:spPr>
        <p:txBody>
          <a:bodyPr wrap="square" lIns="0" rIns="0" tIns="0" bIns="0" anchor="t">
            <a:spAutoFit/>
          </a:bodyPr>
          <a:lstStyle/>
          <a:p>
            <a:pPr algn="l">
              <a:lnSpc>
                <a:spcPct val="115000"/>
              </a:lnSpc>
            </a:pPr>
            <a:r>
              <a:rPr sz="1600" b="1">
                <a:solidFill>
                  <a:srgbClr val="FFFFFF"/>
                </a:solidFill>
                <a:latin typeface="Calibri"/>
              </a:rPr>
              <a:t>HESIA</a:t>
            </a:r>
          </a:p>
        </p:txBody>
      </p:sp>
      <p:sp>
        <p:nvSpPr>
          <p:cNvPr id="6" name="TextBox 5"/>
          <p:cNvSpPr txBox="1"/>
          <p:nvPr/>
        </p:nvSpPr>
        <p:spPr>
          <a:xfrm>
            <a:off x="548640" y="868680"/>
            <a:ext cx="7315200" cy="32004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PRODUIT</a:t>
            </a:r>
          </a:p>
        </p:txBody>
      </p:sp>
      <p:sp>
        <p:nvSpPr>
          <p:cNvPr id="7" name="TextBox 6"/>
          <p:cNvSpPr txBox="1"/>
          <p:nvPr/>
        </p:nvSpPr>
        <p:spPr>
          <a:xfrm>
            <a:off x="548640" y="1188720"/>
            <a:ext cx="10972800" cy="822960"/>
          </a:xfrm>
          <a:prstGeom prst="rect">
            <a:avLst/>
          </a:prstGeom>
          <a:noFill/>
        </p:spPr>
        <p:txBody>
          <a:bodyPr wrap="square" lIns="0" rIns="0" tIns="0" bIns="0" anchor="t">
            <a:spAutoFit/>
          </a:bodyPr>
          <a:lstStyle/>
          <a:p>
            <a:pPr algn="l">
              <a:lnSpc>
                <a:spcPct val="115000"/>
              </a:lnSpc>
            </a:pPr>
            <a:r>
              <a:rPr sz="3200" b="1">
                <a:solidFill>
                  <a:srgbClr val="FFFFFF"/>
                </a:solidFill>
                <a:latin typeface="Calibri"/>
              </a:rPr>
              <a:t>Quatre modules — déployables ensemble ou séparément.</a:t>
            </a:r>
          </a:p>
        </p:txBody>
      </p:sp>
      <p:sp>
        <p:nvSpPr>
          <p:cNvPr id="8" name="Rectangle 7"/>
          <p:cNvSpPr/>
          <p:nvPr/>
        </p:nvSpPr>
        <p:spPr>
          <a:xfrm>
            <a:off x="548640" y="1965960"/>
            <a:ext cx="6400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468880"/>
            <a:ext cx="2697480" cy="365760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468880"/>
            <a:ext cx="269748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606040"/>
            <a:ext cx="2240280" cy="320040"/>
          </a:xfrm>
          <a:prstGeom prst="rect">
            <a:avLst/>
          </a:prstGeom>
          <a:noFill/>
        </p:spPr>
        <p:txBody>
          <a:bodyPr wrap="square" lIns="0" rIns="0" tIns="0" bIns="0" anchor="t">
            <a:spAutoFit/>
          </a:bodyPr>
          <a:lstStyle/>
          <a:p>
            <a:pPr algn="l">
              <a:lnSpc>
                <a:spcPct val="115000"/>
              </a:lnSpc>
            </a:pPr>
            <a:r>
              <a:rPr sz="1000" b="1">
                <a:solidFill>
                  <a:srgbClr val="D4A017"/>
                </a:solidFill>
                <a:latin typeface="Calibri"/>
              </a:rPr>
              <a:t>DISPONIBLE</a:t>
            </a:r>
          </a:p>
        </p:txBody>
      </p:sp>
      <p:sp>
        <p:nvSpPr>
          <p:cNvPr id="12" name="TextBox 11"/>
          <p:cNvSpPr txBox="1"/>
          <p:nvPr/>
        </p:nvSpPr>
        <p:spPr>
          <a:xfrm>
            <a:off x="777240" y="2926080"/>
            <a:ext cx="2240280" cy="457200"/>
          </a:xfrm>
          <a:prstGeom prst="rect">
            <a:avLst/>
          </a:prstGeom>
          <a:noFill/>
        </p:spPr>
        <p:txBody>
          <a:bodyPr wrap="square" lIns="0" rIns="0" tIns="0" bIns="0" anchor="t">
            <a:spAutoFit/>
          </a:bodyPr>
          <a:lstStyle/>
          <a:p>
            <a:pPr algn="l">
              <a:lnSpc>
                <a:spcPct val="115000"/>
              </a:lnSpc>
            </a:pPr>
            <a:r>
              <a:rPr sz="1800" b="1">
                <a:solidFill>
                  <a:srgbClr val="FFFFFF"/>
                </a:solidFill>
                <a:latin typeface="Calibri"/>
              </a:rPr>
              <a:t>Core</a:t>
            </a:r>
          </a:p>
        </p:txBody>
      </p:sp>
      <p:sp>
        <p:nvSpPr>
          <p:cNvPr id="13" name="TextBox 12"/>
          <p:cNvSpPr txBox="1"/>
          <p:nvPr/>
        </p:nvSpPr>
        <p:spPr>
          <a:xfrm>
            <a:off x="777240" y="3383280"/>
            <a:ext cx="2240280" cy="411480"/>
          </a:xfrm>
          <a:prstGeom prst="rect">
            <a:avLst/>
          </a:prstGeom>
          <a:noFill/>
        </p:spPr>
        <p:txBody>
          <a:bodyPr wrap="square" lIns="0" rIns="0" tIns="0" bIns="0" anchor="t">
            <a:spAutoFit/>
          </a:bodyPr>
          <a:lstStyle/>
          <a:p>
            <a:pPr algn="l">
              <a:lnSpc>
                <a:spcPct val="120000"/>
              </a:lnSpc>
            </a:pPr>
            <a:r>
              <a:rPr sz="1100" b="0">
                <a:solidFill>
                  <a:srgbClr val="D4A017"/>
                </a:solidFill>
                <a:latin typeface="Calibri Light"/>
              </a:rPr>
              <a:t>Firmware durci embarqué.</a:t>
            </a:r>
          </a:p>
        </p:txBody>
      </p:sp>
      <p:sp>
        <p:nvSpPr>
          <p:cNvPr id="14" name="TextBox 13"/>
          <p:cNvSpPr txBox="1"/>
          <p:nvPr/>
        </p:nvSpPr>
        <p:spPr>
          <a:xfrm>
            <a:off x="777240" y="4023360"/>
            <a:ext cx="2240280" cy="2011680"/>
          </a:xfrm>
          <a:prstGeom prst="rect">
            <a:avLst/>
          </a:prstGeom>
          <a:noFill/>
        </p:spPr>
        <p:txBody>
          <a:bodyPr wrap="square" lIns="0" rIns="0" tIns="0" bIns="0">
            <a:spAutoFit/>
          </a:bodyPr>
          <a:lstStyle/>
          <a:p>
            <a:pPr algn="l">
              <a:lnSpc>
                <a:spcPct val="135000"/>
              </a:lnSpc>
            </a:pPr>
            <a:r>
              <a:rPr sz="1000" b="0">
                <a:solidFill>
                  <a:srgbClr val="F5F1E8"/>
                </a:solidFill>
                <a:latin typeface="Calibri Light"/>
              </a:rPr>
              <a:t>  TLS 1.3 mTLS + ML-KEM-1024 hybride</a:t>
            </a:r>
          </a:p>
          <a:p>
            <a:pPr algn="l">
              <a:lnSpc>
                <a:spcPct val="135000"/>
              </a:lnSpc>
            </a:pPr>
            <a:r>
              <a:rPr sz="1000" b="0">
                <a:solidFill>
                  <a:srgbClr val="F5F1E8"/>
                </a:solidFill>
                <a:latin typeface="Calibri Light"/>
              </a:rPr>
              <a:t>  AES-256-GCM rotation &lt; 60s</a:t>
            </a:r>
          </a:p>
          <a:p>
            <a:pPr algn="l">
              <a:lnSpc>
                <a:spcPct val="135000"/>
              </a:lnSpc>
            </a:pPr>
            <a:r>
              <a:rPr sz="1000" b="0">
                <a:solidFill>
                  <a:srgbClr val="F5F1E8"/>
                </a:solidFill>
                <a:latin typeface="Calibri Light"/>
              </a:rPr>
              <a:t>  Allowlist Ed25519 modules</a:t>
            </a:r>
          </a:p>
          <a:p>
            <a:pPr algn="l">
              <a:lnSpc>
                <a:spcPct val="135000"/>
              </a:lnSpc>
            </a:pPr>
            <a:r>
              <a:rPr sz="1000" b="0">
                <a:solidFill>
                  <a:srgbClr val="F5F1E8"/>
                </a:solidFill>
                <a:latin typeface="Calibri Light"/>
              </a:rPr>
              <a:t>  Sandbox seccomp / AppArmor</a:t>
            </a:r>
          </a:p>
          <a:p>
            <a:pPr algn="l">
              <a:lnSpc>
                <a:spcPct val="135000"/>
              </a:lnSpc>
            </a:pPr>
            <a:r>
              <a:rPr sz="1000" b="0">
                <a:solidFill>
                  <a:srgbClr val="F5F1E8"/>
                </a:solidFill>
                <a:latin typeface="Calibri Light"/>
              </a:rPr>
              <a:t>  Audit log chaîné immuable</a:t>
            </a:r>
          </a:p>
          <a:p>
            <a:pPr algn="l">
              <a:lnSpc>
                <a:spcPct val="135000"/>
              </a:lnSpc>
            </a:pPr>
            <a:r>
              <a:rPr sz="1000" b="0">
                <a:solidFill>
                  <a:srgbClr val="F5F1E8"/>
                </a:solidFill>
                <a:latin typeface="Calibri Light"/>
              </a:rPr>
              <a:t>  Linux Yocto (Jetson, iMX9)</a:t>
            </a:r>
          </a:p>
        </p:txBody>
      </p:sp>
      <p:sp>
        <p:nvSpPr>
          <p:cNvPr id="15" name="Rectangle 14"/>
          <p:cNvSpPr/>
          <p:nvPr/>
        </p:nvSpPr>
        <p:spPr>
          <a:xfrm>
            <a:off x="3410712" y="2468880"/>
            <a:ext cx="2697480" cy="365760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10712" y="2468880"/>
            <a:ext cx="269748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39312" y="2606040"/>
            <a:ext cx="2240280" cy="320040"/>
          </a:xfrm>
          <a:prstGeom prst="rect">
            <a:avLst/>
          </a:prstGeom>
          <a:noFill/>
        </p:spPr>
        <p:txBody>
          <a:bodyPr wrap="square" lIns="0" rIns="0" tIns="0" bIns="0" anchor="t">
            <a:spAutoFit/>
          </a:bodyPr>
          <a:lstStyle/>
          <a:p>
            <a:pPr algn="l">
              <a:lnSpc>
                <a:spcPct val="115000"/>
              </a:lnSpc>
            </a:pPr>
            <a:r>
              <a:rPr sz="1000" b="1">
                <a:solidFill>
                  <a:srgbClr val="D4A017"/>
                </a:solidFill>
                <a:latin typeface="Calibri"/>
              </a:rPr>
              <a:t>Q3 2026 ALPHA</a:t>
            </a:r>
          </a:p>
        </p:txBody>
      </p:sp>
      <p:sp>
        <p:nvSpPr>
          <p:cNvPr id="18" name="TextBox 17"/>
          <p:cNvSpPr txBox="1"/>
          <p:nvPr/>
        </p:nvSpPr>
        <p:spPr>
          <a:xfrm>
            <a:off x="3639312" y="2926080"/>
            <a:ext cx="2240280" cy="457200"/>
          </a:xfrm>
          <a:prstGeom prst="rect">
            <a:avLst/>
          </a:prstGeom>
          <a:noFill/>
        </p:spPr>
        <p:txBody>
          <a:bodyPr wrap="square" lIns="0" rIns="0" tIns="0" bIns="0" anchor="t">
            <a:spAutoFit/>
          </a:bodyPr>
          <a:lstStyle/>
          <a:p>
            <a:pPr algn="l">
              <a:lnSpc>
                <a:spcPct val="115000"/>
              </a:lnSpc>
            </a:pPr>
            <a:r>
              <a:rPr sz="1800" b="1">
                <a:solidFill>
                  <a:srgbClr val="FFFFFF"/>
                </a:solidFill>
                <a:latin typeface="Calibri"/>
              </a:rPr>
              <a:t>Command</a:t>
            </a:r>
          </a:p>
        </p:txBody>
      </p:sp>
      <p:sp>
        <p:nvSpPr>
          <p:cNvPr id="19" name="TextBox 18"/>
          <p:cNvSpPr txBox="1"/>
          <p:nvPr/>
        </p:nvSpPr>
        <p:spPr>
          <a:xfrm>
            <a:off x="3639312" y="3383280"/>
            <a:ext cx="2240280" cy="411480"/>
          </a:xfrm>
          <a:prstGeom prst="rect">
            <a:avLst/>
          </a:prstGeom>
          <a:noFill/>
        </p:spPr>
        <p:txBody>
          <a:bodyPr wrap="square" lIns="0" rIns="0" tIns="0" bIns="0" anchor="t">
            <a:spAutoFit/>
          </a:bodyPr>
          <a:lstStyle/>
          <a:p>
            <a:pPr algn="l">
              <a:lnSpc>
                <a:spcPct val="120000"/>
              </a:lnSpc>
            </a:pPr>
            <a:r>
              <a:rPr sz="1100" b="0">
                <a:solidFill>
                  <a:srgbClr val="D4A017"/>
                </a:solidFill>
                <a:latin typeface="Calibri Light"/>
              </a:rPr>
              <a:t>Supervision multi-drones.</a:t>
            </a:r>
          </a:p>
        </p:txBody>
      </p:sp>
      <p:sp>
        <p:nvSpPr>
          <p:cNvPr id="20" name="TextBox 19"/>
          <p:cNvSpPr txBox="1"/>
          <p:nvPr/>
        </p:nvSpPr>
        <p:spPr>
          <a:xfrm>
            <a:off x="3639312" y="4023360"/>
            <a:ext cx="2240280" cy="2011680"/>
          </a:xfrm>
          <a:prstGeom prst="rect">
            <a:avLst/>
          </a:prstGeom>
          <a:noFill/>
        </p:spPr>
        <p:txBody>
          <a:bodyPr wrap="square" lIns="0" rIns="0" tIns="0" bIns="0">
            <a:spAutoFit/>
          </a:bodyPr>
          <a:lstStyle/>
          <a:p>
            <a:pPr algn="l">
              <a:lnSpc>
                <a:spcPct val="135000"/>
              </a:lnSpc>
            </a:pPr>
            <a:r>
              <a:rPr sz="1000" b="0">
                <a:solidFill>
                  <a:srgbClr val="F5F1E8"/>
                </a:solidFill>
                <a:latin typeface="Calibri Light"/>
              </a:rPr>
              <a:t>  Console temps réel WebGL</a:t>
            </a:r>
          </a:p>
          <a:p>
            <a:pPr algn="l">
              <a:lnSpc>
                <a:spcPct val="135000"/>
              </a:lnSpc>
            </a:pPr>
            <a:r>
              <a:rPr sz="1000" b="0">
                <a:solidFill>
                  <a:srgbClr val="F5F1E8"/>
                </a:solidFill>
                <a:latin typeface="Calibri Light"/>
              </a:rPr>
              <a:t>  Signature policy ML-DSA-87</a:t>
            </a:r>
          </a:p>
          <a:p>
            <a:pPr algn="l">
              <a:lnSpc>
                <a:spcPct val="135000"/>
              </a:lnSpc>
            </a:pPr>
            <a:r>
              <a:rPr sz="1000" b="0">
                <a:solidFill>
                  <a:srgbClr val="F5F1E8"/>
                </a:solidFill>
                <a:latin typeface="Calibri Light"/>
              </a:rPr>
              <a:t>  RBAC + journal opérations</a:t>
            </a:r>
          </a:p>
          <a:p>
            <a:pPr algn="l">
              <a:lnSpc>
                <a:spcPct val="135000"/>
              </a:lnSpc>
            </a:pPr>
            <a:r>
              <a:rPr sz="1000" b="0">
                <a:solidFill>
                  <a:srgbClr val="F5F1E8"/>
                </a:solidFill>
                <a:latin typeface="Calibri Light"/>
              </a:rPr>
              <a:t>  Connecteur SIEM (Splunk, Elastic)</a:t>
            </a:r>
          </a:p>
          <a:p>
            <a:pPr algn="l">
              <a:lnSpc>
                <a:spcPct val="135000"/>
              </a:lnSpc>
            </a:pPr>
            <a:r>
              <a:rPr sz="1000" b="0">
                <a:solidFill>
                  <a:srgbClr val="F5F1E8"/>
                </a:solidFill>
                <a:latin typeface="Calibri Light"/>
              </a:rPr>
              <a:t>  API REST / gRPC documentée</a:t>
            </a:r>
          </a:p>
          <a:p>
            <a:pPr algn="l">
              <a:lnSpc>
                <a:spcPct val="135000"/>
              </a:lnSpc>
            </a:pPr>
            <a:r>
              <a:rPr sz="1000" b="0">
                <a:solidFill>
                  <a:srgbClr val="F5F1E8"/>
                </a:solidFill>
                <a:latin typeface="Calibri Light"/>
              </a:rPr>
              <a:t>  Auto-hébergeable (souverain)</a:t>
            </a:r>
          </a:p>
        </p:txBody>
      </p:sp>
      <p:sp>
        <p:nvSpPr>
          <p:cNvPr id="21" name="Rectangle 20"/>
          <p:cNvSpPr/>
          <p:nvPr/>
        </p:nvSpPr>
        <p:spPr>
          <a:xfrm>
            <a:off x="6272784" y="2468880"/>
            <a:ext cx="2697480" cy="365760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72784" y="2468880"/>
            <a:ext cx="269748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1384" y="2606040"/>
            <a:ext cx="2240280" cy="320040"/>
          </a:xfrm>
          <a:prstGeom prst="rect">
            <a:avLst/>
          </a:prstGeom>
          <a:noFill/>
        </p:spPr>
        <p:txBody>
          <a:bodyPr wrap="square" lIns="0" rIns="0" tIns="0" bIns="0" anchor="t">
            <a:spAutoFit/>
          </a:bodyPr>
          <a:lstStyle/>
          <a:p>
            <a:pPr algn="l">
              <a:lnSpc>
                <a:spcPct val="115000"/>
              </a:lnSpc>
            </a:pPr>
            <a:r>
              <a:rPr sz="1000" b="1">
                <a:solidFill>
                  <a:srgbClr val="D4A017"/>
                </a:solidFill>
                <a:latin typeface="Calibri"/>
              </a:rPr>
              <a:t>Q4 2026 BETA</a:t>
            </a:r>
          </a:p>
        </p:txBody>
      </p:sp>
      <p:sp>
        <p:nvSpPr>
          <p:cNvPr id="24" name="TextBox 23"/>
          <p:cNvSpPr txBox="1"/>
          <p:nvPr/>
        </p:nvSpPr>
        <p:spPr>
          <a:xfrm>
            <a:off x="6501384" y="2926080"/>
            <a:ext cx="2240280" cy="457200"/>
          </a:xfrm>
          <a:prstGeom prst="rect">
            <a:avLst/>
          </a:prstGeom>
          <a:noFill/>
        </p:spPr>
        <p:txBody>
          <a:bodyPr wrap="square" lIns="0" rIns="0" tIns="0" bIns="0" anchor="t">
            <a:spAutoFit/>
          </a:bodyPr>
          <a:lstStyle/>
          <a:p>
            <a:pPr algn="l">
              <a:lnSpc>
                <a:spcPct val="115000"/>
              </a:lnSpc>
            </a:pPr>
            <a:r>
              <a:rPr sz="1800" b="1">
                <a:solidFill>
                  <a:srgbClr val="FFFFFF"/>
                </a:solidFill>
                <a:latin typeface="Calibri"/>
              </a:rPr>
              <a:t>Observe</a:t>
            </a:r>
          </a:p>
        </p:txBody>
      </p:sp>
      <p:sp>
        <p:nvSpPr>
          <p:cNvPr id="25" name="TextBox 24"/>
          <p:cNvSpPr txBox="1"/>
          <p:nvPr/>
        </p:nvSpPr>
        <p:spPr>
          <a:xfrm>
            <a:off x="6501384" y="3383280"/>
            <a:ext cx="2240280" cy="411480"/>
          </a:xfrm>
          <a:prstGeom prst="rect">
            <a:avLst/>
          </a:prstGeom>
          <a:noFill/>
        </p:spPr>
        <p:txBody>
          <a:bodyPr wrap="square" lIns="0" rIns="0" tIns="0" bIns="0" anchor="t">
            <a:spAutoFit/>
          </a:bodyPr>
          <a:lstStyle/>
          <a:p>
            <a:pPr algn="l">
              <a:lnSpc>
                <a:spcPct val="120000"/>
              </a:lnSpc>
            </a:pPr>
            <a:r>
              <a:rPr sz="1100" b="0">
                <a:solidFill>
                  <a:srgbClr val="D4A017"/>
                </a:solidFill>
                <a:latin typeface="Calibri Light"/>
              </a:rPr>
              <a:t>IA embarquée auditable.</a:t>
            </a:r>
          </a:p>
        </p:txBody>
      </p:sp>
      <p:sp>
        <p:nvSpPr>
          <p:cNvPr id="26" name="TextBox 25"/>
          <p:cNvSpPr txBox="1"/>
          <p:nvPr/>
        </p:nvSpPr>
        <p:spPr>
          <a:xfrm>
            <a:off x="6501384" y="4023360"/>
            <a:ext cx="2240280" cy="2011680"/>
          </a:xfrm>
          <a:prstGeom prst="rect">
            <a:avLst/>
          </a:prstGeom>
          <a:noFill/>
        </p:spPr>
        <p:txBody>
          <a:bodyPr wrap="square" lIns="0" rIns="0" tIns="0" bIns="0">
            <a:spAutoFit/>
          </a:bodyPr>
          <a:lstStyle/>
          <a:p>
            <a:pPr algn="l">
              <a:lnSpc>
                <a:spcPct val="135000"/>
              </a:lnSpc>
            </a:pPr>
            <a:r>
              <a:rPr sz="1000" b="0">
                <a:solidFill>
                  <a:srgbClr val="F5F1E8"/>
                </a:solidFill>
                <a:latin typeface="Calibri Light"/>
              </a:rPr>
              <a:t>  YOLO + MiDaS sandbox</a:t>
            </a:r>
          </a:p>
          <a:p>
            <a:pPr algn="l">
              <a:lnSpc>
                <a:spcPct val="135000"/>
              </a:lnSpc>
            </a:pPr>
            <a:r>
              <a:rPr sz="1000" b="0">
                <a:solidFill>
                  <a:srgbClr val="F5F1E8"/>
                </a:solidFill>
                <a:latin typeface="Calibri Light"/>
              </a:rPr>
              <a:t>  Limites mémoire / CPU strictes</a:t>
            </a:r>
          </a:p>
          <a:p>
            <a:pPr algn="l">
              <a:lnSpc>
                <a:spcPct val="135000"/>
              </a:lnSpc>
            </a:pPr>
            <a:r>
              <a:rPr sz="1000" b="0">
                <a:solidFill>
                  <a:srgbClr val="F5F1E8"/>
                </a:solidFill>
                <a:latin typeface="Calibri Light"/>
              </a:rPr>
              <a:t>  Signature des sorties IA</a:t>
            </a:r>
          </a:p>
          <a:p>
            <a:pPr algn="l">
              <a:lnSpc>
                <a:spcPct val="135000"/>
              </a:lnSpc>
            </a:pPr>
            <a:r>
              <a:rPr sz="1000" b="0">
                <a:solidFill>
                  <a:srgbClr val="F5F1E8"/>
                </a:solidFill>
                <a:latin typeface="Calibri Light"/>
              </a:rPr>
              <a:t>  Modèles vérifiables (hash + sig)</a:t>
            </a:r>
          </a:p>
          <a:p>
            <a:pPr algn="l">
              <a:lnSpc>
                <a:spcPct val="135000"/>
              </a:lnSpc>
            </a:pPr>
            <a:r>
              <a:rPr sz="1000" b="0">
                <a:solidFill>
                  <a:srgbClr val="F5F1E8"/>
                </a:solidFill>
                <a:latin typeface="Calibri Light"/>
              </a:rPr>
              <a:t>  Profilage comportemental</a:t>
            </a:r>
          </a:p>
          <a:p>
            <a:pPr algn="l">
              <a:lnSpc>
                <a:spcPct val="135000"/>
              </a:lnSpc>
            </a:pPr>
            <a:r>
              <a:rPr sz="1000" b="0">
                <a:solidFill>
                  <a:srgbClr val="F5F1E8"/>
                </a:solidFill>
                <a:latin typeface="Calibri Light"/>
              </a:rPr>
              <a:t>  Logs RGPD-friendly</a:t>
            </a:r>
          </a:p>
        </p:txBody>
      </p:sp>
      <p:sp>
        <p:nvSpPr>
          <p:cNvPr id="27" name="Rectangle 26"/>
          <p:cNvSpPr/>
          <p:nvPr/>
        </p:nvSpPr>
        <p:spPr>
          <a:xfrm>
            <a:off x="9134856" y="2468880"/>
            <a:ext cx="2697480" cy="365760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34856" y="2468880"/>
            <a:ext cx="269748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63456" y="2606040"/>
            <a:ext cx="2240280" cy="320040"/>
          </a:xfrm>
          <a:prstGeom prst="rect">
            <a:avLst/>
          </a:prstGeom>
          <a:noFill/>
        </p:spPr>
        <p:txBody>
          <a:bodyPr wrap="square" lIns="0" rIns="0" tIns="0" bIns="0" anchor="t">
            <a:spAutoFit/>
          </a:bodyPr>
          <a:lstStyle/>
          <a:p>
            <a:pPr algn="l">
              <a:lnSpc>
                <a:spcPct val="115000"/>
              </a:lnSpc>
            </a:pPr>
            <a:r>
              <a:rPr sz="1000" b="1">
                <a:solidFill>
                  <a:srgbClr val="D4A017"/>
                </a:solidFill>
                <a:latin typeface="Calibri"/>
              </a:rPr>
              <a:t>Q1 2027</a:t>
            </a:r>
          </a:p>
        </p:txBody>
      </p:sp>
      <p:sp>
        <p:nvSpPr>
          <p:cNvPr id="30" name="TextBox 29"/>
          <p:cNvSpPr txBox="1"/>
          <p:nvPr/>
        </p:nvSpPr>
        <p:spPr>
          <a:xfrm>
            <a:off x="9363456" y="2926080"/>
            <a:ext cx="2240280" cy="457200"/>
          </a:xfrm>
          <a:prstGeom prst="rect">
            <a:avLst/>
          </a:prstGeom>
          <a:noFill/>
        </p:spPr>
        <p:txBody>
          <a:bodyPr wrap="square" lIns="0" rIns="0" tIns="0" bIns="0" anchor="t">
            <a:spAutoFit/>
          </a:bodyPr>
          <a:lstStyle/>
          <a:p>
            <a:pPr algn="l">
              <a:lnSpc>
                <a:spcPct val="115000"/>
              </a:lnSpc>
            </a:pPr>
            <a:r>
              <a:rPr sz="1800" b="1">
                <a:solidFill>
                  <a:srgbClr val="FFFFFF"/>
                </a:solidFill>
                <a:latin typeface="Calibri"/>
              </a:rPr>
              <a:t>Attest</a:t>
            </a:r>
          </a:p>
        </p:txBody>
      </p:sp>
      <p:sp>
        <p:nvSpPr>
          <p:cNvPr id="31" name="TextBox 30"/>
          <p:cNvSpPr txBox="1"/>
          <p:nvPr/>
        </p:nvSpPr>
        <p:spPr>
          <a:xfrm>
            <a:off x="9363456" y="3383280"/>
            <a:ext cx="2240280" cy="411480"/>
          </a:xfrm>
          <a:prstGeom prst="rect">
            <a:avLst/>
          </a:prstGeom>
          <a:noFill/>
        </p:spPr>
        <p:txBody>
          <a:bodyPr wrap="square" lIns="0" rIns="0" tIns="0" bIns="0" anchor="t">
            <a:spAutoFit/>
          </a:bodyPr>
          <a:lstStyle/>
          <a:p>
            <a:pPr algn="l">
              <a:lnSpc>
                <a:spcPct val="120000"/>
              </a:lnSpc>
            </a:pPr>
            <a:r>
              <a:rPr sz="1100" b="0">
                <a:solidFill>
                  <a:srgbClr val="D4A017"/>
                </a:solidFill>
                <a:latin typeface="Calibri Light"/>
              </a:rPr>
              <a:t>Attestation matérielle.</a:t>
            </a:r>
          </a:p>
        </p:txBody>
      </p:sp>
      <p:sp>
        <p:nvSpPr>
          <p:cNvPr id="32" name="TextBox 31"/>
          <p:cNvSpPr txBox="1"/>
          <p:nvPr/>
        </p:nvSpPr>
        <p:spPr>
          <a:xfrm>
            <a:off x="9363456" y="4023360"/>
            <a:ext cx="2240280" cy="2011680"/>
          </a:xfrm>
          <a:prstGeom prst="rect">
            <a:avLst/>
          </a:prstGeom>
          <a:noFill/>
        </p:spPr>
        <p:txBody>
          <a:bodyPr wrap="square" lIns="0" rIns="0" tIns="0" bIns="0">
            <a:spAutoFit/>
          </a:bodyPr>
          <a:lstStyle/>
          <a:p>
            <a:pPr algn="l">
              <a:lnSpc>
                <a:spcPct val="135000"/>
              </a:lnSpc>
            </a:pPr>
            <a:r>
              <a:rPr sz="1000" b="0">
                <a:solidFill>
                  <a:srgbClr val="F5F1E8"/>
                </a:solidFill>
                <a:latin typeface="Calibri Light"/>
              </a:rPr>
              <a:t>  TA OP-TEE / TrustZone</a:t>
            </a:r>
          </a:p>
          <a:p>
            <a:pPr algn="l">
              <a:lnSpc>
                <a:spcPct val="135000"/>
              </a:lnSpc>
            </a:pPr>
            <a:r>
              <a:rPr sz="1000" b="0">
                <a:solidFill>
                  <a:srgbClr val="F5F1E8"/>
                </a:solidFill>
                <a:latin typeface="Calibri Light"/>
              </a:rPr>
              <a:t>  Scellement clés sur SoC</a:t>
            </a:r>
          </a:p>
          <a:p>
            <a:pPr algn="l">
              <a:lnSpc>
                <a:spcPct val="135000"/>
              </a:lnSpc>
            </a:pPr>
            <a:r>
              <a:rPr sz="1000" b="0">
                <a:solidFill>
                  <a:srgbClr val="F5F1E8"/>
                </a:solidFill>
                <a:latin typeface="Calibri Light"/>
              </a:rPr>
              <a:t>  Attestation à distance signée</a:t>
            </a:r>
          </a:p>
          <a:p>
            <a:pPr algn="l">
              <a:lnSpc>
                <a:spcPct val="135000"/>
              </a:lnSpc>
            </a:pPr>
            <a:r>
              <a:rPr sz="1000" b="0">
                <a:solidFill>
                  <a:srgbClr val="F5F1E8"/>
                </a:solidFill>
                <a:latin typeface="Calibri Light"/>
              </a:rPr>
              <a:t>  Secure boot vérifié</a:t>
            </a:r>
          </a:p>
          <a:p>
            <a:pPr algn="l">
              <a:lnSpc>
                <a:spcPct val="135000"/>
              </a:lnSpc>
            </a:pPr>
            <a:r>
              <a:rPr sz="1000" b="0">
                <a:solidFill>
                  <a:srgbClr val="F5F1E8"/>
                </a:solidFill>
                <a:latin typeface="Calibri Light"/>
              </a:rPr>
              <a:t>  Anti-rollback (RPMB)</a:t>
            </a:r>
          </a:p>
          <a:p>
            <a:pPr algn="l">
              <a:lnSpc>
                <a:spcPct val="135000"/>
              </a:lnSpc>
            </a:pPr>
            <a:r>
              <a:rPr sz="1000" b="0">
                <a:solidFill>
                  <a:srgbClr val="F5F1E8"/>
                </a:solidFill>
                <a:latin typeface="Calibri Light"/>
              </a:rPr>
              <a:t>  Compatibilité TPM optionnelle</a:t>
            </a:r>
          </a:p>
        </p:txBody>
      </p:sp>
      <p:sp>
        <p:nvSpPr>
          <p:cNvPr id="33" name="Rectangle 32"/>
          <p:cNvSpPr/>
          <p:nvPr/>
        </p:nvSpPr>
        <p:spPr>
          <a:xfrm>
            <a:off x="0" y="6629400"/>
            <a:ext cx="12191695" cy="2286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 y="6647688"/>
            <a:ext cx="3657600" cy="201168"/>
          </a:xfrm>
          <a:prstGeom prst="rect">
            <a:avLst/>
          </a:prstGeom>
          <a:noFill/>
        </p:spPr>
        <p:txBody>
          <a:bodyPr wrap="square" lIns="0" rIns="0" tIns="0" bIns="0" anchor="t">
            <a:spAutoFit/>
          </a:bodyPr>
          <a:lstStyle/>
          <a:p>
            <a:pPr algn="l">
              <a:lnSpc>
                <a:spcPct val="115000"/>
              </a:lnSpc>
            </a:pPr>
            <a:r>
              <a:rPr sz="900" b="0">
                <a:solidFill>
                  <a:srgbClr val="8A95A8"/>
                </a:solidFill>
                <a:latin typeface="Calibri Light"/>
              </a:rPr>
              <a:t>HESIA — Confidential</a:t>
            </a:r>
          </a:p>
        </p:txBody>
      </p:sp>
      <p:sp>
        <p:nvSpPr>
          <p:cNvPr id="35" name="TextBox 34"/>
          <p:cNvSpPr txBox="1"/>
          <p:nvPr/>
        </p:nvSpPr>
        <p:spPr>
          <a:xfrm>
            <a:off x="4572000" y="6647688"/>
            <a:ext cx="2743200" cy="201168"/>
          </a:xfrm>
          <a:prstGeom prst="rect">
            <a:avLst/>
          </a:prstGeom>
          <a:noFill/>
        </p:spPr>
        <p:txBody>
          <a:bodyPr wrap="square" lIns="0" rIns="0" tIns="0" bIns="0" anchor="t">
            <a:spAutoFit/>
          </a:bodyPr>
          <a:lstStyle/>
          <a:p>
            <a:pPr algn="ctr">
              <a:lnSpc>
                <a:spcPct val="115000"/>
              </a:lnSpc>
            </a:pPr>
            <a:r>
              <a:rPr sz="900" b="0">
                <a:solidFill>
                  <a:srgbClr val="8A95A8"/>
                </a:solidFill>
                <a:latin typeface="Calibri Light"/>
              </a:rPr>
              <a:t>Pitch Investisseurs · 2026</a:t>
            </a:r>
          </a:p>
        </p:txBody>
      </p:sp>
      <p:sp>
        <p:nvSpPr>
          <p:cNvPr id="36" name="TextBox 35"/>
          <p:cNvSpPr txBox="1"/>
          <p:nvPr/>
        </p:nvSpPr>
        <p:spPr>
          <a:xfrm>
            <a:off x="10058400" y="6647688"/>
            <a:ext cx="1828800" cy="201168"/>
          </a:xfrm>
          <a:prstGeom prst="rect">
            <a:avLst/>
          </a:prstGeom>
          <a:noFill/>
        </p:spPr>
        <p:txBody>
          <a:bodyPr wrap="square" lIns="0" rIns="0" tIns="0" bIns="0" anchor="t">
            <a:spAutoFit/>
          </a:bodyPr>
          <a:lstStyle/>
          <a:p>
            <a:pPr algn="r">
              <a:lnSpc>
                <a:spcPct val="115000"/>
              </a:lnSpc>
            </a:pPr>
            <a:r>
              <a:rPr sz="900" b="0">
                <a:solidFill>
                  <a:srgbClr val="8A95A8"/>
                </a:solidFill>
                <a:latin typeface="Calibri Light"/>
              </a:rPr>
              <a:t>6 /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365760" y="274320"/>
            <a:ext cx="411480" cy="411480"/>
          </a:xfrm>
          <a:prstGeom prst="hexagon">
            <a:avLst/>
          </a:prstGeom>
          <a:noFill/>
          <a:ln w="1905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411480" cy="411480"/>
          </a:xfrm>
          <a:prstGeom prst="rect">
            <a:avLst/>
          </a:prstGeom>
          <a:noFill/>
        </p:spPr>
        <p:txBody>
          <a:bodyPr wrap="none" lIns="0" rIns="0" tIns="0" bIns="0" anchor="ctr">
            <a:spAutoFit/>
          </a:bodyPr>
          <a:lstStyle/>
          <a:p>
            <a:pPr algn="ctr"/>
            <a:r>
              <a:rPr b="1" sz="1700">
                <a:solidFill>
                  <a:srgbClr val="D4A017"/>
                </a:solidFill>
                <a:latin typeface="Calibri"/>
              </a:rPr>
              <a:t>H</a:t>
            </a:r>
          </a:p>
        </p:txBody>
      </p:sp>
      <p:sp>
        <p:nvSpPr>
          <p:cNvPr id="5" name="TextBox 4"/>
          <p:cNvSpPr txBox="1"/>
          <p:nvPr/>
        </p:nvSpPr>
        <p:spPr>
          <a:xfrm>
            <a:off x="868680" y="292608"/>
            <a:ext cx="1828800" cy="365760"/>
          </a:xfrm>
          <a:prstGeom prst="rect">
            <a:avLst/>
          </a:prstGeom>
          <a:noFill/>
        </p:spPr>
        <p:txBody>
          <a:bodyPr wrap="square" lIns="0" rIns="0" tIns="0" bIns="0" anchor="t">
            <a:spAutoFit/>
          </a:bodyPr>
          <a:lstStyle/>
          <a:p>
            <a:pPr algn="l">
              <a:lnSpc>
                <a:spcPct val="115000"/>
              </a:lnSpc>
            </a:pPr>
            <a:r>
              <a:rPr sz="1600" b="1">
                <a:solidFill>
                  <a:srgbClr val="FFFFFF"/>
                </a:solidFill>
                <a:latin typeface="Calibri"/>
              </a:rPr>
              <a:t>HESIA</a:t>
            </a:r>
          </a:p>
        </p:txBody>
      </p:sp>
      <p:sp>
        <p:nvSpPr>
          <p:cNvPr id="6" name="TextBox 5"/>
          <p:cNvSpPr txBox="1"/>
          <p:nvPr/>
        </p:nvSpPr>
        <p:spPr>
          <a:xfrm>
            <a:off x="548640" y="868680"/>
            <a:ext cx="7315200" cy="32004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DIFFÉRENCIATION TECHNIQUE</a:t>
            </a:r>
          </a:p>
        </p:txBody>
      </p:sp>
      <p:sp>
        <p:nvSpPr>
          <p:cNvPr id="7" name="TextBox 6"/>
          <p:cNvSpPr txBox="1"/>
          <p:nvPr/>
        </p:nvSpPr>
        <p:spPr>
          <a:xfrm>
            <a:off x="548640" y="1188720"/>
            <a:ext cx="10972800" cy="822960"/>
          </a:xfrm>
          <a:prstGeom prst="rect">
            <a:avLst/>
          </a:prstGeom>
          <a:noFill/>
        </p:spPr>
        <p:txBody>
          <a:bodyPr wrap="square" lIns="0" rIns="0" tIns="0" bIns="0" anchor="t">
            <a:spAutoFit/>
          </a:bodyPr>
          <a:lstStyle/>
          <a:p>
            <a:pPr algn="l">
              <a:lnSpc>
                <a:spcPct val="115000"/>
              </a:lnSpc>
            </a:pPr>
            <a:r>
              <a:rPr sz="3200" b="1">
                <a:solidFill>
                  <a:srgbClr val="FFFFFF"/>
                </a:solidFill>
                <a:latin typeface="Calibri"/>
              </a:rPr>
              <a:t>Crédibilité technique sourcée — pas de claim sans référence.</a:t>
            </a:r>
          </a:p>
        </p:txBody>
      </p:sp>
      <p:sp>
        <p:nvSpPr>
          <p:cNvPr id="8" name="Rectangle 7"/>
          <p:cNvSpPr/>
          <p:nvPr/>
        </p:nvSpPr>
        <p:spPr>
          <a:xfrm>
            <a:off x="548640" y="1965960"/>
            <a:ext cx="6400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194560"/>
            <a:ext cx="10972800" cy="457200"/>
          </a:xfrm>
          <a:prstGeom prst="rect">
            <a:avLst/>
          </a:prstGeom>
          <a:noFill/>
        </p:spPr>
        <p:txBody>
          <a:bodyPr wrap="square" lIns="0" rIns="0" tIns="0" bIns="0" anchor="t">
            <a:spAutoFit/>
          </a:bodyPr>
          <a:lstStyle/>
          <a:p>
            <a:pPr algn="l">
              <a:lnSpc>
                <a:spcPct val="115000"/>
              </a:lnSpc>
            </a:pPr>
            <a:r>
              <a:rPr sz="1500" b="0">
                <a:solidFill>
                  <a:srgbClr val="F5F1E8"/>
                </a:solidFill>
                <a:latin typeface="Calibri Light"/>
              </a:rPr>
              <a:t>Les choix techniques HESIA reposent sur des standards ouverts, audités et reconnus par les agences nationales.</a:t>
            </a:r>
          </a:p>
        </p:txBody>
      </p:sp>
      <p:sp>
        <p:nvSpPr>
          <p:cNvPr id="10" name="Rectangle 9"/>
          <p:cNvSpPr/>
          <p:nvPr/>
        </p:nvSpPr>
        <p:spPr>
          <a:xfrm>
            <a:off x="548640" y="2834640"/>
            <a:ext cx="5532120" cy="169164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834640"/>
            <a:ext cx="54864" cy="169164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017520"/>
            <a:ext cx="5074920" cy="365760"/>
          </a:xfrm>
          <a:prstGeom prst="rect">
            <a:avLst/>
          </a:prstGeom>
          <a:noFill/>
        </p:spPr>
        <p:txBody>
          <a:bodyPr wrap="square" lIns="0" rIns="0" tIns="0" bIns="0" anchor="t">
            <a:spAutoFit/>
          </a:bodyPr>
          <a:lstStyle/>
          <a:p>
            <a:pPr algn="l">
              <a:lnSpc>
                <a:spcPct val="115000"/>
              </a:lnSpc>
            </a:pPr>
            <a:r>
              <a:rPr sz="1400" b="1">
                <a:solidFill>
                  <a:srgbClr val="FFFFFF"/>
                </a:solidFill>
                <a:latin typeface="Calibri"/>
              </a:rPr>
              <a:t>Cryptographie post-quantique</a:t>
            </a:r>
          </a:p>
        </p:txBody>
      </p:sp>
      <p:sp>
        <p:nvSpPr>
          <p:cNvPr id="13" name="TextBox 12"/>
          <p:cNvSpPr txBox="1"/>
          <p:nvPr/>
        </p:nvSpPr>
        <p:spPr>
          <a:xfrm>
            <a:off x="777240" y="3474720"/>
            <a:ext cx="5074920" cy="914400"/>
          </a:xfrm>
          <a:prstGeom prst="rect">
            <a:avLst/>
          </a:prstGeom>
          <a:noFill/>
        </p:spPr>
        <p:txBody>
          <a:bodyPr wrap="square" lIns="0" rIns="0" tIns="0" bIns="0">
            <a:spAutoFit/>
          </a:bodyPr>
          <a:lstStyle/>
          <a:p>
            <a:pPr algn="l">
              <a:lnSpc>
                <a:spcPct val="135000"/>
              </a:lnSpc>
            </a:pPr>
            <a:r>
              <a:rPr sz="1100" b="0">
                <a:solidFill>
                  <a:srgbClr val="F5F1E8"/>
                </a:solidFill>
                <a:latin typeface="Calibri Light"/>
              </a:rPr>
              <a:t>• ML-KEM-1024 (NIST FIPS 203, août 2024)</a:t>
            </a:r>
          </a:p>
          <a:p>
            <a:pPr algn="l">
              <a:lnSpc>
                <a:spcPct val="135000"/>
              </a:lnSpc>
            </a:pPr>
            <a:r>
              <a:rPr sz="1100" b="0">
                <a:solidFill>
                  <a:srgbClr val="F5F1E8"/>
                </a:solidFill>
                <a:latin typeface="Calibri Light"/>
              </a:rPr>
              <a:t>• ML-DSA-87 pour signatures (FIPS 204)</a:t>
            </a:r>
          </a:p>
          <a:p>
            <a:pPr algn="l">
              <a:lnSpc>
                <a:spcPct val="135000"/>
              </a:lnSpc>
            </a:pPr>
            <a:r>
              <a:rPr sz="1100" b="0">
                <a:solidFill>
                  <a:srgbClr val="F5F1E8"/>
                </a:solidFill>
                <a:latin typeface="Calibri Light"/>
              </a:rPr>
              <a:t>• Mode hybride X25519 + ML-KEM (défense en profondeur)</a:t>
            </a:r>
          </a:p>
          <a:p>
            <a:pPr algn="l">
              <a:lnSpc>
                <a:spcPct val="135000"/>
              </a:lnSpc>
            </a:pPr>
            <a:r>
              <a:rPr sz="1100" b="0">
                <a:solidFill>
                  <a:srgbClr val="F5F1E8"/>
                </a:solidFill>
                <a:latin typeface="Calibri Light"/>
              </a:rPr>
              <a:t>• Bibliothèque liboqs (Open Quantum Safe — auditée)</a:t>
            </a:r>
          </a:p>
        </p:txBody>
      </p:sp>
      <p:sp>
        <p:nvSpPr>
          <p:cNvPr id="14" name="Rectangle 13"/>
          <p:cNvSpPr/>
          <p:nvPr/>
        </p:nvSpPr>
        <p:spPr>
          <a:xfrm>
            <a:off x="6263640" y="2834640"/>
            <a:ext cx="5532120" cy="169164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2834640"/>
            <a:ext cx="54864" cy="169164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3017520"/>
            <a:ext cx="5074920" cy="365760"/>
          </a:xfrm>
          <a:prstGeom prst="rect">
            <a:avLst/>
          </a:prstGeom>
          <a:noFill/>
        </p:spPr>
        <p:txBody>
          <a:bodyPr wrap="square" lIns="0" rIns="0" tIns="0" bIns="0" anchor="t">
            <a:spAutoFit/>
          </a:bodyPr>
          <a:lstStyle/>
          <a:p>
            <a:pPr algn="l">
              <a:lnSpc>
                <a:spcPct val="115000"/>
              </a:lnSpc>
            </a:pPr>
            <a:r>
              <a:rPr sz="1400" b="1">
                <a:solidFill>
                  <a:srgbClr val="FFFFFF"/>
                </a:solidFill>
                <a:latin typeface="Calibri"/>
              </a:rPr>
              <a:t>Trusted Execution Environment</a:t>
            </a:r>
          </a:p>
        </p:txBody>
      </p:sp>
      <p:sp>
        <p:nvSpPr>
          <p:cNvPr id="17" name="TextBox 16"/>
          <p:cNvSpPr txBox="1"/>
          <p:nvPr/>
        </p:nvSpPr>
        <p:spPr>
          <a:xfrm>
            <a:off x="6492240" y="3474720"/>
            <a:ext cx="5074920" cy="914400"/>
          </a:xfrm>
          <a:prstGeom prst="rect">
            <a:avLst/>
          </a:prstGeom>
          <a:noFill/>
        </p:spPr>
        <p:txBody>
          <a:bodyPr wrap="square" lIns="0" rIns="0" tIns="0" bIns="0">
            <a:spAutoFit/>
          </a:bodyPr>
          <a:lstStyle/>
          <a:p>
            <a:pPr algn="l">
              <a:lnSpc>
                <a:spcPct val="135000"/>
              </a:lnSpc>
            </a:pPr>
            <a:r>
              <a:rPr sz="1100" b="0">
                <a:solidFill>
                  <a:srgbClr val="F5F1E8"/>
                </a:solidFill>
                <a:latin typeface="Calibri Light"/>
              </a:rPr>
              <a:t>• OP-TEE 4.x (Linaro, opensource)</a:t>
            </a:r>
          </a:p>
          <a:p>
            <a:pPr algn="l">
              <a:lnSpc>
                <a:spcPct val="135000"/>
              </a:lnSpc>
            </a:pPr>
            <a:r>
              <a:rPr sz="1100" b="0">
                <a:solidFill>
                  <a:srgbClr val="F5F1E8"/>
                </a:solidFill>
                <a:latin typeface="Calibri Light"/>
              </a:rPr>
              <a:t>• ARM TrustZone sur Cortex-A</a:t>
            </a:r>
          </a:p>
          <a:p>
            <a:pPr algn="l">
              <a:lnSpc>
                <a:spcPct val="135000"/>
              </a:lnSpc>
            </a:pPr>
            <a:r>
              <a:rPr sz="1100" b="0">
                <a:solidFill>
                  <a:srgbClr val="F5F1E8"/>
                </a:solidFill>
                <a:latin typeface="Calibri Light"/>
              </a:rPr>
              <a:t>• Scellement matériel des clés maître</a:t>
            </a:r>
          </a:p>
          <a:p>
            <a:pPr algn="l">
              <a:lnSpc>
                <a:spcPct val="135000"/>
              </a:lnSpc>
            </a:pPr>
            <a:r>
              <a:rPr sz="1100" b="0">
                <a:solidFill>
                  <a:srgbClr val="F5F1E8"/>
                </a:solidFill>
                <a:latin typeface="Calibri Light"/>
              </a:rPr>
              <a:t>• Attestation distante avec exporter binding RFC 9266</a:t>
            </a:r>
          </a:p>
        </p:txBody>
      </p:sp>
      <p:sp>
        <p:nvSpPr>
          <p:cNvPr id="18" name="Rectangle 17"/>
          <p:cNvSpPr/>
          <p:nvPr/>
        </p:nvSpPr>
        <p:spPr>
          <a:xfrm>
            <a:off x="548640" y="4709160"/>
            <a:ext cx="5532120" cy="169164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709160"/>
            <a:ext cx="54864" cy="169164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892040"/>
            <a:ext cx="5074920" cy="365760"/>
          </a:xfrm>
          <a:prstGeom prst="rect">
            <a:avLst/>
          </a:prstGeom>
          <a:noFill/>
        </p:spPr>
        <p:txBody>
          <a:bodyPr wrap="square" lIns="0" rIns="0" tIns="0" bIns="0" anchor="t">
            <a:spAutoFit/>
          </a:bodyPr>
          <a:lstStyle/>
          <a:p>
            <a:pPr algn="l">
              <a:lnSpc>
                <a:spcPct val="115000"/>
              </a:lnSpc>
            </a:pPr>
            <a:r>
              <a:rPr sz="1400" b="1">
                <a:solidFill>
                  <a:srgbClr val="FFFFFF"/>
                </a:solidFill>
                <a:latin typeface="Calibri"/>
              </a:rPr>
              <a:t>Conformité &amp; certification</a:t>
            </a:r>
          </a:p>
        </p:txBody>
      </p:sp>
      <p:sp>
        <p:nvSpPr>
          <p:cNvPr id="21" name="TextBox 20"/>
          <p:cNvSpPr txBox="1"/>
          <p:nvPr/>
        </p:nvSpPr>
        <p:spPr>
          <a:xfrm>
            <a:off x="777240" y="5349240"/>
            <a:ext cx="5074920" cy="914400"/>
          </a:xfrm>
          <a:prstGeom prst="rect">
            <a:avLst/>
          </a:prstGeom>
          <a:noFill/>
        </p:spPr>
        <p:txBody>
          <a:bodyPr wrap="square" lIns="0" rIns="0" tIns="0" bIns="0">
            <a:spAutoFit/>
          </a:bodyPr>
          <a:lstStyle/>
          <a:p>
            <a:pPr algn="l">
              <a:lnSpc>
                <a:spcPct val="135000"/>
              </a:lnSpc>
            </a:pPr>
            <a:r>
              <a:rPr sz="1100" b="0">
                <a:solidFill>
                  <a:srgbClr val="F5F1E8"/>
                </a:solidFill>
                <a:latin typeface="Calibri Light"/>
              </a:rPr>
              <a:t>• Dossier CSPN ANSSI en instruction</a:t>
            </a:r>
          </a:p>
          <a:p>
            <a:pPr algn="l">
              <a:lnSpc>
                <a:spcPct val="135000"/>
              </a:lnSpc>
            </a:pPr>
            <a:r>
              <a:rPr sz="1100" b="0">
                <a:solidFill>
                  <a:srgbClr val="F5F1E8"/>
                </a:solidFill>
                <a:latin typeface="Calibri Light"/>
              </a:rPr>
              <a:t>• Gap analysis FIPS 140-3 réalisée</a:t>
            </a:r>
          </a:p>
          <a:p>
            <a:pPr algn="l">
              <a:lnSpc>
                <a:spcPct val="135000"/>
              </a:lnSpc>
            </a:pPr>
            <a:r>
              <a:rPr sz="1100" b="0">
                <a:solidFill>
                  <a:srgbClr val="F5F1E8"/>
                </a:solidFill>
                <a:latin typeface="Calibri Light"/>
              </a:rPr>
              <a:t>• Roadmap Common Criteria EAL4+ (2027)</a:t>
            </a:r>
          </a:p>
          <a:p>
            <a:pPr algn="l">
              <a:lnSpc>
                <a:spcPct val="135000"/>
              </a:lnSpc>
            </a:pPr>
            <a:r>
              <a:rPr sz="1100" b="0">
                <a:solidFill>
                  <a:srgbClr val="F5F1E8"/>
                </a:solidFill>
                <a:latin typeface="Calibri Light"/>
              </a:rPr>
              <a:t>• Matrice NIS2 / CRA documentée</a:t>
            </a:r>
          </a:p>
        </p:txBody>
      </p:sp>
      <p:sp>
        <p:nvSpPr>
          <p:cNvPr id="22" name="Rectangle 21"/>
          <p:cNvSpPr/>
          <p:nvPr/>
        </p:nvSpPr>
        <p:spPr>
          <a:xfrm>
            <a:off x="6263640" y="4709160"/>
            <a:ext cx="5532120" cy="169164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4709160"/>
            <a:ext cx="54864" cy="169164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4892040"/>
            <a:ext cx="5074920" cy="365760"/>
          </a:xfrm>
          <a:prstGeom prst="rect">
            <a:avLst/>
          </a:prstGeom>
          <a:noFill/>
        </p:spPr>
        <p:txBody>
          <a:bodyPr wrap="square" lIns="0" rIns="0" tIns="0" bIns="0" anchor="t">
            <a:spAutoFit/>
          </a:bodyPr>
          <a:lstStyle/>
          <a:p>
            <a:pPr algn="l">
              <a:lnSpc>
                <a:spcPct val="115000"/>
              </a:lnSpc>
            </a:pPr>
            <a:r>
              <a:rPr sz="1400" b="1">
                <a:solidFill>
                  <a:srgbClr val="FFFFFF"/>
                </a:solidFill>
                <a:latin typeface="Calibri"/>
              </a:rPr>
              <a:t>Souveraineté technique</a:t>
            </a:r>
          </a:p>
        </p:txBody>
      </p:sp>
      <p:sp>
        <p:nvSpPr>
          <p:cNvPr id="25" name="TextBox 24"/>
          <p:cNvSpPr txBox="1"/>
          <p:nvPr/>
        </p:nvSpPr>
        <p:spPr>
          <a:xfrm>
            <a:off x="6492240" y="5349240"/>
            <a:ext cx="5074920" cy="914400"/>
          </a:xfrm>
          <a:prstGeom prst="rect">
            <a:avLst/>
          </a:prstGeom>
          <a:noFill/>
        </p:spPr>
        <p:txBody>
          <a:bodyPr wrap="square" lIns="0" rIns="0" tIns="0" bIns="0">
            <a:spAutoFit/>
          </a:bodyPr>
          <a:lstStyle/>
          <a:p>
            <a:pPr algn="l">
              <a:lnSpc>
                <a:spcPct val="135000"/>
              </a:lnSpc>
            </a:pPr>
            <a:r>
              <a:rPr sz="1100" b="0">
                <a:solidFill>
                  <a:srgbClr val="F5F1E8"/>
                </a:solidFill>
                <a:latin typeface="Calibri Light"/>
              </a:rPr>
              <a:t>• Code source ouvert aux audits clients</a:t>
            </a:r>
          </a:p>
          <a:p>
            <a:pPr algn="l">
              <a:lnSpc>
                <a:spcPct val="135000"/>
              </a:lnSpc>
            </a:pPr>
            <a:r>
              <a:rPr sz="1100" b="0">
                <a:solidFill>
                  <a:srgbClr val="F5F1E8"/>
                </a:solidFill>
                <a:latin typeface="Calibri Light"/>
              </a:rPr>
              <a:t>• Hébergement et support 100% UE</a:t>
            </a:r>
          </a:p>
          <a:p>
            <a:pPr algn="l">
              <a:lnSpc>
                <a:spcPct val="135000"/>
              </a:lnSpc>
            </a:pPr>
            <a:r>
              <a:rPr sz="1100" b="0">
                <a:solidFill>
                  <a:srgbClr val="F5F1E8"/>
                </a:solidFill>
                <a:latin typeface="Calibri Light"/>
              </a:rPr>
              <a:t>• Stack opensource auditable (OP-TEE, OpenSSL, liboqs)</a:t>
            </a:r>
          </a:p>
          <a:p>
            <a:pPr algn="l">
              <a:lnSpc>
                <a:spcPct val="135000"/>
              </a:lnSpc>
            </a:pPr>
            <a:r>
              <a:rPr sz="1100" b="0">
                <a:solidFill>
                  <a:srgbClr val="F5F1E8"/>
                </a:solidFill>
                <a:latin typeface="Calibri Light"/>
              </a:rPr>
              <a:t>• Pas de dépendance ITAR ni CLOUD Act</a:t>
            </a:r>
          </a:p>
        </p:txBody>
      </p:sp>
      <p:sp>
        <p:nvSpPr>
          <p:cNvPr id="26" name="Rectangle 25"/>
          <p:cNvSpPr/>
          <p:nvPr/>
        </p:nvSpPr>
        <p:spPr>
          <a:xfrm>
            <a:off x="0" y="6629400"/>
            <a:ext cx="12191695" cy="2286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6647688"/>
            <a:ext cx="3657600" cy="201168"/>
          </a:xfrm>
          <a:prstGeom prst="rect">
            <a:avLst/>
          </a:prstGeom>
          <a:noFill/>
        </p:spPr>
        <p:txBody>
          <a:bodyPr wrap="square" lIns="0" rIns="0" tIns="0" bIns="0" anchor="t">
            <a:spAutoFit/>
          </a:bodyPr>
          <a:lstStyle/>
          <a:p>
            <a:pPr algn="l">
              <a:lnSpc>
                <a:spcPct val="115000"/>
              </a:lnSpc>
            </a:pPr>
            <a:r>
              <a:rPr sz="900" b="0">
                <a:solidFill>
                  <a:srgbClr val="8A95A8"/>
                </a:solidFill>
                <a:latin typeface="Calibri Light"/>
              </a:rPr>
              <a:t>HESIA — Confidential</a:t>
            </a:r>
          </a:p>
        </p:txBody>
      </p:sp>
      <p:sp>
        <p:nvSpPr>
          <p:cNvPr id="28" name="TextBox 27"/>
          <p:cNvSpPr txBox="1"/>
          <p:nvPr/>
        </p:nvSpPr>
        <p:spPr>
          <a:xfrm>
            <a:off x="4572000" y="6647688"/>
            <a:ext cx="2743200" cy="201168"/>
          </a:xfrm>
          <a:prstGeom prst="rect">
            <a:avLst/>
          </a:prstGeom>
          <a:noFill/>
        </p:spPr>
        <p:txBody>
          <a:bodyPr wrap="square" lIns="0" rIns="0" tIns="0" bIns="0" anchor="t">
            <a:spAutoFit/>
          </a:bodyPr>
          <a:lstStyle/>
          <a:p>
            <a:pPr algn="ctr">
              <a:lnSpc>
                <a:spcPct val="115000"/>
              </a:lnSpc>
            </a:pPr>
            <a:r>
              <a:rPr sz="900" b="0">
                <a:solidFill>
                  <a:srgbClr val="8A95A8"/>
                </a:solidFill>
                <a:latin typeface="Calibri Light"/>
              </a:rPr>
              <a:t>Pitch Investisseurs · 2026</a:t>
            </a:r>
          </a:p>
        </p:txBody>
      </p:sp>
      <p:sp>
        <p:nvSpPr>
          <p:cNvPr id="29" name="TextBox 28"/>
          <p:cNvSpPr txBox="1"/>
          <p:nvPr/>
        </p:nvSpPr>
        <p:spPr>
          <a:xfrm>
            <a:off x="10058400" y="6647688"/>
            <a:ext cx="1828800" cy="201168"/>
          </a:xfrm>
          <a:prstGeom prst="rect">
            <a:avLst/>
          </a:prstGeom>
          <a:noFill/>
        </p:spPr>
        <p:txBody>
          <a:bodyPr wrap="square" lIns="0" rIns="0" tIns="0" bIns="0" anchor="t">
            <a:spAutoFit/>
          </a:bodyPr>
          <a:lstStyle/>
          <a:p>
            <a:pPr algn="r">
              <a:lnSpc>
                <a:spcPct val="115000"/>
              </a:lnSpc>
            </a:pPr>
            <a:r>
              <a:rPr sz="900" b="0">
                <a:solidFill>
                  <a:srgbClr val="8A95A8"/>
                </a:solidFill>
                <a:latin typeface="Calibri Light"/>
              </a:rPr>
              <a:t>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365760" y="274320"/>
            <a:ext cx="411480" cy="411480"/>
          </a:xfrm>
          <a:prstGeom prst="hexagon">
            <a:avLst/>
          </a:prstGeom>
          <a:noFill/>
          <a:ln w="1905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411480" cy="411480"/>
          </a:xfrm>
          <a:prstGeom prst="rect">
            <a:avLst/>
          </a:prstGeom>
          <a:noFill/>
        </p:spPr>
        <p:txBody>
          <a:bodyPr wrap="none" lIns="0" rIns="0" tIns="0" bIns="0" anchor="ctr">
            <a:spAutoFit/>
          </a:bodyPr>
          <a:lstStyle/>
          <a:p>
            <a:pPr algn="ctr"/>
            <a:r>
              <a:rPr b="1" sz="1700">
                <a:solidFill>
                  <a:srgbClr val="D4A017"/>
                </a:solidFill>
                <a:latin typeface="Calibri"/>
              </a:rPr>
              <a:t>H</a:t>
            </a:r>
          </a:p>
        </p:txBody>
      </p:sp>
      <p:sp>
        <p:nvSpPr>
          <p:cNvPr id="5" name="TextBox 4"/>
          <p:cNvSpPr txBox="1"/>
          <p:nvPr/>
        </p:nvSpPr>
        <p:spPr>
          <a:xfrm>
            <a:off x="868680" y="292608"/>
            <a:ext cx="1828800" cy="365760"/>
          </a:xfrm>
          <a:prstGeom prst="rect">
            <a:avLst/>
          </a:prstGeom>
          <a:noFill/>
        </p:spPr>
        <p:txBody>
          <a:bodyPr wrap="square" lIns="0" rIns="0" tIns="0" bIns="0" anchor="t">
            <a:spAutoFit/>
          </a:bodyPr>
          <a:lstStyle/>
          <a:p>
            <a:pPr algn="l">
              <a:lnSpc>
                <a:spcPct val="115000"/>
              </a:lnSpc>
            </a:pPr>
            <a:r>
              <a:rPr sz="1600" b="1">
                <a:solidFill>
                  <a:srgbClr val="FFFFFF"/>
                </a:solidFill>
                <a:latin typeface="Calibri"/>
              </a:rPr>
              <a:t>HESIA</a:t>
            </a:r>
          </a:p>
        </p:txBody>
      </p:sp>
      <p:sp>
        <p:nvSpPr>
          <p:cNvPr id="6" name="TextBox 5"/>
          <p:cNvSpPr txBox="1"/>
          <p:nvPr/>
        </p:nvSpPr>
        <p:spPr>
          <a:xfrm>
            <a:off x="548640" y="868680"/>
            <a:ext cx="7315200" cy="32004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MARCHÉ</a:t>
            </a:r>
          </a:p>
        </p:txBody>
      </p:sp>
      <p:sp>
        <p:nvSpPr>
          <p:cNvPr id="7" name="TextBox 6"/>
          <p:cNvSpPr txBox="1"/>
          <p:nvPr/>
        </p:nvSpPr>
        <p:spPr>
          <a:xfrm>
            <a:off x="548640" y="1188720"/>
            <a:ext cx="10972800" cy="822960"/>
          </a:xfrm>
          <a:prstGeom prst="rect">
            <a:avLst/>
          </a:prstGeom>
          <a:noFill/>
        </p:spPr>
        <p:txBody>
          <a:bodyPr wrap="square" lIns="0" rIns="0" tIns="0" bIns="0" anchor="t">
            <a:spAutoFit/>
          </a:bodyPr>
          <a:lstStyle/>
          <a:p>
            <a:pPr algn="l">
              <a:lnSpc>
                <a:spcPct val="115000"/>
              </a:lnSpc>
            </a:pPr>
            <a:r>
              <a:rPr sz="3200" b="1">
                <a:solidFill>
                  <a:srgbClr val="FFFFFF"/>
                </a:solidFill>
                <a:latin typeface="Calibri"/>
              </a:rPr>
              <a:t>Un marché en expansion, structurellement souverain.</a:t>
            </a:r>
          </a:p>
        </p:txBody>
      </p:sp>
      <p:sp>
        <p:nvSpPr>
          <p:cNvPr id="8" name="Rectangle 7"/>
          <p:cNvSpPr/>
          <p:nvPr/>
        </p:nvSpPr>
        <p:spPr>
          <a:xfrm>
            <a:off x="548640" y="1965960"/>
            <a:ext cx="6400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194560"/>
            <a:ext cx="10972800" cy="457200"/>
          </a:xfrm>
          <a:prstGeom prst="rect">
            <a:avLst/>
          </a:prstGeom>
          <a:noFill/>
        </p:spPr>
        <p:txBody>
          <a:bodyPr wrap="square" lIns="0" rIns="0" tIns="0" bIns="0" anchor="t">
            <a:spAutoFit/>
          </a:bodyPr>
          <a:lstStyle/>
          <a:p>
            <a:pPr algn="l">
              <a:lnSpc>
                <a:spcPct val="115000"/>
              </a:lnSpc>
            </a:pPr>
            <a:r>
              <a:rPr sz="1500" b="0">
                <a:solidFill>
                  <a:srgbClr val="F5F1E8"/>
                </a:solidFill>
                <a:latin typeface="Calibri Light"/>
              </a:rPr>
              <a:t>Sources : Teal Group, PwC, Commission européenne, NIST, ANSSI. Estimations modélisées par HESIA à partir de données publiques.</a:t>
            </a:r>
          </a:p>
        </p:txBody>
      </p:sp>
      <p:sp>
        <p:nvSpPr>
          <p:cNvPr id="10" name="Rectangle 9"/>
          <p:cNvSpPr/>
          <p:nvPr/>
        </p:nvSpPr>
        <p:spPr>
          <a:xfrm>
            <a:off x="548640" y="2926080"/>
            <a:ext cx="3703320" cy="219456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926080"/>
            <a:ext cx="370332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154680"/>
            <a:ext cx="3246120" cy="36576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TAM (Total)</a:t>
            </a:r>
          </a:p>
        </p:txBody>
      </p:sp>
      <p:sp>
        <p:nvSpPr>
          <p:cNvPr id="13" name="TextBox 12"/>
          <p:cNvSpPr txBox="1"/>
          <p:nvPr/>
        </p:nvSpPr>
        <p:spPr>
          <a:xfrm>
            <a:off x="777240" y="3566160"/>
            <a:ext cx="3246120" cy="822960"/>
          </a:xfrm>
          <a:prstGeom prst="rect">
            <a:avLst/>
          </a:prstGeom>
          <a:noFill/>
        </p:spPr>
        <p:txBody>
          <a:bodyPr wrap="square" lIns="0" rIns="0" tIns="0" bIns="0" anchor="t">
            <a:spAutoFit/>
          </a:bodyPr>
          <a:lstStyle/>
          <a:p>
            <a:pPr algn="l">
              <a:lnSpc>
                <a:spcPct val="115000"/>
              </a:lnSpc>
            </a:pPr>
            <a:r>
              <a:rPr sz="3000" b="1">
                <a:solidFill>
                  <a:srgbClr val="FFFFFF"/>
                </a:solidFill>
                <a:latin typeface="Calibri"/>
              </a:rPr>
              <a:t>21 Md$</a:t>
            </a:r>
          </a:p>
        </p:txBody>
      </p:sp>
      <p:sp>
        <p:nvSpPr>
          <p:cNvPr id="14" name="TextBox 13"/>
          <p:cNvSpPr txBox="1"/>
          <p:nvPr/>
        </p:nvSpPr>
        <p:spPr>
          <a:xfrm>
            <a:off x="777240" y="4343400"/>
            <a:ext cx="3246120" cy="640080"/>
          </a:xfrm>
          <a:prstGeom prst="rect">
            <a:avLst/>
          </a:prstGeom>
          <a:noFill/>
        </p:spPr>
        <p:txBody>
          <a:bodyPr wrap="square" lIns="0" rIns="0" tIns="0" bIns="0" anchor="t">
            <a:spAutoFit/>
          </a:bodyPr>
          <a:lstStyle/>
          <a:p>
            <a:pPr algn="l">
              <a:lnSpc>
                <a:spcPct val="130000"/>
              </a:lnSpc>
            </a:pPr>
            <a:r>
              <a:rPr sz="1100" b="0">
                <a:solidFill>
                  <a:srgbClr val="F5F1E8"/>
                </a:solidFill>
                <a:latin typeface="Calibri Light"/>
              </a:rPr>
              <a:t>Drones civils + défense + systèmes embarqués critiques · 2030</a:t>
            </a:r>
          </a:p>
        </p:txBody>
      </p:sp>
      <p:sp>
        <p:nvSpPr>
          <p:cNvPr id="15" name="Rectangle 14"/>
          <p:cNvSpPr/>
          <p:nvPr/>
        </p:nvSpPr>
        <p:spPr>
          <a:xfrm>
            <a:off x="4416552" y="2926080"/>
            <a:ext cx="3703320" cy="219456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16552" y="2926080"/>
            <a:ext cx="370332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5152" y="3154680"/>
            <a:ext cx="3246120" cy="36576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SAM (UE)</a:t>
            </a:r>
          </a:p>
        </p:txBody>
      </p:sp>
      <p:sp>
        <p:nvSpPr>
          <p:cNvPr id="18" name="TextBox 17"/>
          <p:cNvSpPr txBox="1"/>
          <p:nvPr/>
        </p:nvSpPr>
        <p:spPr>
          <a:xfrm>
            <a:off x="4645152" y="3566160"/>
            <a:ext cx="3246120" cy="822960"/>
          </a:xfrm>
          <a:prstGeom prst="rect">
            <a:avLst/>
          </a:prstGeom>
          <a:noFill/>
        </p:spPr>
        <p:txBody>
          <a:bodyPr wrap="square" lIns="0" rIns="0" tIns="0" bIns="0" anchor="t">
            <a:spAutoFit/>
          </a:bodyPr>
          <a:lstStyle/>
          <a:p>
            <a:pPr algn="l">
              <a:lnSpc>
                <a:spcPct val="115000"/>
              </a:lnSpc>
            </a:pPr>
            <a:r>
              <a:rPr sz="3000" b="1">
                <a:solidFill>
                  <a:srgbClr val="FFFFFF"/>
                </a:solidFill>
                <a:latin typeface="Calibri"/>
              </a:rPr>
              <a:t>4,2 Md$</a:t>
            </a:r>
          </a:p>
        </p:txBody>
      </p:sp>
      <p:sp>
        <p:nvSpPr>
          <p:cNvPr id="19" name="TextBox 18"/>
          <p:cNvSpPr txBox="1"/>
          <p:nvPr/>
        </p:nvSpPr>
        <p:spPr>
          <a:xfrm>
            <a:off x="4645152" y="4343400"/>
            <a:ext cx="3246120" cy="640080"/>
          </a:xfrm>
          <a:prstGeom prst="rect">
            <a:avLst/>
          </a:prstGeom>
          <a:noFill/>
        </p:spPr>
        <p:txBody>
          <a:bodyPr wrap="square" lIns="0" rIns="0" tIns="0" bIns="0" anchor="t">
            <a:spAutoFit/>
          </a:bodyPr>
          <a:lstStyle/>
          <a:p>
            <a:pPr algn="l">
              <a:lnSpc>
                <a:spcPct val="130000"/>
              </a:lnSpc>
            </a:pPr>
            <a:r>
              <a:rPr sz="1100" b="0">
                <a:solidFill>
                  <a:srgbClr val="F5F1E8"/>
                </a:solidFill>
                <a:latin typeface="Calibri Light"/>
              </a:rPr>
              <a:t>Drones d'inspection critique + UAS défense souveraine UE · 2028</a:t>
            </a:r>
          </a:p>
        </p:txBody>
      </p:sp>
      <p:sp>
        <p:nvSpPr>
          <p:cNvPr id="20" name="Rectangle 19"/>
          <p:cNvSpPr/>
          <p:nvPr/>
        </p:nvSpPr>
        <p:spPr>
          <a:xfrm>
            <a:off x="8284464" y="2926080"/>
            <a:ext cx="3703320" cy="219456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84464" y="2926080"/>
            <a:ext cx="370332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13064" y="3154680"/>
            <a:ext cx="3246120" cy="36576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SOM (5 ans)</a:t>
            </a:r>
          </a:p>
        </p:txBody>
      </p:sp>
      <p:sp>
        <p:nvSpPr>
          <p:cNvPr id="23" name="TextBox 22"/>
          <p:cNvSpPr txBox="1"/>
          <p:nvPr/>
        </p:nvSpPr>
        <p:spPr>
          <a:xfrm>
            <a:off x="8513064" y="3566160"/>
            <a:ext cx="3246120" cy="822960"/>
          </a:xfrm>
          <a:prstGeom prst="rect">
            <a:avLst/>
          </a:prstGeom>
          <a:noFill/>
        </p:spPr>
        <p:txBody>
          <a:bodyPr wrap="square" lIns="0" rIns="0" tIns="0" bIns="0" anchor="t">
            <a:spAutoFit/>
          </a:bodyPr>
          <a:lstStyle/>
          <a:p>
            <a:pPr algn="l">
              <a:lnSpc>
                <a:spcPct val="115000"/>
              </a:lnSpc>
            </a:pPr>
            <a:r>
              <a:rPr sz="3000" b="1">
                <a:solidFill>
                  <a:srgbClr val="FFFFFF"/>
                </a:solidFill>
                <a:latin typeface="Calibri"/>
              </a:rPr>
              <a:t>5–25 M€ ARR</a:t>
            </a:r>
          </a:p>
        </p:txBody>
      </p:sp>
      <p:sp>
        <p:nvSpPr>
          <p:cNvPr id="24" name="TextBox 23"/>
          <p:cNvSpPr txBox="1"/>
          <p:nvPr/>
        </p:nvSpPr>
        <p:spPr>
          <a:xfrm>
            <a:off x="8513064" y="4343400"/>
            <a:ext cx="3246120" cy="640080"/>
          </a:xfrm>
          <a:prstGeom prst="rect">
            <a:avLst/>
          </a:prstGeom>
          <a:noFill/>
        </p:spPr>
        <p:txBody>
          <a:bodyPr wrap="square" lIns="0" rIns="0" tIns="0" bIns="0" anchor="t">
            <a:spAutoFit/>
          </a:bodyPr>
          <a:lstStyle/>
          <a:p>
            <a:pPr algn="l">
              <a:lnSpc>
                <a:spcPct val="130000"/>
              </a:lnSpc>
            </a:pPr>
            <a:r>
              <a:rPr sz="1100" b="0">
                <a:solidFill>
                  <a:srgbClr val="F5F1E8"/>
                </a:solidFill>
                <a:latin typeface="Calibri Light"/>
              </a:rPr>
              <a:t>Pénétration cible 0,3% du SAM avec offre dual-use civil → défense</a:t>
            </a:r>
          </a:p>
        </p:txBody>
      </p:sp>
      <p:sp>
        <p:nvSpPr>
          <p:cNvPr id="25" name="TextBox 24"/>
          <p:cNvSpPr txBox="1"/>
          <p:nvPr/>
        </p:nvSpPr>
        <p:spPr>
          <a:xfrm>
            <a:off x="548640" y="5349240"/>
            <a:ext cx="10972800" cy="914400"/>
          </a:xfrm>
          <a:prstGeom prst="rect">
            <a:avLst/>
          </a:prstGeom>
          <a:noFill/>
        </p:spPr>
        <p:txBody>
          <a:bodyPr wrap="square" lIns="0" rIns="0" tIns="0" bIns="0" anchor="t">
            <a:spAutoFit/>
          </a:bodyPr>
          <a:lstStyle/>
          <a:p>
            <a:pPr algn="l">
              <a:lnSpc>
                <a:spcPct val="140000"/>
              </a:lnSpc>
            </a:pPr>
            <a:r>
              <a:rPr sz="1000" b="0">
                <a:solidFill>
                  <a:srgbClr val="8A95A8"/>
                </a:solidFill>
                <a:latin typeface="Calibri Light"/>
              </a:rPr>
              <a:t>Note : les chiffres ARR sont une cible commerciale prudente. Le SAM est dérivé de la part européenne du marché global drone d'inspection (Teal Group 2024) plus les programmes UAS souverains EU (EDF / OCCAR / DGA budgets publics).</a:t>
            </a:r>
          </a:p>
        </p:txBody>
      </p:sp>
      <p:sp>
        <p:nvSpPr>
          <p:cNvPr id="26" name="Rectangle 25"/>
          <p:cNvSpPr/>
          <p:nvPr/>
        </p:nvSpPr>
        <p:spPr>
          <a:xfrm>
            <a:off x="0" y="6629400"/>
            <a:ext cx="12191695" cy="2286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6647688"/>
            <a:ext cx="3657600" cy="201168"/>
          </a:xfrm>
          <a:prstGeom prst="rect">
            <a:avLst/>
          </a:prstGeom>
          <a:noFill/>
        </p:spPr>
        <p:txBody>
          <a:bodyPr wrap="square" lIns="0" rIns="0" tIns="0" bIns="0" anchor="t">
            <a:spAutoFit/>
          </a:bodyPr>
          <a:lstStyle/>
          <a:p>
            <a:pPr algn="l">
              <a:lnSpc>
                <a:spcPct val="115000"/>
              </a:lnSpc>
            </a:pPr>
            <a:r>
              <a:rPr sz="900" b="0">
                <a:solidFill>
                  <a:srgbClr val="8A95A8"/>
                </a:solidFill>
                <a:latin typeface="Calibri Light"/>
              </a:rPr>
              <a:t>HESIA — Confidential</a:t>
            </a:r>
          </a:p>
        </p:txBody>
      </p:sp>
      <p:sp>
        <p:nvSpPr>
          <p:cNvPr id="28" name="TextBox 27"/>
          <p:cNvSpPr txBox="1"/>
          <p:nvPr/>
        </p:nvSpPr>
        <p:spPr>
          <a:xfrm>
            <a:off x="4572000" y="6647688"/>
            <a:ext cx="2743200" cy="201168"/>
          </a:xfrm>
          <a:prstGeom prst="rect">
            <a:avLst/>
          </a:prstGeom>
          <a:noFill/>
        </p:spPr>
        <p:txBody>
          <a:bodyPr wrap="square" lIns="0" rIns="0" tIns="0" bIns="0" anchor="t">
            <a:spAutoFit/>
          </a:bodyPr>
          <a:lstStyle/>
          <a:p>
            <a:pPr algn="ctr">
              <a:lnSpc>
                <a:spcPct val="115000"/>
              </a:lnSpc>
            </a:pPr>
            <a:r>
              <a:rPr sz="900" b="0">
                <a:solidFill>
                  <a:srgbClr val="8A95A8"/>
                </a:solidFill>
                <a:latin typeface="Calibri Light"/>
              </a:rPr>
              <a:t>Pitch Investisseurs · 2026</a:t>
            </a:r>
          </a:p>
        </p:txBody>
      </p:sp>
      <p:sp>
        <p:nvSpPr>
          <p:cNvPr id="29" name="TextBox 28"/>
          <p:cNvSpPr txBox="1"/>
          <p:nvPr/>
        </p:nvSpPr>
        <p:spPr>
          <a:xfrm>
            <a:off x="10058400" y="6647688"/>
            <a:ext cx="1828800" cy="201168"/>
          </a:xfrm>
          <a:prstGeom prst="rect">
            <a:avLst/>
          </a:prstGeom>
          <a:noFill/>
        </p:spPr>
        <p:txBody>
          <a:bodyPr wrap="square" lIns="0" rIns="0" tIns="0" bIns="0" anchor="t">
            <a:spAutoFit/>
          </a:bodyPr>
          <a:lstStyle/>
          <a:p>
            <a:pPr algn="r">
              <a:lnSpc>
                <a:spcPct val="115000"/>
              </a:lnSpc>
            </a:pPr>
            <a:r>
              <a:rPr sz="900" b="0">
                <a:solidFill>
                  <a:srgbClr val="8A95A8"/>
                </a:solidFill>
                <a:latin typeface="Calibri Light"/>
              </a:rPr>
              <a:t>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365760" y="274320"/>
            <a:ext cx="411480" cy="411480"/>
          </a:xfrm>
          <a:prstGeom prst="hexagon">
            <a:avLst/>
          </a:prstGeom>
          <a:noFill/>
          <a:ln w="1905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411480" cy="411480"/>
          </a:xfrm>
          <a:prstGeom prst="rect">
            <a:avLst/>
          </a:prstGeom>
          <a:noFill/>
        </p:spPr>
        <p:txBody>
          <a:bodyPr wrap="none" lIns="0" rIns="0" tIns="0" bIns="0" anchor="ctr">
            <a:spAutoFit/>
          </a:bodyPr>
          <a:lstStyle/>
          <a:p>
            <a:pPr algn="ctr"/>
            <a:r>
              <a:rPr b="1" sz="1700">
                <a:solidFill>
                  <a:srgbClr val="D4A017"/>
                </a:solidFill>
                <a:latin typeface="Calibri"/>
              </a:rPr>
              <a:t>H</a:t>
            </a:r>
          </a:p>
        </p:txBody>
      </p:sp>
      <p:sp>
        <p:nvSpPr>
          <p:cNvPr id="5" name="TextBox 4"/>
          <p:cNvSpPr txBox="1"/>
          <p:nvPr/>
        </p:nvSpPr>
        <p:spPr>
          <a:xfrm>
            <a:off x="868680" y="292608"/>
            <a:ext cx="1828800" cy="365760"/>
          </a:xfrm>
          <a:prstGeom prst="rect">
            <a:avLst/>
          </a:prstGeom>
          <a:noFill/>
        </p:spPr>
        <p:txBody>
          <a:bodyPr wrap="square" lIns="0" rIns="0" tIns="0" bIns="0" anchor="t">
            <a:spAutoFit/>
          </a:bodyPr>
          <a:lstStyle/>
          <a:p>
            <a:pPr algn="l">
              <a:lnSpc>
                <a:spcPct val="115000"/>
              </a:lnSpc>
            </a:pPr>
            <a:r>
              <a:rPr sz="1600" b="1">
                <a:solidFill>
                  <a:srgbClr val="FFFFFF"/>
                </a:solidFill>
                <a:latin typeface="Calibri"/>
              </a:rPr>
              <a:t>HESIA</a:t>
            </a:r>
          </a:p>
        </p:txBody>
      </p:sp>
      <p:sp>
        <p:nvSpPr>
          <p:cNvPr id="6" name="TextBox 5"/>
          <p:cNvSpPr txBox="1"/>
          <p:nvPr/>
        </p:nvSpPr>
        <p:spPr>
          <a:xfrm>
            <a:off x="548640" y="868680"/>
            <a:ext cx="7315200" cy="32004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GO-TO-MARKET</a:t>
            </a:r>
          </a:p>
        </p:txBody>
      </p:sp>
      <p:sp>
        <p:nvSpPr>
          <p:cNvPr id="7" name="TextBox 6"/>
          <p:cNvSpPr txBox="1"/>
          <p:nvPr/>
        </p:nvSpPr>
        <p:spPr>
          <a:xfrm>
            <a:off x="548640" y="1188720"/>
            <a:ext cx="10972800" cy="822960"/>
          </a:xfrm>
          <a:prstGeom prst="rect">
            <a:avLst/>
          </a:prstGeom>
          <a:noFill/>
        </p:spPr>
        <p:txBody>
          <a:bodyPr wrap="square" lIns="0" rIns="0" tIns="0" bIns="0" anchor="t">
            <a:spAutoFit/>
          </a:bodyPr>
          <a:lstStyle/>
          <a:p>
            <a:pPr algn="l">
              <a:lnSpc>
                <a:spcPct val="115000"/>
              </a:lnSpc>
            </a:pPr>
            <a:r>
              <a:rPr sz="3200" b="1">
                <a:solidFill>
                  <a:srgbClr val="FFFFFF"/>
                </a:solidFill>
                <a:latin typeface="Calibri"/>
              </a:rPr>
              <a:t>Civil first, défense ensuite — séquence assumée.</a:t>
            </a:r>
          </a:p>
        </p:txBody>
      </p:sp>
      <p:sp>
        <p:nvSpPr>
          <p:cNvPr id="8" name="Rectangle 7"/>
          <p:cNvSpPr/>
          <p:nvPr/>
        </p:nvSpPr>
        <p:spPr>
          <a:xfrm>
            <a:off x="548640" y="1965960"/>
            <a:ext cx="6400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468880"/>
            <a:ext cx="5532120" cy="365760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468880"/>
            <a:ext cx="553212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06040"/>
            <a:ext cx="4983480" cy="320040"/>
          </a:xfrm>
          <a:prstGeom prst="rect">
            <a:avLst/>
          </a:prstGeom>
          <a:noFill/>
        </p:spPr>
        <p:txBody>
          <a:bodyPr wrap="square" lIns="0" rIns="0" tIns="0" bIns="0" anchor="t">
            <a:spAutoFit/>
          </a:bodyPr>
          <a:lstStyle/>
          <a:p>
            <a:pPr algn="l">
              <a:lnSpc>
                <a:spcPct val="115000"/>
              </a:lnSpc>
            </a:pPr>
            <a:r>
              <a:rPr sz="1100" b="1">
                <a:solidFill>
                  <a:srgbClr val="D4A017"/>
                </a:solidFill>
                <a:latin typeface="Calibri"/>
              </a:rPr>
              <a:t>PHASE 1 · T+0 à T+18 MOIS</a:t>
            </a:r>
          </a:p>
        </p:txBody>
      </p:sp>
      <p:sp>
        <p:nvSpPr>
          <p:cNvPr id="12" name="TextBox 11"/>
          <p:cNvSpPr txBox="1"/>
          <p:nvPr/>
        </p:nvSpPr>
        <p:spPr>
          <a:xfrm>
            <a:off x="822960" y="2926080"/>
            <a:ext cx="4983480" cy="457200"/>
          </a:xfrm>
          <a:prstGeom prst="rect">
            <a:avLst/>
          </a:prstGeom>
          <a:noFill/>
        </p:spPr>
        <p:txBody>
          <a:bodyPr wrap="square" lIns="0" rIns="0" tIns="0" bIns="0" anchor="t">
            <a:spAutoFit/>
          </a:bodyPr>
          <a:lstStyle/>
          <a:p>
            <a:pPr algn="l">
              <a:lnSpc>
                <a:spcPct val="115000"/>
              </a:lnSpc>
            </a:pPr>
            <a:r>
              <a:rPr sz="2000" b="1">
                <a:solidFill>
                  <a:srgbClr val="FFFFFF"/>
                </a:solidFill>
                <a:latin typeface="Calibri"/>
              </a:rPr>
              <a:t>Dual-use civil</a:t>
            </a:r>
          </a:p>
        </p:txBody>
      </p:sp>
      <p:sp>
        <p:nvSpPr>
          <p:cNvPr id="13" name="TextBox 12"/>
          <p:cNvSpPr txBox="1"/>
          <p:nvPr/>
        </p:nvSpPr>
        <p:spPr>
          <a:xfrm>
            <a:off x="822960" y="3429000"/>
            <a:ext cx="4983480" cy="457200"/>
          </a:xfrm>
          <a:prstGeom prst="rect">
            <a:avLst/>
          </a:prstGeom>
          <a:noFill/>
        </p:spPr>
        <p:txBody>
          <a:bodyPr wrap="square" lIns="0" rIns="0" tIns="0" bIns="0" anchor="t">
            <a:spAutoFit/>
          </a:bodyPr>
          <a:lstStyle/>
          <a:p>
            <a:pPr algn="l">
              <a:lnSpc>
                <a:spcPct val="125000"/>
              </a:lnSpc>
            </a:pPr>
            <a:r>
              <a:rPr sz="1200" b="0">
                <a:solidFill>
                  <a:srgbClr val="F5F1E8"/>
                </a:solidFill>
                <a:latin typeface="Calibri Light"/>
              </a:rPr>
              <a:t>Inspection industrielle + infrastructures critiques</a:t>
            </a:r>
          </a:p>
        </p:txBody>
      </p:sp>
      <p:sp>
        <p:nvSpPr>
          <p:cNvPr id="14" name="TextBox 13"/>
          <p:cNvSpPr txBox="1"/>
          <p:nvPr/>
        </p:nvSpPr>
        <p:spPr>
          <a:xfrm>
            <a:off x="822960" y="4206240"/>
            <a:ext cx="4983480" cy="1828800"/>
          </a:xfrm>
          <a:prstGeom prst="rect">
            <a:avLst/>
          </a:prstGeom>
          <a:noFill/>
        </p:spPr>
        <p:txBody>
          <a:bodyPr wrap="square" lIns="0" rIns="0" tIns="0" bIns="0">
            <a:spAutoFit/>
          </a:bodyPr>
          <a:lstStyle/>
          <a:p>
            <a:pPr algn="l">
              <a:lnSpc>
                <a:spcPct val="140000"/>
              </a:lnSpc>
            </a:pPr>
            <a:r>
              <a:rPr sz="1100" b="0">
                <a:solidFill>
                  <a:srgbClr val="F5F1E8"/>
                </a:solidFill>
                <a:latin typeface="Calibri Light"/>
              </a:rPr>
              <a:t>  Cibles : opérateurs énergie, transport, télécoms</a:t>
            </a:r>
          </a:p>
          <a:p>
            <a:pPr algn="l">
              <a:lnSpc>
                <a:spcPct val="140000"/>
              </a:lnSpc>
            </a:pPr>
            <a:r>
              <a:rPr sz="1100" b="0">
                <a:solidFill>
                  <a:srgbClr val="F5F1E8"/>
                </a:solidFill>
                <a:latin typeface="Calibri Light"/>
              </a:rPr>
              <a:t>  Cycle : 6-12 mois, ticket 50-200k€</a:t>
            </a:r>
          </a:p>
          <a:p>
            <a:pPr algn="l">
              <a:lnSpc>
                <a:spcPct val="140000"/>
              </a:lnSpc>
            </a:pPr>
            <a:r>
              <a:rPr sz="1100" b="0">
                <a:solidFill>
                  <a:srgbClr val="F5F1E8"/>
                </a:solidFill>
                <a:latin typeface="Calibri Light"/>
              </a:rPr>
              <a:t>  Effet : track record + crédibilité technique</a:t>
            </a:r>
          </a:p>
          <a:p>
            <a:pPr algn="l">
              <a:lnSpc>
                <a:spcPct val="140000"/>
              </a:lnSpc>
            </a:pPr>
            <a:r>
              <a:rPr sz="1100" b="0">
                <a:solidFill>
                  <a:srgbClr val="F5F1E8"/>
                </a:solidFill>
                <a:latin typeface="Calibri Light"/>
              </a:rPr>
              <a:t>  Levier : NIS2 / CRA force la décision</a:t>
            </a:r>
          </a:p>
          <a:p>
            <a:pPr algn="l">
              <a:lnSpc>
                <a:spcPct val="140000"/>
              </a:lnSpc>
            </a:pPr>
            <a:r>
              <a:rPr sz="1100" b="0">
                <a:solidFill>
                  <a:srgbClr val="F5F1E8"/>
                </a:solidFill>
                <a:latin typeface="Calibri Light"/>
              </a:rPr>
              <a:t>  Output : 5-10 clients pilotes UE</a:t>
            </a:r>
          </a:p>
        </p:txBody>
      </p:sp>
      <p:sp>
        <p:nvSpPr>
          <p:cNvPr id="15" name="Rectangle 14"/>
          <p:cNvSpPr/>
          <p:nvPr/>
        </p:nvSpPr>
        <p:spPr>
          <a:xfrm>
            <a:off x="6263640" y="2468880"/>
            <a:ext cx="5532120" cy="365760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2468880"/>
            <a:ext cx="553212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60" y="2606040"/>
            <a:ext cx="4983480" cy="320040"/>
          </a:xfrm>
          <a:prstGeom prst="rect">
            <a:avLst/>
          </a:prstGeom>
          <a:noFill/>
        </p:spPr>
        <p:txBody>
          <a:bodyPr wrap="square" lIns="0" rIns="0" tIns="0" bIns="0" anchor="t">
            <a:spAutoFit/>
          </a:bodyPr>
          <a:lstStyle/>
          <a:p>
            <a:pPr algn="l">
              <a:lnSpc>
                <a:spcPct val="115000"/>
              </a:lnSpc>
            </a:pPr>
            <a:r>
              <a:rPr sz="1100" b="1">
                <a:solidFill>
                  <a:srgbClr val="D4A017"/>
                </a:solidFill>
                <a:latin typeface="Calibri"/>
              </a:rPr>
              <a:t>PHASE 2 · T+18 à T+36 MOIS</a:t>
            </a:r>
          </a:p>
        </p:txBody>
      </p:sp>
      <p:sp>
        <p:nvSpPr>
          <p:cNvPr id="18" name="TextBox 17"/>
          <p:cNvSpPr txBox="1"/>
          <p:nvPr/>
        </p:nvSpPr>
        <p:spPr>
          <a:xfrm>
            <a:off x="6537960" y="2926080"/>
            <a:ext cx="4983480" cy="457200"/>
          </a:xfrm>
          <a:prstGeom prst="rect">
            <a:avLst/>
          </a:prstGeom>
          <a:noFill/>
        </p:spPr>
        <p:txBody>
          <a:bodyPr wrap="square" lIns="0" rIns="0" tIns="0" bIns="0" anchor="t">
            <a:spAutoFit/>
          </a:bodyPr>
          <a:lstStyle/>
          <a:p>
            <a:pPr algn="l">
              <a:lnSpc>
                <a:spcPct val="115000"/>
              </a:lnSpc>
            </a:pPr>
            <a:r>
              <a:rPr sz="2000" b="1">
                <a:solidFill>
                  <a:srgbClr val="FFFFFF"/>
                </a:solidFill>
                <a:latin typeface="Calibri"/>
              </a:rPr>
              <a:t>Défense souveraine</a:t>
            </a:r>
          </a:p>
        </p:txBody>
      </p:sp>
      <p:sp>
        <p:nvSpPr>
          <p:cNvPr id="19" name="TextBox 18"/>
          <p:cNvSpPr txBox="1"/>
          <p:nvPr/>
        </p:nvSpPr>
        <p:spPr>
          <a:xfrm>
            <a:off x="6537960" y="3429000"/>
            <a:ext cx="4983480" cy="457200"/>
          </a:xfrm>
          <a:prstGeom prst="rect">
            <a:avLst/>
          </a:prstGeom>
          <a:noFill/>
        </p:spPr>
        <p:txBody>
          <a:bodyPr wrap="square" lIns="0" rIns="0" tIns="0" bIns="0" anchor="t">
            <a:spAutoFit/>
          </a:bodyPr>
          <a:lstStyle/>
          <a:p>
            <a:pPr algn="l">
              <a:lnSpc>
                <a:spcPct val="125000"/>
              </a:lnSpc>
            </a:pPr>
            <a:r>
              <a:rPr sz="1200" b="0">
                <a:solidFill>
                  <a:srgbClr val="F5F1E8"/>
                </a:solidFill>
                <a:latin typeface="Calibri Light"/>
              </a:rPr>
              <a:t>Forces armées + primes + intégrateurs</a:t>
            </a:r>
          </a:p>
        </p:txBody>
      </p:sp>
      <p:sp>
        <p:nvSpPr>
          <p:cNvPr id="20" name="TextBox 19"/>
          <p:cNvSpPr txBox="1"/>
          <p:nvPr/>
        </p:nvSpPr>
        <p:spPr>
          <a:xfrm>
            <a:off x="6537960" y="4206240"/>
            <a:ext cx="4983480" cy="1828800"/>
          </a:xfrm>
          <a:prstGeom prst="rect">
            <a:avLst/>
          </a:prstGeom>
          <a:noFill/>
        </p:spPr>
        <p:txBody>
          <a:bodyPr wrap="square" lIns="0" rIns="0" tIns="0" bIns="0">
            <a:spAutoFit/>
          </a:bodyPr>
          <a:lstStyle/>
          <a:p>
            <a:pPr algn="l">
              <a:lnSpc>
                <a:spcPct val="140000"/>
              </a:lnSpc>
            </a:pPr>
            <a:r>
              <a:rPr sz="1100" b="0">
                <a:solidFill>
                  <a:srgbClr val="F5F1E8"/>
                </a:solidFill>
                <a:latin typeface="Calibri Light"/>
              </a:rPr>
              <a:t>  Cibles : DGA, OCCAR, primes EU (Thales, Airbus DS)</a:t>
            </a:r>
          </a:p>
          <a:p>
            <a:pPr algn="l">
              <a:lnSpc>
                <a:spcPct val="140000"/>
              </a:lnSpc>
            </a:pPr>
            <a:r>
              <a:rPr sz="1100" b="0">
                <a:solidFill>
                  <a:srgbClr val="F5F1E8"/>
                </a:solidFill>
                <a:latin typeface="Calibri Light"/>
              </a:rPr>
              <a:t>  Cycle : 12-24 mois, ticket 200-500k€</a:t>
            </a:r>
          </a:p>
          <a:p>
            <a:pPr algn="l">
              <a:lnSpc>
                <a:spcPct val="140000"/>
              </a:lnSpc>
            </a:pPr>
            <a:r>
              <a:rPr sz="1100" b="0">
                <a:solidFill>
                  <a:srgbClr val="F5F1E8"/>
                </a:solidFill>
                <a:latin typeface="Calibri Light"/>
              </a:rPr>
              <a:t>  Effet : marges supérieures, contrats pluriannuels</a:t>
            </a:r>
          </a:p>
          <a:p>
            <a:pPr algn="l">
              <a:lnSpc>
                <a:spcPct val="140000"/>
              </a:lnSpc>
            </a:pPr>
            <a:r>
              <a:rPr sz="1100" b="0">
                <a:solidFill>
                  <a:srgbClr val="F5F1E8"/>
                </a:solidFill>
                <a:latin typeface="Calibri Light"/>
              </a:rPr>
              <a:t>  Levier : track record civil + certifications acquises</a:t>
            </a:r>
          </a:p>
          <a:p>
            <a:pPr algn="l">
              <a:lnSpc>
                <a:spcPct val="140000"/>
              </a:lnSpc>
            </a:pPr>
            <a:r>
              <a:rPr sz="1100" b="0">
                <a:solidFill>
                  <a:srgbClr val="F5F1E8"/>
                </a:solidFill>
                <a:latin typeface="Calibri Light"/>
              </a:rPr>
              <a:t>  Output : 3-6 contrats défense UE</a:t>
            </a:r>
          </a:p>
        </p:txBody>
      </p:sp>
      <p:sp>
        <p:nvSpPr>
          <p:cNvPr id="21" name="Rectangle 20"/>
          <p:cNvSpPr/>
          <p:nvPr/>
        </p:nvSpPr>
        <p:spPr>
          <a:xfrm>
            <a:off x="0" y="6629400"/>
            <a:ext cx="12191695" cy="2286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6647688"/>
            <a:ext cx="3657600" cy="201168"/>
          </a:xfrm>
          <a:prstGeom prst="rect">
            <a:avLst/>
          </a:prstGeom>
          <a:noFill/>
        </p:spPr>
        <p:txBody>
          <a:bodyPr wrap="square" lIns="0" rIns="0" tIns="0" bIns="0" anchor="t">
            <a:spAutoFit/>
          </a:bodyPr>
          <a:lstStyle/>
          <a:p>
            <a:pPr algn="l">
              <a:lnSpc>
                <a:spcPct val="115000"/>
              </a:lnSpc>
            </a:pPr>
            <a:r>
              <a:rPr sz="900" b="0">
                <a:solidFill>
                  <a:srgbClr val="8A95A8"/>
                </a:solidFill>
                <a:latin typeface="Calibri Light"/>
              </a:rPr>
              <a:t>HESIA — Confidential</a:t>
            </a:r>
          </a:p>
        </p:txBody>
      </p:sp>
      <p:sp>
        <p:nvSpPr>
          <p:cNvPr id="23" name="TextBox 22"/>
          <p:cNvSpPr txBox="1"/>
          <p:nvPr/>
        </p:nvSpPr>
        <p:spPr>
          <a:xfrm>
            <a:off x="4572000" y="6647688"/>
            <a:ext cx="2743200" cy="201168"/>
          </a:xfrm>
          <a:prstGeom prst="rect">
            <a:avLst/>
          </a:prstGeom>
          <a:noFill/>
        </p:spPr>
        <p:txBody>
          <a:bodyPr wrap="square" lIns="0" rIns="0" tIns="0" bIns="0" anchor="t">
            <a:spAutoFit/>
          </a:bodyPr>
          <a:lstStyle/>
          <a:p>
            <a:pPr algn="ctr">
              <a:lnSpc>
                <a:spcPct val="115000"/>
              </a:lnSpc>
            </a:pPr>
            <a:r>
              <a:rPr sz="900" b="0">
                <a:solidFill>
                  <a:srgbClr val="8A95A8"/>
                </a:solidFill>
                <a:latin typeface="Calibri Light"/>
              </a:rPr>
              <a:t>Pitch Investisseurs · 2026</a:t>
            </a:r>
          </a:p>
        </p:txBody>
      </p:sp>
      <p:sp>
        <p:nvSpPr>
          <p:cNvPr id="24" name="TextBox 23"/>
          <p:cNvSpPr txBox="1"/>
          <p:nvPr/>
        </p:nvSpPr>
        <p:spPr>
          <a:xfrm>
            <a:off x="10058400" y="6647688"/>
            <a:ext cx="1828800" cy="201168"/>
          </a:xfrm>
          <a:prstGeom prst="rect">
            <a:avLst/>
          </a:prstGeom>
          <a:noFill/>
        </p:spPr>
        <p:txBody>
          <a:bodyPr wrap="square" lIns="0" rIns="0" tIns="0" bIns="0" anchor="t">
            <a:spAutoFit/>
          </a:bodyPr>
          <a:lstStyle/>
          <a:p>
            <a:pPr algn="r">
              <a:lnSpc>
                <a:spcPct val="115000"/>
              </a:lnSpc>
            </a:pPr>
            <a:r>
              <a:rPr sz="900" b="0">
                <a:solidFill>
                  <a:srgbClr val="8A95A8"/>
                </a:solidFill>
                <a:latin typeface="Calibri Light"/>
              </a:rPr>
              <a:t>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365760" y="274320"/>
            <a:ext cx="411480" cy="411480"/>
          </a:xfrm>
          <a:prstGeom prst="hexagon">
            <a:avLst/>
          </a:prstGeom>
          <a:noFill/>
          <a:ln w="1905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411480" cy="411480"/>
          </a:xfrm>
          <a:prstGeom prst="rect">
            <a:avLst/>
          </a:prstGeom>
          <a:noFill/>
        </p:spPr>
        <p:txBody>
          <a:bodyPr wrap="none" lIns="0" rIns="0" tIns="0" bIns="0" anchor="ctr">
            <a:spAutoFit/>
          </a:bodyPr>
          <a:lstStyle/>
          <a:p>
            <a:pPr algn="ctr"/>
            <a:r>
              <a:rPr b="1" sz="1700">
                <a:solidFill>
                  <a:srgbClr val="D4A017"/>
                </a:solidFill>
                <a:latin typeface="Calibri"/>
              </a:rPr>
              <a:t>H</a:t>
            </a:r>
          </a:p>
        </p:txBody>
      </p:sp>
      <p:sp>
        <p:nvSpPr>
          <p:cNvPr id="5" name="TextBox 4"/>
          <p:cNvSpPr txBox="1"/>
          <p:nvPr/>
        </p:nvSpPr>
        <p:spPr>
          <a:xfrm>
            <a:off x="868680" y="292608"/>
            <a:ext cx="1828800" cy="365760"/>
          </a:xfrm>
          <a:prstGeom prst="rect">
            <a:avLst/>
          </a:prstGeom>
          <a:noFill/>
        </p:spPr>
        <p:txBody>
          <a:bodyPr wrap="square" lIns="0" rIns="0" tIns="0" bIns="0" anchor="t">
            <a:spAutoFit/>
          </a:bodyPr>
          <a:lstStyle/>
          <a:p>
            <a:pPr algn="l">
              <a:lnSpc>
                <a:spcPct val="115000"/>
              </a:lnSpc>
            </a:pPr>
            <a:r>
              <a:rPr sz="1600" b="1">
                <a:solidFill>
                  <a:srgbClr val="FFFFFF"/>
                </a:solidFill>
                <a:latin typeface="Calibri"/>
              </a:rPr>
              <a:t>HESIA</a:t>
            </a:r>
          </a:p>
        </p:txBody>
      </p:sp>
      <p:sp>
        <p:nvSpPr>
          <p:cNvPr id="6" name="TextBox 5"/>
          <p:cNvSpPr txBox="1"/>
          <p:nvPr/>
        </p:nvSpPr>
        <p:spPr>
          <a:xfrm>
            <a:off x="548640" y="868680"/>
            <a:ext cx="7315200" cy="32004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BUSINESS MODEL</a:t>
            </a:r>
          </a:p>
        </p:txBody>
      </p:sp>
      <p:sp>
        <p:nvSpPr>
          <p:cNvPr id="7" name="TextBox 6"/>
          <p:cNvSpPr txBox="1"/>
          <p:nvPr/>
        </p:nvSpPr>
        <p:spPr>
          <a:xfrm>
            <a:off x="548640" y="1188720"/>
            <a:ext cx="10972800" cy="822960"/>
          </a:xfrm>
          <a:prstGeom prst="rect">
            <a:avLst/>
          </a:prstGeom>
          <a:noFill/>
        </p:spPr>
        <p:txBody>
          <a:bodyPr wrap="square" lIns="0" rIns="0" tIns="0" bIns="0" anchor="t">
            <a:spAutoFit/>
          </a:bodyPr>
          <a:lstStyle/>
          <a:p>
            <a:pPr algn="l">
              <a:lnSpc>
                <a:spcPct val="115000"/>
              </a:lnSpc>
            </a:pPr>
            <a:r>
              <a:rPr sz="3200" b="1">
                <a:solidFill>
                  <a:srgbClr val="FFFFFF"/>
                </a:solidFill>
                <a:latin typeface="Calibri"/>
              </a:rPr>
              <a:t>Licence SaaS embarquée + services — récurrent à 80%.</a:t>
            </a:r>
          </a:p>
        </p:txBody>
      </p:sp>
      <p:sp>
        <p:nvSpPr>
          <p:cNvPr id="8" name="Rectangle 7"/>
          <p:cNvSpPr/>
          <p:nvPr/>
        </p:nvSpPr>
        <p:spPr>
          <a:xfrm>
            <a:off x="548640" y="1965960"/>
            <a:ext cx="6400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194560"/>
            <a:ext cx="6400800" cy="411480"/>
          </a:xfrm>
          <a:prstGeom prst="rect">
            <a:avLst/>
          </a:prstGeom>
          <a:noFill/>
        </p:spPr>
        <p:txBody>
          <a:bodyPr wrap="square" lIns="0" rIns="0" tIns="0" bIns="0" anchor="t">
            <a:spAutoFit/>
          </a:bodyPr>
          <a:lstStyle/>
          <a:p>
            <a:pPr algn="l">
              <a:lnSpc>
                <a:spcPct val="115000"/>
              </a:lnSpc>
            </a:pPr>
            <a:r>
              <a:rPr sz="1400" b="1">
                <a:solidFill>
                  <a:srgbClr val="D4A017"/>
                </a:solidFill>
                <a:latin typeface="Calibri"/>
              </a:rPr>
              <a:t>Tarification catalogue</a:t>
            </a:r>
          </a:p>
        </p:txBody>
      </p:sp>
      <p:sp>
        <p:nvSpPr>
          <p:cNvPr id="10" name="Rectangle 9"/>
          <p:cNvSpPr/>
          <p:nvPr/>
        </p:nvSpPr>
        <p:spPr>
          <a:xfrm>
            <a:off x="548640" y="2606040"/>
            <a:ext cx="6492240" cy="36576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679192"/>
            <a:ext cx="2011680" cy="274320"/>
          </a:xfrm>
          <a:prstGeom prst="rect">
            <a:avLst/>
          </a:prstGeom>
          <a:noFill/>
        </p:spPr>
        <p:txBody>
          <a:bodyPr wrap="square" lIns="0" rIns="0" tIns="0" bIns="0" anchor="t">
            <a:spAutoFit/>
          </a:bodyPr>
          <a:lstStyle/>
          <a:p>
            <a:pPr algn="l">
              <a:lnSpc>
                <a:spcPct val="115000"/>
              </a:lnSpc>
            </a:pPr>
            <a:r>
              <a:rPr sz="1100" b="1">
                <a:solidFill>
                  <a:srgbClr val="D4A017"/>
                </a:solidFill>
                <a:latin typeface="Calibri"/>
              </a:rPr>
              <a:t>Offre</a:t>
            </a:r>
          </a:p>
        </p:txBody>
      </p:sp>
      <p:sp>
        <p:nvSpPr>
          <p:cNvPr id="12" name="TextBox 11"/>
          <p:cNvSpPr txBox="1"/>
          <p:nvPr/>
        </p:nvSpPr>
        <p:spPr>
          <a:xfrm>
            <a:off x="2880360" y="2679192"/>
            <a:ext cx="1645920" cy="274320"/>
          </a:xfrm>
          <a:prstGeom prst="rect">
            <a:avLst/>
          </a:prstGeom>
          <a:noFill/>
        </p:spPr>
        <p:txBody>
          <a:bodyPr wrap="square" lIns="0" rIns="0" tIns="0" bIns="0" anchor="t">
            <a:spAutoFit/>
          </a:bodyPr>
          <a:lstStyle/>
          <a:p>
            <a:pPr algn="l">
              <a:lnSpc>
                <a:spcPct val="115000"/>
              </a:lnSpc>
            </a:pPr>
            <a:r>
              <a:rPr sz="1100" b="1">
                <a:solidFill>
                  <a:srgbClr val="D4A017"/>
                </a:solidFill>
                <a:latin typeface="Calibri"/>
              </a:rPr>
              <a:t>Tarif</a:t>
            </a:r>
          </a:p>
        </p:txBody>
      </p:sp>
      <p:sp>
        <p:nvSpPr>
          <p:cNvPr id="13" name="TextBox 12"/>
          <p:cNvSpPr txBox="1"/>
          <p:nvPr/>
        </p:nvSpPr>
        <p:spPr>
          <a:xfrm>
            <a:off x="4709160" y="2679192"/>
            <a:ext cx="2286000" cy="274320"/>
          </a:xfrm>
          <a:prstGeom prst="rect">
            <a:avLst/>
          </a:prstGeom>
          <a:noFill/>
        </p:spPr>
        <p:txBody>
          <a:bodyPr wrap="square" lIns="0" rIns="0" tIns="0" bIns="0" anchor="t">
            <a:spAutoFit/>
          </a:bodyPr>
          <a:lstStyle/>
          <a:p>
            <a:pPr algn="l">
              <a:lnSpc>
                <a:spcPct val="115000"/>
              </a:lnSpc>
            </a:pPr>
            <a:r>
              <a:rPr sz="1100" b="1">
                <a:solidFill>
                  <a:srgbClr val="D4A017"/>
                </a:solidFill>
                <a:latin typeface="Calibri"/>
              </a:rPr>
              <a:t>Métrique</a:t>
            </a:r>
          </a:p>
        </p:txBody>
      </p:sp>
      <p:sp>
        <p:nvSpPr>
          <p:cNvPr id="14" name="Rectangle 13"/>
          <p:cNvSpPr/>
          <p:nvPr/>
        </p:nvSpPr>
        <p:spPr>
          <a:xfrm>
            <a:off x="548640" y="2971800"/>
            <a:ext cx="6492240" cy="36576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063240"/>
            <a:ext cx="201168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Light"/>
              </a:rPr>
              <a:t>HESIA Core</a:t>
            </a:r>
          </a:p>
        </p:txBody>
      </p:sp>
      <p:sp>
        <p:nvSpPr>
          <p:cNvPr id="16" name="TextBox 15"/>
          <p:cNvSpPr txBox="1"/>
          <p:nvPr/>
        </p:nvSpPr>
        <p:spPr>
          <a:xfrm>
            <a:off x="2880360" y="3063240"/>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2 500 €</a:t>
            </a:r>
          </a:p>
        </p:txBody>
      </p:sp>
      <p:sp>
        <p:nvSpPr>
          <p:cNvPr id="17" name="TextBox 16"/>
          <p:cNvSpPr txBox="1"/>
          <p:nvPr/>
        </p:nvSpPr>
        <p:spPr>
          <a:xfrm>
            <a:off x="4709160" y="3063240"/>
            <a:ext cx="228600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par drone / an</a:t>
            </a:r>
          </a:p>
        </p:txBody>
      </p:sp>
      <p:sp>
        <p:nvSpPr>
          <p:cNvPr id="18" name="TextBox 17"/>
          <p:cNvSpPr txBox="1"/>
          <p:nvPr/>
        </p:nvSpPr>
        <p:spPr>
          <a:xfrm>
            <a:off x="685800" y="3429000"/>
            <a:ext cx="201168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Light"/>
              </a:rPr>
              <a:t>HESIA Command</a:t>
            </a:r>
          </a:p>
        </p:txBody>
      </p:sp>
      <p:sp>
        <p:nvSpPr>
          <p:cNvPr id="19" name="TextBox 18"/>
          <p:cNvSpPr txBox="1"/>
          <p:nvPr/>
        </p:nvSpPr>
        <p:spPr>
          <a:xfrm>
            <a:off x="2880360" y="3429000"/>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15 000 €</a:t>
            </a:r>
          </a:p>
        </p:txBody>
      </p:sp>
      <p:sp>
        <p:nvSpPr>
          <p:cNvPr id="20" name="TextBox 19"/>
          <p:cNvSpPr txBox="1"/>
          <p:nvPr/>
        </p:nvSpPr>
        <p:spPr>
          <a:xfrm>
            <a:off x="4709160" y="3429000"/>
            <a:ext cx="228600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instance / an + sièges</a:t>
            </a:r>
          </a:p>
        </p:txBody>
      </p:sp>
      <p:sp>
        <p:nvSpPr>
          <p:cNvPr id="21" name="Rectangle 20"/>
          <p:cNvSpPr/>
          <p:nvPr/>
        </p:nvSpPr>
        <p:spPr>
          <a:xfrm>
            <a:off x="548640" y="3703320"/>
            <a:ext cx="6492240" cy="36576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794760"/>
            <a:ext cx="201168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Light"/>
              </a:rPr>
              <a:t>HESIA Observe</a:t>
            </a:r>
          </a:p>
        </p:txBody>
      </p:sp>
      <p:sp>
        <p:nvSpPr>
          <p:cNvPr id="23" name="TextBox 22"/>
          <p:cNvSpPr txBox="1"/>
          <p:nvPr/>
        </p:nvSpPr>
        <p:spPr>
          <a:xfrm>
            <a:off x="2880360" y="3794760"/>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1 500 €</a:t>
            </a:r>
          </a:p>
        </p:txBody>
      </p:sp>
      <p:sp>
        <p:nvSpPr>
          <p:cNvPr id="24" name="TextBox 23"/>
          <p:cNvSpPr txBox="1"/>
          <p:nvPr/>
        </p:nvSpPr>
        <p:spPr>
          <a:xfrm>
            <a:off x="4709160" y="3794760"/>
            <a:ext cx="228600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par drone / an</a:t>
            </a:r>
          </a:p>
        </p:txBody>
      </p:sp>
      <p:sp>
        <p:nvSpPr>
          <p:cNvPr id="25" name="TextBox 24"/>
          <p:cNvSpPr txBox="1"/>
          <p:nvPr/>
        </p:nvSpPr>
        <p:spPr>
          <a:xfrm>
            <a:off x="685800" y="4160520"/>
            <a:ext cx="201168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Light"/>
              </a:rPr>
              <a:t>HESIA Attest</a:t>
            </a:r>
          </a:p>
        </p:txBody>
      </p:sp>
      <p:sp>
        <p:nvSpPr>
          <p:cNvPr id="26" name="TextBox 25"/>
          <p:cNvSpPr txBox="1"/>
          <p:nvPr/>
        </p:nvSpPr>
        <p:spPr>
          <a:xfrm>
            <a:off x="2880360" y="4160520"/>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800 €</a:t>
            </a:r>
          </a:p>
        </p:txBody>
      </p:sp>
      <p:sp>
        <p:nvSpPr>
          <p:cNvPr id="27" name="TextBox 26"/>
          <p:cNvSpPr txBox="1"/>
          <p:nvPr/>
        </p:nvSpPr>
        <p:spPr>
          <a:xfrm>
            <a:off x="4709160" y="4160520"/>
            <a:ext cx="228600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par drone / an</a:t>
            </a:r>
          </a:p>
        </p:txBody>
      </p:sp>
      <p:sp>
        <p:nvSpPr>
          <p:cNvPr id="28" name="Rectangle 27"/>
          <p:cNvSpPr/>
          <p:nvPr/>
        </p:nvSpPr>
        <p:spPr>
          <a:xfrm>
            <a:off x="548640" y="4434840"/>
            <a:ext cx="6492240" cy="36576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526280"/>
            <a:ext cx="201168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Light"/>
              </a:rPr>
              <a:t>Audit / Assessment</a:t>
            </a:r>
          </a:p>
        </p:txBody>
      </p:sp>
      <p:sp>
        <p:nvSpPr>
          <p:cNvPr id="30" name="TextBox 29"/>
          <p:cNvSpPr txBox="1"/>
          <p:nvPr/>
        </p:nvSpPr>
        <p:spPr>
          <a:xfrm>
            <a:off x="2880360" y="4526280"/>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20 000 €</a:t>
            </a:r>
          </a:p>
        </p:txBody>
      </p:sp>
      <p:sp>
        <p:nvSpPr>
          <p:cNvPr id="31" name="TextBox 30"/>
          <p:cNvSpPr txBox="1"/>
          <p:nvPr/>
        </p:nvSpPr>
        <p:spPr>
          <a:xfrm>
            <a:off x="4709160" y="4526280"/>
            <a:ext cx="228600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forfait projet</a:t>
            </a:r>
          </a:p>
        </p:txBody>
      </p:sp>
      <p:sp>
        <p:nvSpPr>
          <p:cNvPr id="32" name="TextBox 31"/>
          <p:cNvSpPr txBox="1"/>
          <p:nvPr/>
        </p:nvSpPr>
        <p:spPr>
          <a:xfrm>
            <a:off x="685800" y="4892040"/>
            <a:ext cx="201168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Light"/>
              </a:rPr>
              <a:t>Support Gold (SLA 24/7)</a:t>
            </a:r>
          </a:p>
        </p:txBody>
      </p:sp>
      <p:sp>
        <p:nvSpPr>
          <p:cNvPr id="33" name="TextBox 32"/>
          <p:cNvSpPr txBox="1"/>
          <p:nvPr/>
        </p:nvSpPr>
        <p:spPr>
          <a:xfrm>
            <a:off x="2880360" y="4892040"/>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20 % MRR</a:t>
            </a:r>
          </a:p>
        </p:txBody>
      </p:sp>
      <p:sp>
        <p:nvSpPr>
          <p:cNvPr id="34" name="TextBox 33"/>
          <p:cNvSpPr txBox="1"/>
          <p:nvPr/>
        </p:nvSpPr>
        <p:spPr>
          <a:xfrm>
            <a:off x="4709160" y="4892040"/>
            <a:ext cx="228600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annuel</a:t>
            </a:r>
          </a:p>
        </p:txBody>
      </p:sp>
      <p:sp>
        <p:nvSpPr>
          <p:cNvPr id="35" name="TextBox 34"/>
          <p:cNvSpPr txBox="1"/>
          <p:nvPr/>
        </p:nvSpPr>
        <p:spPr>
          <a:xfrm>
            <a:off x="7315200" y="2194560"/>
            <a:ext cx="4572000" cy="411480"/>
          </a:xfrm>
          <a:prstGeom prst="rect">
            <a:avLst/>
          </a:prstGeom>
          <a:noFill/>
        </p:spPr>
        <p:txBody>
          <a:bodyPr wrap="square" lIns="0" rIns="0" tIns="0" bIns="0" anchor="t">
            <a:spAutoFit/>
          </a:bodyPr>
          <a:lstStyle/>
          <a:p>
            <a:pPr algn="l">
              <a:lnSpc>
                <a:spcPct val="115000"/>
              </a:lnSpc>
            </a:pPr>
            <a:r>
              <a:rPr sz="1400" b="1">
                <a:solidFill>
                  <a:srgbClr val="D4A017"/>
                </a:solidFill>
                <a:latin typeface="Calibri"/>
              </a:rPr>
              <a:t>Projection ARR</a:t>
            </a:r>
          </a:p>
        </p:txBody>
      </p:sp>
      <p:sp>
        <p:nvSpPr>
          <p:cNvPr id="36" name="Rectangle 35"/>
          <p:cNvSpPr/>
          <p:nvPr/>
        </p:nvSpPr>
        <p:spPr>
          <a:xfrm>
            <a:off x="7315200" y="2606040"/>
            <a:ext cx="4297680" cy="329184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89520" y="2880360"/>
            <a:ext cx="2103120" cy="365760"/>
          </a:xfrm>
          <a:prstGeom prst="rect">
            <a:avLst/>
          </a:prstGeom>
          <a:noFill/>
        </p:spPr>
        <p:txBody>
          <a:bodyPr wrap="square" lIns="0" rIns="0" tIns="0" bIns="0" anchor="t">
            <a:spAutoFit/>
          </a:bodyPr>
          <a:lstStyle/>
          <a:p>
            <a:pPr algn="l">
              <a:lnSpc>
                <a:spcPct val="115000"/>
              </a:lnSpc>
            </a:pPr>
            <a:r>
              <a:rPr sz="1200" b="0">
                <a:solidFill>
                  <a:srgbClr val="F5F1E8"/>
                </a:solidFill>
                <a:latin typeface="Calibri Light"/>
              </a:rPr>
              <a:t>Année 1 (2026)</a:t>
            </a:r>
          </a:p>
        </p:txBody>
      </p:sp>
      <p:sp>
        <p:nvSpPr>
          <p:cNvPr id="38" name="TextBox 37"/>
          <p:cNvSpPr txBox="1"/>
          <p:nvPr/>
        </p:nvSpPr>
        <p:spPr>
          <a:xfrm>
            <a:off x="9692640" y="2880360"/>
            <a:ext cx="1828800" cy="365760"/>
          </a:xfrm>
          <a:prstGeom prst="rect">
            <a:avLst/>
          </a:prstGeom>
          <a:noFill/>
        </p:spPr>
        <p:txBody>
          <a:bodyPr wrap="square" lIns="0" rIns="0" tIns="0" bIns="0" anchor="t">
            <a:spAutoFit/>
          </a:bodyPr>
          <a:lstStyle/>
          <a:p>
            <a:pPr algn="r">
              <a:lnSpc>
                <a:spcPct val="115000"/>
              </a:lnSpc>
            </a:pPr>
            <a:r>
              <a:rPr sz="1500" b="1">
                <a:solidFill>
                  <a:srgbClr val="D4A017"/>
                </a:solidFill>
                <a:latin typeface="Calibri"/>
              </a:rPr>
              <a:t>0,8 – 1,5 M€</a:t>
            </a:r>
          </a:p>
        </p:txBody>
      </p:sp>
      <p:sp>
        <p:nvSpPr>
          <p:cNvPr id="39" name="TextBox 38"/>
          <p:cNvSpPr txBox="1"/>
          <p:nvPr/>
        </p:nvSpPr>
        <p:spPr>
          <a:xfrm>
            <a:off x="7589520" y="3474720"/>
            <a:ext cx="2103120" cy="365760"/>
          </a:xfrm>
          <a:prstGeom prst="rect">
            <a:avLst/>
          </a:prstGeom>
          <a:noFill/>
        </p:spPr>
        <p:txBody>
          <a:bodyPr wrap="square" lIns="0" rIns="0" tIns="0" bIns="0" anchor="t">
            <a:spAutoFit/>
          </a:bodyPr>
          <a:lstStyle/>
          <a:p>
            <a:pPr algn="l">
              <a:lnSpc>
                <a:spcPct val="115000"/>
              </a:lnSpc>
            </a:pPr>
            <a:r>
              <a:rPr sz="1200" b="0">
                <a:solidFill>
                  <a:srgbClr val="F5F1E8"/>
                </a:solidFill>
                <a:latin typeface="Calibri Light"/>
              </a:rPr>
              <a:t>Année 2 (2027)</a:t>
            </a:r>
          </a:p>
        </p:txBody>
      </p:sp>
      <p:sp>
        <p:nvSpPr>
          <p:cNvPr id="40" name="TextBox 39"/>
          <p:cNvSpPr txBox="1"/>
          <p:nvPr/>
        </p:nvSpPr>
        <p:spPr>
          <a:xfrm>
            <a:off x="9692640" y="3474720"/>
            <a:ext cx="1828800" cy="365760"/>
          </a:xfrm>
          <a:prstGeom prst="rect">
            <a:avLst/>
          </a:prstGeom>
          <a:noFill/>
        </p:spPr>
        <p:txBody>
          <a:bodyPr wrap="square" lIns="0" rIns="0" tIns="0" bIns="0" anchor="t">
            <a:spAutoFit/>
          </a:bodyPr>
          <a:lstStyle/>
          <a:p>
            <a:pPr algn="r">
              <a:lnSpc>
                <a:spcPct val="115000"/>
              </a:lnSpc>
            </a:pPr>
            <a:r>
              <a:rPr sz="1500" b="1">
                <a:solidFill>
                  <a:srgbClr val="D4A017"/>
                </a:solidFill>
                <a:latin typeface="Calibri"/>
              </a:rPr>
              <a:t>2,5 – 5 M€</a:t>
            </a:r>
          </a:p>
        </p:txBody>
      </p:sp>
      <p:sp>
        <p:nvSpPr>
          <p:cNvPr id="41" name="TextBox 40"/>
          <p:cNvSpPr txBox="1"/>
          <p:nvPr/>
        </p:nvSpPr>
        <p:spPr>
          <a:xfrm>
            <a:off x="7589520" y="4069080"/>
            <a:ext cx="2103120" cy="365760"/>
          </a:xfrm>
          <a:prstGeom prst="rect">
            <a:avLst/>
          </a:prstGeom>
          <a:noFill/>
        </p:spPr>
        <p:txBody>
          <a:bodyPr wrap="square" lIns="0" rIns="0" tIns="0" bIns="0" anchor="t">
            <a:spAutoFit/>
          </a:bodyPr>
          <a:lstStyle/>
          <a:p>
            <a:pPr algn="l">
              <a:lnSpc>
                <a:spcPct val="115000"/>
              </a:lnSpc>
            </a:pPr>
            <a:r>
              <a:rPr sz="1200" b="0">
                <a:solidFill>
                  <a:srgbClr val="F5F1E8"/>
                </a:solidFill>
                <a:latin typeface="Calibri Light"/>
              </a:rPr>
              <a:t>Année 3 (2028)</a:t>
            </a:r>
          </a:p>
        </p:txBody>
      </p:sp>
      <p:sp>
        <p:nvSpPr>
          <p:cNvPr id="42" name="TextBox 41"/>
          <p:cNvSpPr txBox="1"/>
          <p:nvPr/>
        </p:nvSpPr>
        <p:spPr>
          <a:xfrm>
            <a:off x="9692640" y="4069080"/>
            <a:ext cx="1828800" cy="365760"/>
          </a:xfrm>
          <a:prstGeom prst="rect">
            <a:avLst/>
          </a:prstGeom>
          <a:noFill/>
        </p:spPr>
        <p:txBody>
          <a:bodyPr wrap="square" lIns="0" rIns="0" tIns="0" bIns="0" anchor="t">
            <a:spAutoFit/>
          </a:bodyPr>
          <a:lstStyle/>
          <a:p>
            <a:pPr algn="r">
              <a:lnSpc>
                <a:spcPct val="115000"/>
              </a:lnSpc>
            </a:pPr>
            <a:r>
              <a:rPr sz="1500" b="1">
                <a:solidFill>
                  <a:srgbClr val="D4A017"/>
                </a:solidFill>
                <a:latin typeface="Calibri"/>
              </a:rPr>
              <a:t>6 – 12 M€</a:t>
            </a:r>
          </a:p>
        </p:txBody>
      </p:sp>
      <p:sp>
        <p:nvSpPr>
          <p:cNvPr id="43" name="TextBox 42"/>
          <p:cNvSpPr txBox="1"/>
          <p:nvPr/>
        </p:nvSpPr>
        <p:spPr>
          <a:xfrm>
            <a:off x="7589520" y="4663440"/>
            <a:ext cx="2103120" cy="365760"/>
          </a:xfrm>
          <a:prstGeom prst="rect">
            <a:avLst/>
          </a:prstGeom>
          <a:noFill/>
        </p:spPr>
        <p:txBody>
          <a:bodyPr wrap="square" lIns="0" rIns="0" tIns="0" bIns="0" anchor="t">
            <a:spAutoFit/>
          </a:bodyPr>
          <a:lstStyle/>
          <a:p>
            <a:pPr algn="l">
              <a:lnSpc>
                <a:spcPct val="115000"/>
              </a:lnSpc>
            </a:pPr>
            <a:r>
              <a:rPr sz="1200" b="0">
                <a:solidFill>
                  <a:srgbClr val="F5F1E8"/>
                </a:solidFill>
                <a:latin typeface="Calibri Light"/>
              </a:rPr>
              <a:t>Année 5 (2030)</a:t>
            </a:r>
          </a:p>
        </p:txBody>
      </p:sp>
      <p:sp>
        <p:nvSpPr>
          <p:cNvPr id="44" name="TextBox 43"/>
          <p:cNvSpPr txBox="1"/>
          <p:nvPr/>
        </p:nvSpPr>
        <p:spPr>
          <a:xfrm>
            <a:off x="9692640" y="4663440"/>
            <a:ext cx="1828800" cy="365760"/>
          </a:xfrm>
          <a:prstGeom prst="rect">
            <a:avLst/>
          </a:prstGeom>
          <a:noFill/>
        </p:spPr>
        <p:txBody>
          <a:bodyPr wrap="square" lIns="0" rIns="0" tIns="0" bIns="0" anchor="t">
            <a:spAutoFit/>
          </a:bodyPr>
          <a:lstStyle/>
          <a:p>
            <a:pPr algn="r">
              <a:lnSpc>
                <a:spcPct val="115000"/>
              </a:lnSpc>
            </a:pPr>
            <a:r>
              <a:rPr sz="1500" b="1">
                <a:solidFill>
                  <a:srgbClr val="D4A017"/>
                </a:solidFill>
                <a:latin typeface="Calibri"/>
              </a:rPr>
              <a:t>15 – 30 M€</a:t>
            </a:r>
          </a:p>
        </p:txBody>
      </p:sp>
      <p:sp>
        <p:nvSpPr>
          <p:cNvPr id="45" name="TextBox 44"/>
          <p:cNvSpPr txBox="1"/>
          <p:nvPr/>
        </p:nvSpPr>
        <p:spPr>
          <a:xfrm>
            <a:off x="548640" y="5943600"/>
            <a:ext cx="11155680" cy="457200"/>
          </a:xfrm>
          <a:prstGeom prst="rect">
            <a:avLst/>
          </a:prstGeom>
          <a:noFill/>
        </p:spPr>
        <p:txBody>
          <a:bodyPr wrap="square" lIns="0" rIns="0" tIns="0" bIns="0" anchor="t">
            <a:spAutoFit/>
          </a:bodyPr>
          <a:lstStyle/>
          <a:p>
            <a:pPr algn="l">
              <a:lnSpc>
                <a:spcPct val="115000"/>
              </a:lnSpc>
            </a:pPr>
            <a:r>
              <a:rPr sz="1000" b="0">
                <a:solidFill>
                  <a:srgbClr val="8A95A8"/>
                </a:solidFill>
                <a:latin typeface="Calibri Light"/>
              </a:rPr>
              <a:t>Hypothèses : 5-10 clients année 1 (POC + licence), expansion volume + modules en année 2-3, entrée défense en année 3-4. Conservateur vs leaders catégorie cyber B2B.</a:t>
            </a:r>
          </a:p>
        </p:txBody>
      </p:sp>
      <p:sp>
        <p:nvSpPr>
          <p:cNvPr id="46" name="Rectangle 45"/>
          <p:cNvSpPr/>
          <p:nvPr/>
        </p:nvSpPr>
        <p:spPr>
          <a:xfrm>
            <a:off x="0" y="6629400"/>
            <a:ext cx="12191695" cy="2286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5760" y="6647688"/>
            <a:ext cx="3657600" cy="201168"/>
          </a:xfrm>
          <a:prstGeom prst="rect">
            <a:avLst/>
          </a:prstGeom>
          <a:noFill/>
        </p:spPr>
        <p:txBody>
          <a:bodyPr wrap="square" lIns="0" rIns="0" tIns="0" bIns="0" anchor="t">
            <a:spAutoFit/>
          </a:bodyPr>
          <a:lstStyle/>
          <a:p>
            <a:pPr algn="l">
              <a:lnSpc>
                <a:spcPct val="115000"/>
              </a:lnSpc>
            </a:pPr>
            <a:r>
              <a:rPr sz="900" b="0">
                <a:solidFill>
                  <a:srgbClr val="8A95A8"/>
                </a:solidFill>
                <a:latin typeface="Calibri Light"/>
              </a:rPr>
              <a:t>HESIA — Confidential</a:t>
            </a:r>
          </a:p>
        </p:txBody>
      </p:sp>
      <p:sp>
        <p:nvSpPr>
          <p:cNvPr id="48" name="TextBox 47"/>
          <p:cNvSpPr txBox="1"/>
          <p:nvPr/>
        </p:nvSpPr>
        <p:spPr>
          <a:xfrm>
            <a:off x="4572000" y="6647688"/>
            <a:ext cx="2743200" cy="201168"/>
          </a:xfrm>
          <a:prstGeom prst="rect">
            <a:avLst/>
          </a:prstGeom>
          <a:noFill/>
        </p:spPr>
        <p:txBody>
          <a:bodyPr wrap="square" lIns="0" rIns="0" tIns="0" bIns="0" anchor="t">
            <a:spAutoFit/>
          </a:bodyPr>
          <a:lstStyle/>
          <a:p>
            <a:pPr algn="ctr">
              <a:lnSpc>
                <a:spcPct val="115000"/>
              </a:lnSpc>
            </a:pPr>
            <a:r>
              <a:rPr sz="900" b="0">
                <a:solidFill>
                  <a:srgbClr val="8A95A8"/>
                </a:solidFill>
                <a:latin typeface="Calibri Light"/>
              </a:rPr>
              <a:t>Pitch Investisseurs · 2026</a:t>
            </a:r>
          </a:p>
        </p:txBody>
      </p:sp>
      <p:sp>
        <p:nvSpPr>
          <p:cNvPr id="49" name="TextBox 48"/>
          <p:cNvSpPr txBox="1"/>
          <p:nvPr/>
        </p:nvSpPr>
        <p:spPr>
          <a:xfrm>
            <a:off x="10058400" y="6647688"/>
            <a:ext cx="1828800" cy="201168"/>
          </a:xfrm>
          <a:prstGeom prst="rect">
            <a:avLst/>
          </a:prstGeom>
          <a:noFill/>
        </p:spPr>
        <p:txBody>
          <a:bodyPr wrap="square" lIns="0" rIns="0" tIns="0" bIns="0" anchor="t">
            <a:spAutoFit/>
          </a:bodyPr>
          <a:lstStyle/>
          <a:p>
            <a:pPr algn="r">
              <a:lnSpc>
                <a:spcPct val="115000"/>
              </a:lnSpc>
            </a:pPr>
            <a:r>
              <a:rPr sz="900" b="0">
                <a:solidFill>
                  <a:srgbClr val="8A95A8"/>
                </a:solidFill>
                <a:latin typeface="Calibri Light"/>
              </a:rPr>
              <a:t>10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365760" y="274320"/>
            <a:ext cx="411480" cy="411480"/>
          </a:xfrm>
          <a:prstGeom prst="hexagon">
            <a:avLst/>
          </a:prstGeom>
          <a:noFill/>
          <a:ln w="1905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411480" cy="411480"/>
          </a:xfrm>
          <a:prstGeom prst="rect">
            <a:avLst/>
          </a:prstGeom>
          <a:noFill/>
        </p:spPr>
        <p:txBody>
          <a:bodyPr wrap="none" lIns="0" rIns="0" tIns="0" bIns="0" anchor="ctr">
            <a:spAutoFit/>
          </a:bodyPr>
          <a:lstStyle/>
          <a:p>
            <a:pPr algn="ctr"/>
            <a:r>
              <a:rPr b="1" sz="1700">
                <a:solidFill>
                  <a:srgbClr val="D4A017"/>
                </a:solidFill>
                <a:latin typeface="Calibri"/>
              </a:rPr>
              <a:t>H</a:t>
            </a:r>
          </a:p>
        </p:txBody>
      </p:sp>
      <p:sp>
        <p:nvSpPr>
          <p:cNvPr id="5" name="TextBox 4"/>
          <p:cNvSpPr txBox="1"/>
          <p:nvPr/>
        </p:nvSpPr>
        <p:spPr>
          <a:xfrm>
            <a:off x="868680" y="292608"/>
            <a:ext cx="1828800" cy="365760"/>
          </a:xfrm>
          <a:prstGeom prst="rect">
            <a:avLst/>
          </a:prstGeom>
          <a:noFill/>
        </p:spPr>
        <p:txBody>
          <a:bodyPr wrap="square" lIns="0" rIns="0" tIns="0" bIns="0" anchor="t">
            <a:spAutoFit/>
          </a:bodyPr>
          <a:lstStyle/>
          <a:p>
            <a:pPr algn="l">
              <a:lnSpc>
                <a:spcPct val="115000"/>
              </a:lnSpc>
            </a:pPr>
            <a:r>
              <a:rPr sz="1600" b="1">
                <a:solidFill>
                  <a:srgbClr val="FFFFFF"/>
                </a:solidFill>
                <a:latin typeface="Calibri"/>
              </a:rPr>
              <a:t>HESIA</a:t>
            </a:r>
          </a:p>
        </p:txBody>
      </p:sp>
      <p:sp>
        <p:nvSpPr>
          <p:cNvPr id="6" name="TextBox 5"/>
          <p:cNvSpPr txBox="1"/>
          <p:nvPr/>
        </p:nvSpPr>
        <p:spPr>
          <a:xfrm>
            <a:off x="548640" y="868680"/>
            <a:ext cx="7315200" cy="32004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ROADMAP &amp; TRACTION</a:t>
            </a:r>
          </a:p>
        </p:txBody>
      </p:sp>
      <p:sp>
        <p:nvSpPr>
          <p:cNvPr id="7" name="TextBox 6"/>
          <p:cNvSpPr txBox="1"/>
          <p:nvPr/>
        </p:nvSpPr>
        <p:spPr>
          <a:xfrm>
            <a:off x="548640" y="1188720"/>
            <a:ext cx="10972800" cy="822960"/>
          </a:xfrm>
          <a:prstGeom prst="rect">
            <a:avLst/>
          </a:prstGeom>
          <a:noFill/>
        </p:spPr>
        <p:txBody>
          <a:bodyPr wrap="square" lIns="0" rIns="0" tIns="0" bIns="0" anchor="t">
            <a:spAutoFit/>
          </a:bodyPr>
          <a:lstStyle/>
          <a:p>
            <a:pPr algn="l">
              <a:lnSpc>
                <a:spcPct val="115000"/>
              </a:lnSpc>
            </a:pPr>
            <a:r>
              <a:rPr sz="3200" b="1">
                <a:solidFill>
                  <a:srgbClr val="FFFFFF"/>
                </a:solidFill>
                <a:latin typeface="Calibri"/>
              </a:rPr>
              <a:t>Plan d'exécution sur 24 mois — milestones publics.</a:t>
            </a:r>
          </a:p>
        </p:txBody>
      </p:sp>
      <p:sp>
        <p:nvSpPr>
          <p:cNvPr id="8" name="Rectangle 7"/>
          <p:cNvSpPr/>
          <p:nvPr/>
        </p:nvSpPr>
        <p:spPr>
          <a:xfrm>
            <a:off x="548640" y="1965960"/>
            <a:ext cx="6400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194560"/>
            <a:ext cx="10972800" cy="457200"/>
          </a:xfrm>
          <a:prstGeom prst="rect">
            <a:avLst/>
          </a:prstGeom>
          <a:noFill/>
        </p:spPr>
        <p:txBody>
          <a:bodyPr wrap="square" lIns="0" rIns="0" tIns="0" bIns="0" anchor="t">
            <a:spAutoFit/>
          </a:bodyPr>
          <a:lstStyle/>
          <a:p>
            <a:pPr algn="l">
              <a:lnSpc>
                <a:spcPct val="115000"/>
              </a:lnSpc>
            </a:pPr>
            <a:r>
              <a:rPr sz="1400" b="0">
                <a:solidFill>
                  <a:srgbClr val="F5F1E8"/>
                </a:solidFill>
                <a:latin typeface="Calibri Light"/>
              </a:rPr>
              <a:t>Roadmap à exécution disciplinée. Chaque trimestre a un livrable produit + un livrable commercial.</a:t>
            </a:r>
          </a:p>
        </p:txBody>
      </p:sp>
      <p:sp>
        <p:nvSpPr>
          <p:cNvPr id="10" name="Rectangle 9"/>
          <p:cNvSpPr/>
          <p:nvPr/>
        </p:nvSpPr>
        <p:spPr>
          <a:xfrm>
            <a:off x="548640" y="2743200"/>
            <a:ext cx="2697480" cy="338328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743200"/>
            <a:ext cx="26974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926080"/>
            <a:ext cx="2331720" cy="365760"/>
          </a:xfrm>
          <a:prstGeom prst="rect">
            <a:avLst/>
          </a:prstGeom>
          <a:noFill/>
        </p:spPr>
        <p:txBody>
          <a:bodyPr wrap="square" lIns="0" rIns="0" tIns="0" bIns="0" anchor="t">
            <a:spAutoFit/>
          </a:bodyPr>
          <a:lstStyle/>
          <a:p>
            <a:pPr algn="l">
              <a:lnSpc>
                <a:spcPct val="115000"/>
              </a:lnSpc>
            </a:pPr>
            <a:r>
              <a:rPr sz="1400" b="1">
                <a:solidFill>
                  <a:srgbClr val="D4A017"/>
                </a:solidFill>
                <a:latin typeface="Calibri"/>
              </a:rPr>
              <a:t>T1 2026</a:t>
            </a:r>
          </a:p>
        </p:txBody>
      </p:sp>
      <p:sp>
        <p:nvSpPr>
          <p:cNvPr id="13" name="TextBox 12"/>
          <p:cNvSpPr txBox="1"/>
          <p:nvPr/>
        </p:nvSpPr>
        <p:spPr>
          <a:xfrm>
            <a:off x="731520" y="3291840"/>
            <a:ext cx="2331720" cy="457200"/>
          </a:xfrm>
          <a:prstGeom prst="rect">
            <a:avLst/>
          </a:prstGeom>
          <a:noFill/>
        </p:spPr>
        <p:txBody>
          <a:bodyPr wrap="square" lIns="0" rIns="0" tIns="0" bIns="0" anchor="t">
            <a:spAutoFit/>
          </a:bodyPr>
          <a:lstStyle/>
          <a:p>
            <a:pPr algn="l">
              <a:lnSpc>
                <a:spcPct val="115000"/>
              </a:lnSpc>
            </a:pPr>
            <a:r>
              <a:rPr sz="1200" b="1">
                <a:solidFill>
                  <a:srgbClr val="FFFFFF"/>
                </a:solidFill>
                <a:latin typeface="Calibri"/>
              </a:rPr>
              <a:t>Lancement public</a:t>
            </a:r>
          </a:p>
        </p:txBody>
      </p:sp>
      <p:sp>
        <p:nvSpPr>
          <p:cNvPr id="14" name="TextBox 13"/>
          <p:cNvSpPr txBox="1"/>
          <p:nvPr/>
        </p:nvSpPr>
        <p:spPr>
          <a:xfrm>
            <a:off x="731520" y="3840480"/>
            <a:ext cx="2331720" cy="2103120"/>
          </a:xfrm>
          <a:prstGeom prst="rect">
            <a:avLst/>
          </a:prstGeom>
          <a:noFill/>
        </p:spPr>
        <p:txBody>
          <a:bodyPr wrap="square" lIns="0" rIns="0" tIns="0" bIns="0">
            <a:spAutoFit/>
          </a:bodyPr>
          <a:lstStyle/>
          <a:p>
            <a:pPr algn="l">
              <a:lnSpc>
                <a:spcPct val="145000"/>
              </a:lnSpc>
            </a:pPr>
            <a:r>
              <a:rPr sz="1000" b="0">
                <a:solidFill>
                  <a:srgbClr val="F5F1E8"/>
                </a:solidFill>
                <a:latin typeface="Calibri Light"/>
              </a:rPr>
              <a:t>  HESIA Core 1.0</a:t>
            </a:r>
          </a:p>
          <a:p>
            <a:pPr algn="l">
              <a:lnSpc>
                <a:spcPct val="145000"/>
              </a:lnSpc>
            </a:pPr>
            <a:r>
              <a:rPr sz="1000" b="0">
                <a:solidFill>
                  <a:srgbClr val="F5F1E8"/>
                </a:solidFill>
                <a:latin typeface="Calibri Light"/>
              </a:rPr>
              <a:t>  Site web + RP</a:t>
            </a:r>
          </a:p>
          <a:p>
            <a:pPr algn="l">
              <a:lnSpc>
                <a:spcPct val="145000"/>
              </a:lnSpc>
            </a:pPr>
            <a:r>
              <a:rPr sz="1000" b="0">
                <a:solidFill>
                  <a:srgbClr val="F5F1E8"/>
                </a:solidFill>
                <a:latin typeface="Calibri Light"/>
              </a:rPr>
              <a:t>  Premier livre blanc PQC</a:t>
            </a:r>
          </a:p>
          <a:p>
            <a:pPr algn="l">
              <a:lnSpc>
                <a:spcPct val="145000"/>
              </a:lnSpc>
            </a:pPr>
            <a:r>
              <a:rPr sz="1000" b="0">
                <a:solidFill>
                  <a:srgbClr val="F5F1E8"/>
                </a:solidFill>
                <a:latin typeface="Calibri Light"/>
              </a:rPr>
              <a:t>  1er client pilote signé</a:t>
            </a:r>
          </a:p>
          <a:p>
            <a:pPr algn="l">
              <a:lnSpc>
                <a:spcPct val="145000"/>
              </a:lnSpc>
            </a:pPr>
            <a:r>
              <a:rPr sz="1000" b="0">
                <a:solidFill>
                  <a:srgbClr val="F5F1E8"/>
                </a:solidFill>
                <a:latin typeface="Calibri Light"/>
              </a:rPr>
              <a:t>  Présence FIC (Lille)</a:t>
            </a:r>
          </a:p>
        </p:txBody>
      </p:sp>
      <p:sp>
        <p:nvSpPr>
          <p:cNvPr id="15" name="Rectangle 14"/>
          <p:cNvSpPr/>
          <p:nvPr/>
        </p:nvSpPr>
        <p:spPr>
          <a:xfrm>
            <a:off x="3410712" y="2743200"/>
            <a:ext cx="2697480" cy="338328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10712" y="2743200"/>
            <a:ext cx="26974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93592" y="2926080"/>
            <a:ext cx="2331720" cy="365760"/>
          </a:xfrm>
          <a:prstGeom prst="rect">
            <a:avLst/>
          </a:prstGeom>
          <a:noFill/>
        </p:spPr>
        <p:txBody>
          <a:bodyPr wrap="square" lIns="0" rIns="0" tIns="0" bIns="0" anchor="t">
            <a:spAutoFit/>
          </a:bodyPr>
          <a:lstStyle/>
          <a:p>
            <a:pPr algn="l">
              <a:lnSpc>
                <a:spcPct val="115000"/>
              </a:lnSpc>
            </a:pPr>
            <a:r>
              <a:rPr sz="1400" b="1">
                <a:solidFill>
                  <a:srgbClr val="D4A017"/>
                </a:solidFill>
                <a:latin typeface="Calibri"/>
              </a:rPr>
              <a:t>T2 2026</a:t>
            </a:r>
          </a:p>
        </p:txBody>
      </p:sp>
      <p:sp>
        <p:nvSpPr>
          <p:cNvPr id="18" name="TextBox 17"/>
          <p:cNvSpPr txBox="1"/>
          <p:nvPr/>
        </p:nvSpPr>
        <p:spPr>
          <a:xfrm>
            <a:off x="3593592" y="3291840"/>
            <a:ext cx="2331720" cy="457200"/>
          </a:xfrm>
          <a:prstGeom prst="rect">
            <a:avLst/>
          </a:prstGeom>
          <a:noFill/>
        </p:spPr>
        <p:txBody>
          <a:bodyPr wrap="square" lIns="0" rIns="0" tIns="0" bIns="0" anchor="t">
            <a:spAutoFit/>
          </a:bodyPr>
          <a:lstStyle/>
          <a:p>
            <a:pPr algn="l">
              <a:lnSpc>
                <a:spcPct val="115000"/>
              </a:lnSpc>
            </a:pPr>
            <a:r>
              <a:rPr sz="1200" b="1">
                <a:solidFill>
                  <a:srgbClr val="FFFFFF"/>
                </a:solidFill>
                <a:latin typeface="Calibri"/>
              </a:rPr>
              <a:t>Pre-CSPN</a:t>
            </a:r>
          </a:p>
        </p:txBody>
      </p:sp>
      <p:sp>
        <p:nvSpPr>
          <p:cNvPr id="19" name="TextBox 18"/>
          <p:cNvSpPr txBox="1"/>
          <p:nvPr/>
        </p:nvSpPr>
        <p:spPr>
          <a:xfrm>
            <a:off x="3593592" y="3840480"/>
            <a:ext cx="2331720" cy="2103120"/>
          </a:xfrm>
          <a:prstGeom prst="rect">
            <a:avLst/>
          </a:prstGeom>
          <a:noFill/>
        </p:spPr>
        <p:txBody>
          <a:bodyPr wrap="square" lIns="0" rIns="0" tIns="0" bIns="0">
            <a:spAutoFit/>
          </a:bodyPr>
          <a:lstStyle/>
          <a:p>
            <a:pPr algn="l">
              <a:lnSpc>
                <a:spcPct val="145000"/>
              </a:lnSpc>
            </a:pPr>
            <a:r>
              <a:rPr sz="1000" b="0">
                <a:solidFill>
                  <a:srgbClr val="F5F1E8"/>
                </a:solidFill>
                <a:latin typeface="Calibri Light"/>
              </a:rPr>
              <a:t>  Core 1.1 + audit externe</a:t>
            </a:r>
          </a:p>
          <a:p>
            <a:pPr algn="l">
              <a:lnSpc>
                <a:spcPct val="145000"/>
              </a:lnSpc>
            </a:pPr>
            <a:r>
              <a:rPr sz="1000" b="0">
                <a:solidFill>
                  <a:srgbClr val="F5F1E8"/>
                </a:solidFill>
                <a:latin typeface="Calibri Light"/>
              </a:rPr>
              <a:t>  OP-TEE TA alpha</a:t>
            </a:r>
          </a:p>
          <a:p>
            <a:pPr algn="l">
              <a:lnSpc>
                <a:spcPct val="145000"/>
              </a:lnSpc>
            </a:pPr>
            <a:r>
              <a:rPr sz="1000" b="0">
                <a:solidFill>
                  <a:srgbClr val="F5F1E8"/>
                </a:solidFill>
                <a:latin typeface="Calibri Light"/>
              </a:rPr>
              <a:t>  Dossier CSPN déposé</a:t>
            </a:r>
          </a:p>
          <a:p>
            <a:pPr algn="l">
              <a:lnSpc>
                <a:spcPct val="145000"/>
              </a:lnSpc>
            </a:pPr>
            <a:r>
              <a:rPr sz="1000" b="0">
                <a:solidFill>
                  <a:srgbClr val="F5F1E8"/>
                </a:solidFill>
                <a:latin typeface="Calibri Light"/>
              </a:rPr>
              <a:t>  2-3 clients pilotes additionnels</a:t>
            </a:r>
          </a:p>
          <a:p>
            <a:pPr algn="l">
              <a:lnSpc>
                <a:spcPct val="145000"/>
              </a:lnSpc>
            </a:pPr>
            <a:r>
              <a:rPr sz="1000" b="0">
                <a:solidFill>
                  <a:srgbClr val="F5F1E8"/>
                </a:solidFill>
                <a:latin typeface="Calibri Light"/>
              </a:rPr>
              <a:t>  Levée de fonds (objectif)</a:t>
            </a:r>
          </a:p>
        </p:txBody>
      </p:sp>
      <p:sp>
        <p:nvSpPr>
          <p:cNvPr id="20" name="Rectangle 19"/>
          <p:cNvSpPr/>
          <p:nvPr/>
        </p:nvSpPr>
        <p:spPr>
          <a:xfrm>
            <a:off x="6272784" y="2743200"/>
            <a:ext cx="2697480" cy="338328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72784" y="2743200"/>
            <a:ext cx="26974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5664" y="2926080"/>
            <a:ext cx="2331720" cy="365760"/>
          </a:xfrm>
          <a:prstGeom prst="rect">
            <a:avLst/>
          </a:prstGeom>
          <a:noFill/>
        </p:spPr>
        <p:txBody>
          <a:bodyPr wrap="square" lIns="0" rIns="0" tIns="0" bIns="0" anchor="t">
            <a:spAutoFit/>
          </a:bodyPr>
          <a:lstStyle/>
          <a:p>
            <a:pPr algn="l">
              <a:lnSpc>
                <a:spcPct val="115000"/>
              </a:lnSpc>
            </a:pPr>
            <a:r>
              <a:rPr sz="1400" b="1">
                <a:solidFill>
                  <a:srgbClr val="D4A017"/>
                </a:solidFill>
                <a:latin typeface="Calibri"/>
              </a:rPr>
              <a:t>T3 2026</a:t>
            </a:r>
          </a:p>
        </p:txBody>
      </p:sp>
      <p:sp>
        <p:nvSpPr>
          <p:cNvPr id="23" name="TextBox 22"/>
          <p:cNvSpPr txBox="1"/>
          <p:nvPr/>
        </p:nvSpPr>
        <p:spPr>
          <a:xfrm>
            <a:off x="6455664" y="3291840"/>
            <a:ext cx="2331720" cy="457200"/>
          </a:xfrm>
          <a:prstGeom prst="rect">
            <a:avLst/>
          </a:prstGeom>
          <a:noFill/>
        </p:spPr>
        <p:txBody>
          <a:bodyPr wrap="square" lIns="0" rIns="0" tIns="0" bIns="0" anchor="t">
            <a:spAutoFit/>
          </a:bodyPr>
          <a:lstStyle/>
          <a:p>
            <a:pPr algn="l">
              <a:lnSpc>
                <a:spcPct val="115000"/>
              </a:lnSpc>
            </a:pPr>
            <a:r>
              <a:rPr sz="1200" b="1">
                <a:solidFill>
                  <a:srgbClr val="FFFFFF"/>
                </a:solidFill>
                <a:latin typeface="Calibri"/>
              </a:rPr>
              <a:t>Command beta</a:t>
            </a:r>
          </a:p>
        </p:txBody>
      </p:sp>
      <p:sp>
        <p:nvSpPr>
          <p:cNvPr id="24" name="TextBox 23"/>
          <p:cNvSpPr txBox="1"/>
          <p:nvPr/>
        </p:nvSpPr>
        <p:spPr>
          <a:xfrm>
            <a:off x="6455664" y="3840480"/>
            <a:ext cx="2331720" cy="2103120"/>
          </a:xfrm>
          <a:prstGeom prst="rect">
            <a:avLst/>
          </a:prstGeom>
          <a:noFill/>
        </p:spPr>
        <p:txBody>
          <a:bodyPr wrap="square" lIns="0" rIns="0" tIns="0" bIns="0">
            <a:spAutoFit/>
          </a:bodyPr>
          <a:lstStyle/>
          <a:p>
            <a:pPr algn="l">
              <a:lnSpc>
                <a:spcPct val="145000"/>
              </a:lnSpc>
            </a:pPr>
            <a:r>
              <a:rPr sz="1000" b="0">
                <a:solidFill>
                  <a:srgbClr val="F5F1E8"/>
                </a:solidFill>
                <a:latin typeface="Calibri Light"/>
              </a:rPr>
              <a:t>  HESIA Command alpha</a:t>
            </a:r>
          </a:p>
          <a:p>
            <a:pPr algn="l">
              <a:lnSpc>
                <a:spcPct val="145000"/>
              </a:lnSpc>
            </a:pPr>
            <a:r>
              <a:rPr sz="1000" b="0">
                <a:solidFill>
                  <a:srgbClr val="F5F1E8"/>
                </a:solidFill>
                <a:latin typeface="Calibri Light"/>
              </a:rPr>
              <a:t>  Connecteurs SIEM</a:t>
            </a:r>
          </a:p>
          <a:p>
            <a:pPr algn="l">
              <a:lnSpc>
                <a:spcPct val="145000"/>
              </a:lnSpc>
            </a:pPr>
            <a:r>
              <a:rPr sz="1000" b="0">
                <a:solidFill>
                  <a:srgbClr val="F5F1E8"/>
                </a:solidFill>
                <a:latin typeface="Calibri Light"/>
              </a:rPr>
              <a:t>  Recrutement Security Engineer</a:t>
            </a:r>
          </a:p>
          <a:p>
            <a:pPr algn="l">
              <a:lnSpc>
                <a:spcPct val="145000"/>
              </a:lnSpc>
            </a:pPr>
            <a:r>
              <a:rPr sz="1000" b="0">
                <a:solidFill>
                  <a:srgbClr val="F5F1E8"/>
                </a:solidFill>
                <a:latin typeface="Calibri Light"/>
              </a:rPr>
              <a:t>  UAV Show (Bordeaux)</a:t>
            </a:r>
          </a:p>
          <a:p>
            <a:pPr algn="l">
              <a:lnSpc>
                <a:spcPct val="145000"/>
              </a:lnSpc>
            </a:pPr>
            <a:r>
              <a:rPr sz="1000" b="0">
                <a:solidFill>
                  <a:srgbClr val="F5F1E8"/>
                </a:solidFill>
                <a:latin typeface="Calibri Light"/>
              </a:rPr>
              <a:t>  1ère étude de cas publique</a:t>
            </a:r>
          </a:p>
        </p:txBody>
      </p:sp>
      <p:sp>
        <p:nvSpPr>
          <p:cNvPr id="25" name="Rectangle 24"/>
          <p:cNvSpPr/>
          <p:nvPr/>
        </p:nvSpPr>
        <p:spPr>
          <a:xfrm>
            <a:off x="9134856" y="2743200"/>
            <a:ext cx="2697480" cy="338328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34856" y="2743200"/>
            <a:ext cx="26974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17736" y="2926080"/>
            <a:ext cx="2331720" cy="365760"/>
          </a:xfrm>
          <a:prstGeom prst="rect">
            <a:avLst/>
          </a:prstGeom>
          <a:noFill/>
        </p:spPr>
        <p:txBody>
          <a:bodyPr wrap="square" lIns="0" rIns="0" tIns="0" bIns="0" anchor="t">
            <a:spAutoFit/>
          </a:bodyPr>
          <a:lstStyle/>
          <a:p>
            <a:pPr algn="l">
              <a:lnSpc>
                <a:spcPct val="115000"/>
              </a:lnSpc>
            </a:pPr>
            <a:r>
              <a:rPr sz="1400" b="1">
                <a:solidFill>
                  <a:srgbClr val="D4A017"/>
                </a:solidFill>
                <a:latin typeface="Calibri"/>
              </a:rPr>
              <a:t>T4 2026</a:t>
            </a:r>
          </a:p>
        </p:txBody>
      </p:sp>
      <p:sp>
        <p:nvSpPr>
          <p:cNvPr id="28" name="TextBox 27"/>
          <p:cNvSpPr txBox="1"/>
          <p:nvPr/>
        </p:nvSpPr>
        <p:spPr>
          <a:xfrm>
            <a:off x="9317736" y="3291840"/>
            <a:ext cx="2331720" cy="457200"/>
          </a:xfrm>
          <a:prstGeom prst="rect">
            <a:avLst/>
          </a:prstGeom>
          <a:noFill/>
        </p:spPr>
        <p:txBody>
          <a:bodyPr wrap="square" lIns="0" rIns="0" tIns="0" bIns="0" anchor="t">
            <a:spAutoFit/>
          </a:bodyPr>
          <a:lstStyle/>
          <a:p>
            <a:pPr algn="l">
              <a:lnSpc>
                <a:spcPct val="115000"/>
              </a:lnSpc>
            </a:pPr>
            <a:r>
              <a:rPr sz="1200" b="1">
                <a:solidFill>
                  <a:srgbClr val="FFFFFF"/>
                </a:solidFill>
                <a:latin typeface="Calibri"/>
              </a:rPr>
              <a:t>Maturité produit</a:t>
            </a:r>
          </a:p>
        </p:txBody>
      </p:sp>
      <p:sp>
        <p:nvSpPr>
          <p:cNvPr id="29" name="TextBox 28"/>
          <p:cNvSpPr txBox="1"/>
          <p:nvPr/>
        </p:nvSpPr>
        <p:spPr>
          <a:xfrm>
            <a:off x="9317736" y="3840480"/>
            <a:ext cx="2331720" cy="2103120"/>
          </a:xfrm>
          <a:prstGeom prst="rect">
            <a:avLst/>
          </a:prstGeom>
          <a:noFill/>
        </p:spPr>
        <p:txBody>
          <a:bodyPr wrap="square" lIns="0" rIns="0" tIns="0" bIns="0">
            <a:spAutoFit/>
          </a:bodyPr>
          <a:lstStyle/>
          <a:p>
            <a:pPr algn="l">
              <a:lnSpc>
                <a:spcPct val="145000"/>
              </a:lnSpc>
            </a:pPr>
            <a:r>
              <a:rPr sz="1000" b="0">
                <a:solidFill>
                  <a:srgbClr val="F5F1E8"/>
                </a:solidFill>
                <a:latin typeface="Calibri Light"/>
              </a:rPr>
              <a:t>  HESIA Attest beta</a:t>
            </a:r>
          </a:p>
          <a:p>
            <a:pPr algn="l">
              <a:lnSpc>
                <a:spcPct val="145000"/>
              </a:lnSpc>
            </a:pPr>
            <a:r>
              <a:rPr sz="1000" b="0">
                <a:solidFill>
                  <a:srgbClr val="F5F1E8"/>
                </a:solidFill>
                <a:latin typeface="Calibri Light"/>
              </a:rPr>
              <a:t>  Common Criteria gap</a:t>
            </a:r>
          </a:p>
          <a:p>
            <a:pPr algn="l">
              <a:lnSpc>
                <a:spcPct val="145000"/>
              </a:lnSpc>
            </a:pPr>
            <a:r>
              <a:rPr sz="1000" b="0">
                <a:solidFill>
                  <a:srgbClr val="F5F1E8"/>
                </a:solidFill>
                <a:latin typeface="Calibri Light"/>
              </a:rPr>
              <a:t>  Bilan année + ARR ≥ 800k€</a:t>
            </a:r>
          </a:p>
          <a:p>
            <a:pPr algn="l">
              <a:lnSpc>
                <a:spcPct val="145000"/>
              </a:lnSpc>
            </a:pPr>
            <a:r>
              <a:rPr sz="1000" b="0">
                <a:solidFill>
                  <a:srgbClr val="F5F1E8"/>
                </a:solidFill>
                <a:latin typeface="Calibri Light"/>
              </a:rPr>
              <a:t>  Milipol Paris (stand)</a:t>
            </a:r>
          </a:p>
          <a:p>
            <a:pPr algn="l">
              <a:lnSpc>
                <a:spcPct val="145000"/>
              </a:lnSpc>
            </a:pPr>
            <a:r>
              <a:rPr sz="1000" b="0">
                <a:solidFill>
                  <a:srgbClr val="F5F1E8"/>
                </a:solidFill>
                <a:latin typeface="Calibri Light"/>
              </a:rPr>
              <a:t>  Préparation expansion DACH</a:t>
            </a:r>
          </a:p>
        </p:txBody>
      </p:sp>
      <p:sp>
        <p:nvSpPr>
          <p:cNvPr id="30" name="Rectangle 29"/>
          <p:cNvSpPr/>
          <p:nvPr/>
        </p:nvSpPr>
        <p:spPr>
          <a:xfrm>
            <a:off x="0" y="6629400"/>
            <a:ext cx="12191695" cy="2286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647688"/>
            <a:ext cx="3657600" cy="201168"/>
          </a:xfrm>
          <a:prstGeom prst="rect">
            <a:avLst/>
          </a:prstGeom>
          <a:noFill/>
        </p:spPr>
        <p:txBody>
          <a:bodyPr wrap="square" lIns="0" rIns="0" tIns="0" bIns="0" anchor="t">
            <a:spAutoFit/>
          </a:bodyPr>
          <a:lstStyle/>
          <a:p>
            <a:pPr algn="l">
              <a:lnSpc>
                <a:spcPct val="115000"/>
              </a:lnSpc>
            </a:pPr>
            <a:r>
              <a:rPr sz="900" b="0">
                <a:solidFill>
                  <a:srgbClr val="8A95A8"/>
                </a:solidFill>
                <a:latin typeface="Calibri Light"/>
              </a:rPr>
              <a:t>HESIA — Confidential</a:t>
            </a:r>
          </a:p>
        </p:txBody>
      </p:sp>
      <p:sp>
        <p:nvSpPr>
          <p:cNvPr id="32" name="TextBox 31"/>
          <p:cNvSpPr txBox="1"/>
          <p:nvPr/>
        </p:nvSpPr>
        <p:spPr>
          <a:xfrm>
            <a:off x="4572000" y="6647688"/>
            <a:ext cx="2743200" cy="201168"/>
          </a:xfrm>
          <a:prstGeom prst="rect">
            <a:avLst/>
          </a:prstGeom>
          <a:noFill/>
        </p:spPr>
        <p:txBody>
          <a:bodyPr wrap="square" lIns="0" rIns="0" tIns="0" bIns="0" anchor="t">
            <a:spAutoFit/>
          </a:bodyPr>
          <a:lstStyle/>
          <a:p>
            <a:pPr algn="ctr">
              <a:lnSpc>
                <a:spcPct val="115000"/>
              </a:lnSpc>
            </a:pPr>
            <a:r>
              <a:rPr sz="900" b="0">
                <a:solidFill>
                  <a:srgbClr val="8A95A8"/>
                </a:solidFill>
                <a:latin typeface="Calibri Light"/>
              </a:rPr>
              <a:t>Pitch Investisseurs · 2026</a:t>
            </a:r>
          </a:p>
        </p:txBody>
      </p:sp>
      <p:sp>
        <p:nvSpPr>
          <p:cNvPr id="33" name="TextBox 32"/>
          <p:cNvSpPr txBox="1"/>
          <p:nvPr/>
        </p:nvSpPr>
        <p:spPr>
          <a:xfrm>
            <a:off x="10058400" y="6647688"/>
            <a:ext cx="1828800" cy="201168"/>
          </a:xfrm>
          <a:prstGeom prst="rect">
            <a:avLst/>
          </a:prstGeom>
          <a:noFill/>
        </p:spPr>
        <p:txBody>
          <a:bodyPr wrap="square" lIns="0" rIns="0" tIns="0" bIns="0" anchor="t">
            <a:spAutoFit/>
          </a:bodyPr>
          <a:lstStyle/>
          <a:p>
            <a:pPr algn="r">
              <a:lnSpc>
                <a:spcPct val="115000"/>
              </a:lnSpc>
            </a:pPr>
            <a:r>
              <a:rPr sz="900" b="0">
                <a:solidFill>
                  <a:srgbClr val="8A95A8"/>
                </a:solidFill>
                <a:latin typeface="Calibri Light"/>
              </a:rPr>
              <a:t>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365760" y="274320"/>
            <a:ext cx="411480" cy="411480"/>
          </a:xfrm>
          <a:prstGeom prst="hexagon">
            <a:avLst/>
          </a:prstGeom>
          <a:noFill/>
          <a:ln w="1905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411480" cy="411480"/>
          </a:xfrm>
          <a:prstGeom prst="rect">
            <a:avLst/>
          </a:prstGeom>
          <a:noFill/>
        </p:spPr>
        <p:txBody>
          <a:bodyPr wrap="none" lIns="0" rIns="0" tIns="0" bIns="0" anchor="ctr">
            <a:spAutoFit/>
          </a:bodyPr>
          <a:lstStyle/>
          <a:p>
            <a:pPr algn="ctr"/>
            <a:r>
              <a:rPr b="1" sz="1700">
                <a:solidFill>
                  <a:srgbClr val="D4A017"/>
                </a:solidFill>
                <a:latin typeface="Calibri"/>
              </a:rPr>
              <a:t>H</a:t>
            </a:r>
          </a:p>
        </p:txBody>
      </p:sp>
      <p:sp>
        <p:nvSpPr>
          <p:cNvPr id="5" name="TextBox 4"/>
          <p:cNvSpPr txBox="1"/>
          <p:nvPr/>
        </p:nvSpPr>
        <p:spPr>
          <a:xfrm>
            <a:off x="868680" y="292608"/>
            <a:ext cx="1828800" cy="365760"/>
          </a:xfrm>
          <a:prstGeom prst="rect">
            <a:avLst/>
          </a:prstGeom>
          <a:noFill/>
        </p:spPr>
        <p:txBody>
          <a:bodyPr wrap="square" lIns="0" rIns="0" tIns="0" bIns="0" anchor="t">
            <a:spAutoFit/>
          </a:bodyPr>
          <a:lstStyle/>
          <a:p>
            <a:pPr algn="l">
              <a:lnSpc>
                <a:spcPct val="115000"/>
              </a:lnSpc>
            </a:pPr>
            <a:r>
              <a:rPr sz="1600" b="1">
                <a:solidFill>
                  <a:srgbClr val="FFFFFF"/>
                </a:solidFill>
                <a:latin typeface="Calibri"/>
              </a:rPr>
              <a:t>HESIA</a:t>
            </a:r>
          </a:p>
        </p:txBody>
      </p:sp>
      <p:sp>
        <p:nvSpPr>
          <p:cNvPr id="6" name="TextBox 5"/>
          <p:cNvSpPr txBox="1"/>
          <p:nvPr/>
        </p:nvSpPr>
        <p:spPr>
          <a:xfrm>
            <a:off x="548640" y="868680"/>
            <a:ext cx="7315200" cy="32004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CONCURRENCE</a:t>
            </a:r>
          </a:p>
        </p:txBody>
      </p:sp>
      <p:sp>
        <p:nvSpPr>
          <p:cNvPr id="7" name="TextBox 6"/>
          <p:cNvSpPr txBox="1"/>
          <p:nvPr/>
        </p:nvSpPr>
        <p:spPr>
          <a:xfrm>
            <a:off x="548640" y="1188720"/>
            <a:ext cx="10972800" cy="822960"/>
          </a:xfrm>
          <a:prstGeom prst="rect">
            <a:avLst/>
          </a:prstGeom>
          <a:noFill/>
        </p:spPr>
        <p:txBody>
          <a:bodyPr wrap="square" lIns="0" rIns="0" tIns="0" bIns="0" anchor="t">
            <a:spAutoFit/>
          </a:bodyPr>
          <a:lstStyle/>
          <a:p>
            <a:pPr algn="l">
              <a:lnSpc>
                <a:spcPct val="115000"/>
              </a:lnSpc>
            </a:pPr>
            <a:r>
              <a:rPr sz="3200" b="1">
                <a:solidFill>
                  <a:srgbClr val="FFFFFF"/>
                </a:solidFill>
                <a:latin typeface="Calibri"/>
              </a:rPr>
              <a:t>Notre place sur l'échiquier — un trou dans le marché.</a:t>
            </a:r>
          </a:p>
        </p:txBody>
      </p:sp>
      <p:sp>
        <p:nvSpPr>
          <p:cNvPr id="8" name="Rectangle 7"/>
          <p:cNvSpPr/>
          <p:nvPr/>
        </p:nvSpPr>
        <p:spPr>
          <a:xfrm>
            <a:off x="548640" y="1965960"/>
            <a:ext cx="6400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194560"/>
            <a:ext cx="10972800" cy="457200"/>
          </a:xfrm>
          <a:prstGeom prst="rect">
            <a:avLst/>
          </a:prstGeom>
          <a:noFill/>
        </p:spPr>
        <p:txBody>
          <a:bodyPr wrap="square" lIns="0" rIns="0" tIns="0" bIns="0" anchor="t">
            <a:spAutoFit/>
          </a:bodyPr>
          <a:lstStyle/>
          <a:p>
            <a:pPr algn="l">
              <a:lnSpc>
                <a:spcPct val="115000"/>
              </a:lnSpc>
            </a:pPr>
            <a:r>
              <a:rPr sz="1400" b="0">
                <a:solidFill>
                  <a:srgbClr val="F5F1E8"/>
                </a:solidFill>
                <a:latin typeface="Calibri Light"/>
              </a:rPr>
              <a:t>HESIA n'est pas un fabricant de drones, ni un cabinet de conseil cyber. C'est l'éditeur logiciel souverain manquant.</a:t>
            </a:r>
          </a:p>
        </p:txBody>
      </p:sp>
      <p:sp>
        <p:nvSpPr>
          <p:cNvPr id="10" name="Rectangle 9"/>
          <p:cNvSpPr/>
          <p:nvPr/>
        </p:nvSpPr>
        <p:spPr>
          <a:xfrm>
            <a:off x="548640" y="2788920"/>
            <a:ext cx="11064240" cy="41148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880360"/>
            <a:ext cx="2560320" cy="274320"/>
          </a:xfrm>
          <a:prstGeom prst="rect">
            <a:avLst/>
          </a:prstGeom>
          <a:noFill/>
        </p:spPr>
        <p:txBody>
          <a:bodyPr wrap="square" lIns="0" rIns="0" tIns="0" bIns="0" anchor="t">
            <a:spAutoFit/>
          </a:bodyPr>
          <a:lstStyle/>
          <a:p>
            <a:pPr algn="l">
              <a:lnSpc>
                <a:spcPct val="115000"/>
              </a:lnSpc>
            </a:pPr>
            <a:r>
              <a:rPr sz="1100" b="1">
                <a:solidFill>
                  <a:srgbClr val="D4A017"/>
                </a:solidFill>
                <a:latin typeface="Calibri"/>
              </a:rPr>
              <a:t>Acteur</a:t>
            </a:r>
          </a:p>
        </p:txBody>
      </p:sp>
      <p:sp>
        <p:nvSpPr>
          <p:cNvPr id="12" name="TextBox 11"/>
          <p:cNvSpPr txBox="1"/>
          <p:nvPr/>
        </p:nvSpPr>
        <p:spPr>
          <a:xfrm>
            <a:off x="3429000" y="2880360"/>
            <a:ext cx="1508760" cy="274320"/>
          </a:xfrm>
          <a:prstGeom prst="rect">
            <a:avLst/>
          </a:prstGeom>
          <a:noFill/>
        </p:spPr>
        <p:txBody>
          <a:bodyPr wrap="square" lIns="0" rIns="0" tIns="0" bIns="0" anchor="t">
            <a:spAutoFit/>
          </a:bodyPr>
          <a:lstStyle/>
          <a:p>
            <a:pPr algn="l">
              <a:lnSpc>
                <a:spcPct val="115000"/>
              </a:lnSpc>
            </a:pPr>
            <a:r>
              <a:rPr sz="1100" b="1">
                <a:solidFill>
                  <a:srgbClr val="D4A017"/>
                </a:solidFill>
                <a:latin typeface="Calibri"/>
              </a:rPr>
              <a:t>Origine</a:t>
            </a:r>
          </a:p>
        </p:txBody>
      </p:sp>
      <p:sp>
        <p:nvSpPr>
          <p:cNvPr id="13" name="TextBox 12"/>
          <p:cNvSpPr txBox="1"/>
          <p:nvPr/>
        </p:nvSpPr>
        <p:spPr>
          <a:xfrm>
            <a:off x="5120640" y="2880360"/>
            <a:ext cx="1645920" cy="274320"/>
          </a:xfrm>
          <a:prstGeom prst="rect">
            <a:avLst/>
          </a:prstGeom>
          <a:noFill/>
        </p:spPr>
        <p:txBody>
          <a:bodyPr wrap="square" lIns="0" rIns="0" tIns="0" bIns="0" anchor="t">
            <a:spAutoFit/>
          </a:bodyPr>
          <a:lstStyle/>
          <a:p>
            <a:pPr algn="l">
              <a:lnSpc>
                <a:spcPct val="115000"/>
              </a:lnSpc>
            </a:pPr>
            <a:r>
              <a:rPr sz="1100" b="1">
                <a:solidFill>
                  <a:srgbClr val="D4A017"/>
                </a:solidFill>
                <a:latin typeface="Calibri"/>
              </a:rPr>
              <a:t>Approche</a:t>
            </a:r>
          </a:p>
        </p:txBody>
      </p:sp>
      <p:sp>
        <p:nvSpPr>
          <p:cNvPr id="14" name="TextBox 13"/>
          <p:cNvSpPr txBox="1"/>
          <p:nvPr/>
        </p:nvSpPr>
        <p:spPr>
          <a:xfrm>
            <a:off x="6949440" y="2880360"/>
            <a:ext cx="1920240" cy="274320"/>
          </a:xfrm>
          <a:prstGeom prst="rect">
            <a:avLst/>
          </a:prstGeom>
          <a:noFill/>
        </p:spPr>
        <p:txBody>
          <a:bodyPr wrap="square" lIns="0" rIns="0" tIns="0" bIns="0" anchor="t">
            <a:spAutoFit/>
          </a:bodyPr>
          <a:lstStyle/>
          <a:p>
            <a:pPr algn="l">
              <a:lnSpc>
                <a:spcPct val="115000"/>
              </a:lnSpc>
            </a:pPr>
            <a:r>
              <a:rPr sz="1100" b="1">
                <a:solidFill>
                  <a:srgbClr val="D4A017"/>
                </a:solidFill>
                <a:latin typeface="Calibri"/>
              </a:rPr>
              <a:t>PQC natif</a:t>
            </a:r>
          </a:p>
        </p:txBody>
      </p:sp>
      <p:sp>
        <p:nvSpPr>
          <p:cNvPr id="15" name="TextBox 14"/>
          <p:cNvSpPr txBox="1"/>
          <p:nvPr/>
        </p:nvSpPr>
        <p:spPr>
          <a:xfrm>
            <a:off x="9052560" y="2880360"/>
            <a:ext cx="2514600" cy="274320"/>
          </a:xfrm>
          <a:prstGeom prst="rect">
            <a:avLst/>
          </a:prstGeom>
          <a:noFill/>
        </p:spPr>
        <p:txBody>
          <a:bodyPr wrap="square" lIns="0" rIns="0" tIns="0" bIns="0" anchor="t">
            <a:spAutoFit/>
          </a:bodyPr>
          <a:lstStyle/>
          <a:p>
            <a:pPr algn="l">
              <a:lnSpc>
                <a:spcPct val="115000"/>
              </a:lnSpc>
            </a:pPr>
            <a:r>
              <a:rPr sz="1100" b="1">
                <a:solidFill>
                  <a:srgbClr val="D4A017"/>
                </a:solidFill>
                <a:latin typeface="Calibri"/>
              </a:rPr>
              <a:t>Souveraineté UE</a:t>
            </a:r>
          </a:p>
        </p:txBody>
      </p:sp>
      <p:sp>
        <p:nvSpPr>
          <p:cNvPr id="16" name="Rectangle 15"/>
          <p:cNvSpPr/>
          <p:nvPr/>
        </p:nvSpPr>
        <p:spPr>
          <a:xfrm>
            <a:off x="548640" y="3200400"/>
            <a:ext cx="11064240" cy="45720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319272"/>
            <a:ext cx="256032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Light"/>
              </a:rPr>
              <a:t>Skydio Defense</a:t>
            </a:r>
          </a:p>
        </p:txBody>
      </p:sp>
      <p:sp>
        <p:nvSpPr>
          <p:cNvPr id="18" name="TextBox 17"/>
          <p:cNvSpPr txBox="1"/>
          <p:nvPr/>
        </p:nvSpPr>
        <p:spPr>
          <a:xfrm>
            <a:off x="3429000" y="3319272"/>
            <a:ext cx="150876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 USA</a:t>
            </a:r>
          </a:p>
        </p:txBody>
      </p:sp>
      <p:sp>
        <p:nvSpPr>
          <p:cNvPr id="19" name="TextBox 18"/>
          <p:cNvSpPr txBox="1"/>
          <p:nvPr/>
        </p:nvSpPr>
        <p:spPr>
          <a:xfrm>
            <a:off x="5120640" y="3319272"/>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HW + SW intégré</a:t>
            </a:r>
          </a:p>
        </p:txBody>
      </p:sp>
      <p:sp>
        <p:nvSpPr>
          <p:cNvPr id="20" name="TextBox 19"/>
          <p:cNvSpPr txBox="1"/>
          <p:nvPr/>
        </p:nvSpPr>
        <p:spPr>
          <a:xfrm>
            <a:off x="6949440" y="3319272"/>
            <a:ext cx="192024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Roadmap</a:t>
            </a:r>
          </a:p>
        </p:txBody>
      </p:sp>
      <p:sp>
        <p:nvSpPr>
          <p:cNvPr id="21" name="TextBox 20"/>
          <p:cNvSpPr txBox="1"/>
          <p:nvPr/>
        </p:nvSpPr>
        <p:spPr>
          <a:xfrm>
            <a:off x="9052560" y="3319272"/>
            <a:ext cx="251460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Non (ITAR)</a:t>
            </a:r>
          </a:p>
        </p:txBody>
      </p:sp>
      <p:sp>
        <p:nvSpPr>
          <p:cNvPr id="22" name="Rectangle 21"/>
          <p:cNvSpPr/>
          <p:nvPr/>
        </p:nvSpPr>
        <p:spPr>
          <a:xfrm>
            <a:off x="548640" y="3657600"/>
            <a:ext cx="11064240" cy="4572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776472"/>
            <a:ext cx="256032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Light"/>
              </a:rPr>
              <a:t>Anduril</a:t>
            </a:r>
          </a:p>
        </p:txBody>
      </p:sp>
      <p:sp>
        <p:nvSpPr>
          <p:cNvPr id="24" name="TextBox 23"/>
          <p:cNvSpPr txBox="1"/>
          <p:nvPr/>
        </p:nvSpPr>
        <p:spPr>
          <a:xfrm>
            <a:off x="3429000" y="3776472"/>
            <a:ext cx="150876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 USA</a:t>
            </a:r>
          </a:p>
        </p:txBody>
      </p:sp>
      <p:sp>
        <p:nvSpPr>
          <p:cNvPr id="25" name="TextBox 24"/>
          <p:cNvSpPr txBox="1"/>
          <p:nvPr/>
        </p:nvSpPr>
        <p:spPr>
          <a:xfrm>
            <a:off x="5120640" y="3776472"/>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HW + SW + IA</a:t>
            </a:r>
          </a:p>
        </p:txBody>
      </p:sp>
      <p:sp>
        <p:nvSpPr>
          <p:cNvPr id="26" name="TextBox 25"/>
          <p:cNvSpPr txBox="1"/>
          <p:nvPr/>
        </p:nvSpPr>
        <p:spPr>
          <a:xfrm>
            <a:off x="6949440" y="3776472"/>
            <a:ext cx="192024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Roadmap</a:t>
            </a:r>
          </a:p>
        </p:txBody>
      </p:sp>
      <p:sp>
        <p:nvSpPr>
          <p:cNvPr id="27" name="TextBox 26"/>
          <p:cNvSpPr txBox="1"/>
          <p:nvPr/>
        </p:nvSpPr>
        <p:spPr>
          <a:xfrm>
            <a:off x="9052560" y="3776472"/>
            <a:ext cx="251460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Non</a:t>
            </a:r>
          </a:p>
        </p:txBody>
      </p:sp>
      <p:sp>
        <p:nvSpPr>
          <p:cNvPr id="28" name="Rectangle 27"/>
          <p:cNvSpPr/>
          <p:nvPr/>
        </p:nvSpPr>
        <p:spPr>
          <a:xfrm>
            <a:off x="548640" y="4114800"/>
            <a:ext cx="11064240" cy="45720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233672"/>
            <a:ext cx="256032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Light"/>
              </a:rPr>
              <a:t>Parrot</a:t>
            </a:r>
          </a:p>
        </p:txBody>
      </p:sp>
      <p:sp>
        <p:nvSpPr>
          <p:cNvPr id="30" name="TextBox 29"/>
          <p:cNvSpPr txBox="1"/>
          <p:nvPr/>
        </p:nvSpPr>
        <p:spPr>
          <a:xfrm>
            <a:off x="3429000" y="4233672"/>
            <a:ext cx="150876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 France</a:t>
            </a:r>
          </a:p>
        </p:txBody>
      </p:sp>
      <p:sp>
        <p:nvSpPr>
          <p:cNvPr id="31" name="TextBox 30"/>
          <p:cNvSpPr txBox="1"/>
          <p:nvPr/>
        </p:nvSpPr>
        <p:spPr>
          <a:xfrm>
            <a:off x="5120640" y="4233672"/>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HW grand public + pro</a:t>
            </a:r>
          </a:p>
        </p:txBody>
      </p:sp>
      <p:sp>
        <p:nvSpPr>
          <p:cNvPr id="32" name="TextBox 31"/>
          <p:cNvSpPr txBox="1"/>
          <p:nvPr/>
        </p:nvSpPr>
        <p:spPr>
          <a:xfrm>
            <a:off x="6949440" y="4233672"/>
            <a:ext cx="192024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Partiel</a:t>
            </a:r>
          </a:p>
        </p:txBody>
      </p:sp>
      <p:sp>
        <p:nvSpPr>
          <p:cNvPr id="33" name="TextBox 32"/>
          <p:cNvSpPr txBox="1"/>
          <p:nvPr/>
        </p:nvSpPr>
        <p:spPr>
          <a:xfrm>
            <a:off x="9052560" y="4233672"/>
            <a:ext cx="251460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Partielle</a:t>
            </a:r>
          </a:p>
        </p:txBody>
      </p:sp>
      <p:sp>
        <p:nvSpPr>
          <p:cNvPr id="34" name="Rectangle 33"/>
          <p:cNvSpPr/>
          <p:nvPr/>
        </p:nvSpPr>
        <p:spPr>
          <a:xfrm>
            <a:off x="548640" y="4572000"/>
            <a:ext cx="11064240" cy="4572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4690872"/>
            <a:ext cx="256032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Light"/>
              </a:rPr>
              <a:t>Quantum Systems</a:t>
            </a:r>
          </a:p>
        </p:txBody>
      </p:sp>
      <p:sp>
        <p:nvSpPr>
          <p:cNvPr id="36" name="TextBox 35"/>
          <p:cNvSpPr txBox="1"/>
          <p:nvPr/>
        </p:nvSpPr>
        <p:spPr>
          <a:xfrm>
            <a:off x="3429000" y="4690872"/>
            <a:ext cx="150876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 Allemagne</a:t>
            </a:r>
          </a:p>
        </p:txBody>
      </p:sp>
      <p:sp>
        <p:nvSpPr>
          <p:cNvPr id="37" name="TextBox 36"/>
          <p:cNvSpPr txBox="1"/>
          <p:nvPr/>
        </p:nvSpPr>
        <p:spPr>
          <a:xfrm>
            <a:off x="5120640" y="4690872"/>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HW reconnaissance</a:t>
            </a:r>
          </a:p>
        </p:txBody>
      </p:sp>
      <p:sp>
        <p:nvSpPr>
          <p:cNvPr id="38" name="TextBox 37"/>
          <p:cNvSpPr txBox="1"/>
          <p:nvPr/>
        </p:nvSpPr>
        <p:spPr>
          <a:xfrm>
            <a:off x="6949440" y="4690872"/>
            <a:ext cx="192024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Pas de claim public</a:t>
            </a:r>
          </a:p>
        </p:txBody>
      </p:sp>
      <p:sp>
        <p:nvSpPr>
          <p:cNvPr id="39" name="TextBox 38"/>
          <p:cNvSpPr txBox="1"/>
          <p:nvPr/>
        </p:nvSpPr>
        <p:spPr>
          <a:xfrm>
            <a:off x="9052560" y="4690872"/>
            <a:ext cx="251460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Oui</a:t>
            </a:r>
          </a:p>
        </p:txBody>
      </p:sp>
      <p:sp>
        <p:nvSpPr>
          <p:cNvPr id="40" name="Rectangle 39"/>
          <p:cNvSpPr/>
          <p:nvPr/>
        </p:nvSpPr>
        <p:spPr>
          <a:xfrm>
            <a:off x="548640" y="5029200"/>
            <a:ext cx="11064240" cy="45720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5148072"/>
            <a:ext cx="256032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Light"/>
              </a:rPr>
              <a:t>Elbit / IAI</a:t>
            </a:r>
          </a:p>
        </p:txBody>
      </p:sp>
      <p:sp>
        <p:nvSpPr>
          <p:cNvPr id="42" name="TextBox 41"/>
          <p:cNvSpPr txBox="1"/>
          <p:nvPr/>
        </p:nvSpPr>
        <p:spPr>
          <a:xfrm>
            <a:off x="3429000" y="5148072"/>
            <a:ext cx="150876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 Israël</a:t>
            </a:r>
          </a:p>
        </p:txBody>
      </p:sp>
      <p:sp>
        <p:nvSpPr>
          <p:cNvPr id="43" name="TextBox 42"/>
          <p:cNvSpPr txBox="1"/>
          <p:nvPr/>
        </p:nvSpPr>
        <p:spPr>
          <a:xfrm>
            <a:off x="5120640" y="5148072"/>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HW défense intégré</a:t>
            </a:r>
          </a:p>
        </p:txBody>
      </p:sp>
      <p:sp>
        <p:nvSpPr>
          <p:cNvPr id="44" name="TextBox 43"/>
          <p:cNvSpPr txBox="1"/>
          <p:nvPr/>
        </p:nvSpPr>
        <p:spPr>
          <a:xfrm>
            <a:off x="6949440" y="5148072"/>
            <a:ext cx="192024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Roadmap</a:t>
            </a:r>
          </a:p>
        </p:txBody>
      </p:sp>
      <p:sp>
        <p:nvSpPr>
          <p:cNvPr id="45" name="TextBox 44"/>
          <p:cNvSpPr txBox="1"/>
          <p:nvPr/>
        </p:nvSpPr>
        <p:spPr>
          <a:xfrm>
            <a:off x="9052560" y="5148072"/>
            <a:ext cx="251460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Non</a:t>
            </a:r>
          </a:p>
        </p:txBody>
      </p:sp>
      <p:sp>
        <p:nvSpPr>
          <p:cNvPr id="46" name="Rectangle 45"/>
          <p:cNvSpPr/>
          <p:nvPr/>
        </p:nvSpPr>
        <p:spPr>
          <a:xfrm>
            <a:off x="548640" y="5486400"/>
            <a:ext cx="11064240" cy="45720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5605272"/>
            <a:ext cx="2560320" cy="274320"/>
          </a:xfrm>
          <a:prstGeom prst="rect">
            <a:avLst/>
          </a:prstGeom>
          <a:noFill/>
        </p:spPr>
        <p:txBody>
          <a:bodyPr wrap="square" lIns="0" rIns="0" tIns="0" bIns="0" anchor="t">
            <a:spAutoFit/>
          </a:bodyPr>
          <a:lstStyle/>
          <a:p>
            <a:pPr algn="l">
              <a:lnSpc>
                <a:spcPct val="115000"/>
              </a:lnSpc>
            </a:pPr>
            <a:r>
              <a:rPr sz="1100" b="1">
                <a:solidFill>
                  <a:srgbClr val="0B2545"/>
                </a:solidFill>
                <a:latin typeface="Calibri Light"/>
              </a:rPr>
              <a:t>HESIA</a:t>
            </a:r>
          </a:p>
        </p:txBody>
      </p:sp>
      <p:sp>
        <p:nvSpPr>
          <p:cNvPr id="48" name="TextBox 47"/>
          <p:cNvSpPr txBox="1"/>
          <p:nvPr/>
        </p:nvSpPr>
        <p:spPr>
          <a:xfrm>
            <a:off x="3429000" y="5605272"/>
            <a:ext cx="1508760" cy="274320"/>
          </a:xfrm>
          <a:prstGeom prst="rect">
            <a:avLst/>
          </a:prstGeom>
          <a:noFill/>
        </p:spPr>
        <p:txBody>
          <a:bodyPr wrap="square" lIns="0" rIns="0" tIns="0" bIns="0" anchor="t">
            <a:spAutoFit/>
          </a:bodyPr>
          <a:lstStyle/>
          <a:p>
            <a:pPr algn="l">
              <a:lnSpc>
                <a:spcPct val="115000"/>
              </a:lnSpc>
            </a:pPr>
            <a:r>
              <a:rPr sz="1100" b="1">
                <a:solidFill>
                  <a:srgbClr val="0B2545"/>
                </a:solidFill>
                <a:latin typeface="Calibri Light"/>
              </a:rPr>
              <a:t>🇫🇷 → 🇪🇺</a:t>
            </a:r>
          </a:p>
        </p:txBody>
      </p:sp>
      <p:sp>
        <p:nvSpPr>
          <p:cNvPr id="49" name="TextBox 48"/>
          <p:cNvSpPr txBox="1"/>
          <p:nvPr/>
        </p:nvSpPr>
        <p:spPr>
          <a:xfrm>
            <a:off x="5120640" y="5605272"/>
            <a:ext cx="1645920" cy="274320"/>
          </a:xfrm>
          <a:prstGeom prst="rect">
            <a:avLst/>
          </a:prstGeom>
          <a:noFill/>
        </p:spPr>
        <p:txBody>
          <a:bodyPr wrap="square" lIns="0" rIns="0" tIns="0" bIns="0" anchor="t">
            <a:spAutoFit/>
          </a:bodyPr>
          <a:lstStyle/>
          <a:p>
            <a:pPr algn="l">
              <a:lnSpc>
                <a:spcPct val="115000"/>
              </a:lnSpc>
            </a:pPr>
            <a:r>
              <a:rPr sz="1100" b="1">
                <a:solidFill>
                  <a:srgbClr val="0B2545"/>
                </a:solidFill>
                <a:latin typeface="Calibri Light"/>
              </a:rPr>
              <a:t>SW horizontal embarqué</a:t>
            </a:r>
          </a:p>
        </p:txBody>
      </p:sp>
      <p:sp>
        <p:nvSpPr>
          <p:cNvPr id="50" name="TextBox 49"/>
          <p:cNvSpPr txBox="1"/>
          <p:nvPr/>
        </p:nvSpPr>
        <p:spPr>
          <a:xfrm>
            <a:off x="6949440" y="5605272"/>
            <a:ext cx="1920240" cy="274320"/>
          </a:xfrm>
          <a:prstGeom prst="rect">
            <a:avLst/>
          </a:prstGeom>
          <a:noFill/>
        </p:spPr>
        <p:txBody>
          <a:bodyPr wrap="square" lIns="0" rIns="0" tIns="0" bIns="0" anchor="t">
            <a:spAutoFit/>
          </a:bodyPr>
          <a:lstStyle/>
          <a:p>
            <a:pPr algn="l">
              <a:lnSpc>
                <a:spcPct val="115000"/>
              </a:lnSpc>
            </a:pPr>
            <a:r>
              <a:rPr sz="1100" b="1">
                <a:solidFill>
                  <a:srgbClr val="0B2545"/>
                </a:solidFill>
                <a:latin typeface="Calibri Light"/>
              </a:rPr>
              <a:t>Natif</a:t>
            </a:r>
          </a:p>
        </p:txBody>
      </p:sp>
      <p:sp>
        <p:nvSpPr>
          <p:cNvPr id="51" name="TextBox 50"/>
          <p:cNvSpPr txBox="1"/>
          <p:nvPr/>
        </p:nvSpPr>
        <p:spPr>
          <a:xfrm>
            <a:off x="9052560" y="5605272"/>
            <a:ext cx="2514600" cy="274320"/>
          </a:xfrm>
          <a:prstGeom prst="rect">
            <a:avLst/>
          </a:prstGeom>
          <a:noFill/>
        </p:spPr>
        <p:txBody>
          <a:bodyPr wrap="square" lIns="0" rIns="0" tIns="0" bIns="0" anchor="t">
            <a:spAutoFit/>
          </a:bodyPr>
          <a:lstStyle/>
          <a:p>
            <a:pPr algn="l">
              <a:lnSpc>
                <a:spcPct val="115000"/>
              </a:lnSpc>
            </a:pPr>
            <a:r>
              <a:rPr sz="1100" b="1">
                <a:solidFill>
                  <a:srgbClr val="0B2545"/>
                </a:solidFill>
                <a:latin typeface="Calibri Light"/>
              </a:rPr>
              <a:t>Native</a:t>
            </a:r>
          </a:p>
        </p:txBody>
      </p:sp>
      <p:sp>
        <p:nvSpPr>
          <p:cNvPr id="52" name="Rectangle 51"/>
          <p:cNvSpPr/>
          <p:nvPr/>
        </p:nvSpPr>
        <p:spPr>
          <a:xfrm>
            <a:off x="0" y="6629400"/>
            <a:ext cx="12191695" cy="2286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65760" y="6647688"/>
            <a:ext cx="3657600" cy="201168"/>
          </a:xfrm>
          <a:prstGeom prst="rect">
            <a:avLst/>
          </a:prstGeom>
          <a:noFill/>
        </p:spPr>
        <p:txBody>
          <a:bodyPr wrap="square" lIns="0" rIns="0" tIns="0" bIns="0" anchor="t">
            <a:spAutoFit/>
          </a:bodyPr>
          <a:lstStyle/>
          <a:p>
            <a:pPr algn="l">
              <a:lnSpc>
                <a:spcPct val="115000"/>
              </a:lnSpc>
            </a:pPr>
            <a:r>
              <a:rPr sz="900" b="0">
                <a:solidFill>
                  <a:srgbClr val="8A95A8"/>
                </a:solidFill>
                <a:latin typeface="Calibri Light"/>
              </a:rPr>
              <a:t>HESIA — Confidential</a:t>
            </a:r>
          </a:p>
        </p:txBody>
      </p:sp>
      <p:sp>
        <p:nvSpPr>
          <p:cNvPr id="54" name="TextBox 53"/>
          <p:cNvSpPr txBox="1"/>
          <p:nvPr/>
        </p:nvSpPr>
        <p:spPr>
          <a:xfrm>
            <a:off x="4572000" y="6647688"/>
            <a:ext cx="2743200" cy="201168"/>
          </a:xfrm>
          <a:prstGeom prst="rect">
            <a:avLst/>
          </a:prstGeom>
          <a:noFill/>
        </p:spPr>
        <p:txBody>
          <a:bodyPr wrap="square" lIns="0" rIns="0" tIns="0" bIns="0" anchor="t">
            <a:spAutoFit/>
          </a:bodyPr>
          <a:lstStyle/>
          <a:p>
            <a:pPr algn="ctr">
              <a:lnSpc>
                <a:spcPct val="115000"/>
              </a:lnSpc>
            </a:pPr>
            <a:r>
              <a:rPr sz="900" b="0">
                <a:solidFill>
                  <a:srgbClr val="8A95A8"/>
                </a:solidFill>
                <a:latin typeface="Calibri Light"/>
              </a:rPr>
              <a:t>Pitch Investisseurs · 2026</a:t>
            </a:r>
          </a:p>
        </p:txBody>
      </p:sp>
      <p:sp>
        <p:nvSpPr>
          <p:cNvPr id="55" name="TextBox 54"/>
          <p:cNvSpPr txBox="1"/>
          <p:nvPr/>
        </p:nvSpPr>
        <p:spPr>
          <a:xfrm>
            <a:off x="10058400" y="6647688"/>
            <a:ext cx="1828800" cy="201168"/>
          </a:xfrm>
          <a:prstGeom prst="rect">
            <a:avLst/>
          </a:prstGeom>
          <a:noFill/>
        </p:spPr>
        <p:txBody>
          <a:bodyPr wrap="square" lIns="0" rIns="0" tIns="0" bIns="0" anchor="t">
            <a:spAutoFit/>
          </a:bodyPr>
          <a:lstStyle/>
          <a:p>
            <a:pPr algn="r">
              <a:lnSpc>
                <a:spcPct val="115000"/>
              </a:lnSpc>
            </a:pPr>
            <a:r>
              <a:rPr sz="900" b="0">
                <a:solidFill>
                  <a:srgbClr val="8A95A8"/>
                </a:solidFill>
                <a:latin typeface="Calibri Light"/>
              </a:rPr>
              <a:t>12 /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365760" y="274320"/>
            <a:ext cx="411480" cy="411480"/>
          </a:xfrm>
          <a:prstGeom prst="hexagon">
            <a:avLst/>
          </a:prstGeom>
          <a:noFill/>
          <a:ln w="1905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411480" cy="411480"/>
          </a:xfrm>
          <a:prstGeom prst="rect">
            <a:avLst/>
          </a:prstGeom>
          <a:noFill/>
        </p:spPr>
        <p:txBody>
          <a:bodyPr wrap="none" lIns="0" rIns="0" tIns="0" bIns="0" anchor="ctr">
            <a:spAutoFit/>
          </a:bodyPr>
          <a:lstStyle/>
          <a:p>
            <a:pPr algn="ctr"/>
            <a:r>
              <a:rPr b="1" sz="1700">
                <a:solidFill>
                  <a:srgbClr val="D4A017"/>
                </a:solidFill>
                <a:latin typeface="Calibri"/>
              </a:rPr>
              <a:t>H</a:t>
            </a:r>
          </a:p>
        </p:txBody>
      </p:sp>
      <p:sp>
        <p:nvSpPr>
          <p:cNvPr id="5" name="TextBox 4"/>
          <p:cNvSpPr txBox="1"/>
          <p:nvPr/>
        </p:nvSpPr>
        <p:spPr>
          <a:xfrm>
            <a:off x="868680" y="292608"/>
            <a:ext cx="1828800" cy="365760"/>
          </a:xfrm>
          <a:prstGeom prst="rect">
            <a:avLst/>
          </a:prstGeom>
          <a:noFill/>
        </p:spPr>
        <p:txBody>
          <a:bodyPr wrap="square" lIns="0" rIns="0" tIns="0" bIns="0" anchor="t">
            <a:spAutoFit/>
          </a:bodyPr>
          <a:lstStyle/>
          <a:p>
            <a:pPr algn="l">
              <a:lnSpc>
                <a:spcPct val="115000"/>
              </a:lnSpc>
            </a:pPr>
            <a:r>
              <a:rPr sz="1600" b="1">
                <a:solidFill>
                  <a:srgbClr val="FFFFFF"/>
                </a:solidFill>
                <a:latin typeface="Calibri"/>
              </a:rPr>
              <a:t>HESIA</a:t>
            </a:r>
          </a:p>
        </p:txBody>
      </p:sp>
      <p:sp>
        <p:nvSpPr>
          <p:cNvPr id="6" name="TextBox 5"/>
          <p:cNvSpPr txBox="1"/>
          <p:nvPr/>
        </p:nvSpPr>
        <p:spPr>
          <a:xfrm>
            <a:off x="548640" y="868680"/>
            <a:ext cx="7315200" cy="32004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ÉQUIPE</a:t>
            </a:r>
          </a:p>
        </p:txBody>
      </p:sp>
      <p:sp>
        <p:nvSpPr>
          <p:cNvPr id="7" name="TextBox 6"/>
          <p:cNvSpPr txBox="1"/>
          <p:nvPr/>
        </p:nvSpPr>
        <p:spPr>
          <a:xfrm>
            <a:off x="548640" y="1188720"/>
            <a:ext cx="10972800" cy="822960"/>
          </a:xfrm>
          <a:prstGeom prst="rect">
            <a:avLst/>
          </a:prstGeom>
          <a:noFill/>
        </p:spPr>
        <p:txBody>
          <a:bodyPr wrap="square" lIns="0" rIns="0" tIns="0" bIns="0" anchor="t">
            <a:spAutoFit/>
          </a:bodyPr>
          <a:lstStyle/>
          <a:p>
            <a:pPr algn="l">
              <a:lnSpc>
                <a:spcPct val="115000"/>
              </a:lnSpc>
            </a:pPr>
            <a:r>
              <a:rPr sz="3200" b="1">
                <a:solidFill>
                  <a:srgbClr val="FFFFFF"/>
                </a:solidFill>
                <a:latin typeface="Calibri"/>
              </a:rPr>
              <a:t>Profils techniques rares — combinaison unique cyber + embarqué + UE.</a:t>
            </a:r>
          </a:p>
        </p:txBody>
      </p:sp>
      <p:sp>
        <p:nvSpPr>
          <p:cNvPr id="8" name="Rectangle 7"/>
          <p:cNvSpPr/>
          <p:nvPr/>
        </p:nvSpPr>
        <p:spPr>
          <a:xfrm>
            <a:off x="548640" y="1965960"/>
            <a:ext cx="6400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194560"/>
            <a:ext cx="10972800" cy="457200"/>
          </a:xfrm>
          <a:prstGeom prst="rect">
            <a:avLst/>
          </a:prstGeom>
          <a:noFill/>
        </p:spPr>
        <p:txBody>
          <a:bodyPr wrap="square" lIns="0" rIns="0" tIns="0" bIns="0" anchor="t">
            <a:spAutoFit/>
          </a:bodyPr>
          <a:lstStyle/>
          <a:p>
            <a:pPr algn="l">
              <a:lnSpc>
                <a:spcPct val="115000"/>
              </a:lnSpc>
            </a:pPr>
            <a:r>
              <a:rPr sz="1400" b="0">
                <a:solidFill>
                  <a:srgbClr val="F5F1E8"/>
                </a:solidFill>
                <a:latin typeface="Calibri Light"/>
              </a:rPr>
              <a:t>Équipe fondatrice de [N] personnes, complétée par freelances spécialisés et conseil scientifique externe.</a:t>
            </a:r>
          </a:p>
        </p:txBody>
      </p:sp>
      <p:sp>
        <p:nvSpPr>
          <p:cNvPr id="10" name="Rectangle 9"/>
          <p:cNvSpPr/>
          <p:nvPr/>
        </p:nvSpPr>
        <p:spPr>
          <a:xfrm>
            <a:off x="548640" y="2788920"/>
            <a:ext cx="3703320" cy="237744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788920"/>
            <a:ext cx="370332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017520"/>
            <a:ext cx="3246120" cy="365760"/>
          </a:xfrm>
          <a:prstGeom prst="rect">
            <a:avLst/>
          </a:prstGeom>
          <a:noFill/>
        </p:spPr>
        <p:txBody>
          <a:bodyPr wrap="square" lIns="0" rIns="0" tIns="0" bIns="0" anchor="t">
            <a:spAutoFit/>
          </a:bodyPr>
          <a:lstStyle/>
          <a:p>
            <a:pPr algn="l">
              <a:lnSpc>
                <a:spcPct val="115000"/>
              </a:lnSpc>
            </a:pPr>
            <a:r>
              <a:rPr sz="1100" b="1">
                <a:solidFill>
                  <a:srgbClr val="D4A017"/>
                </a:solidFill>
                <a:latin typeface="Calibri"/>
              </a:rPr>
              <a:t>CO-FONDATEUR &amp; CTO</a:t>
            </a:r>
          </a:p>
        </p:txBody>
      </p:sp>
      <p:sp>
        <p:nvSpPr>
          <p:cNvPr id="13" name="TextBox 12"/>
          <p:cNvSpPr txBox="1"/>
          <p:nvPr/>
        </p:nvSpPr>
        <p:spPr>
          <a:xfrm>
            <a:off x="777240" y="3337560"/>
            <a:ext cx="3246120" cy="457200"/>
          </a:xfrm>
          <a:prstGeom prst="rect">
            <a:avLst/>
          </a:prstGeom>
          <a:noFill/>
        </p:spPr>
        <p:txBody>
          <a:bodyPr wrap="square" lIns="0" rIns="0" tIns="0" bIns="0" anchor="t">
            <a:spAutoFit/>
          </a:bodyPr>
          <a:lstStyle/>
          <a:p>
            <a:pPr algn="l">
              <a:lnSpc>
                <a:spcPct val="115000"/>
              </a:lnSpc>
            </a:pPr>
            <a:r>
              <a:rPr sz="1800" b="1">
                <a:solidFill>
                  <a:srgbClr val="FFFFFF"/>
                </a:solidFill>
                <a:latin typeface="Calibri"/>
              </a:rPr>
              <a:t>[À compléter]</a:t>
            </a:r>
          </a:p>
        </p:txBody>
      </p:sp>
      <p:sp>
        <p:nvSpPr>
          <p:cNvPr id="14" name="TextBox 13"/>
          <p:cNvSpPr txBox="1"/>
          <p:nvPr/>
        </p:nvSpPr>
        <p:spPr>
          <a:xfrm>
            <a:off x="777240" y="3840480"/>
            <a:ext cx="3246120" cy="1280160"/>
          </a:xfrm>
          <a:prstGeom prst="rect">
            <a:avLst/>
          </a:prstGeom>
          <a:noFill/>
        </p:spPr>
        <p:txBody>
          <a:bodyPr wrap="square" lIns="0" rIns="0" tIns="0" bIns="0" anchor="t">
            <a:spAutoFit/>
          </a:bodyPr>
          <a:lstStyle/>
          <a:p>
            <a:pPr algn="l">
              <a:lnSpc>
                <a:spcPct val="140000"/>
              </a:lnSpc>
            </a:pPr>
            <a:r>
              <a:rPr sz="1100" b="0">
                <a:solidFill>
                  <a:srgbClr val="F5F1E8"/>
                </a:solidFill>
                <a:latin typeface="Calibri Light"/>
              </a:rPr>
              <a:t>Expérience cryptographie + sécurité embarquée. Parcours [ANSSI / Thales / Airbus / labo recherche]. Expert OP-TEE et migration PQC. Publications publiques sur [sujets].</a:t>
            </a:r>
          </a:p>
        </p:txBody>
      </p:sp>
      <p:sp>
        <p:nvSpPr>
          <p:cNvPr id="15" name="Rectangle 14"/>
          <p:cNvSpPr/>
          <p:nvPr/>
        </p:nvSpPr>
        <p:spPr>
          <a:xfrm>
            <a:off x="4416552" y="2788920"/>
            <a:ext cx="3703320" cy="237744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16552" y="2788920"/>
            <a:ext cx="370332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5152" y="3017520"/>
            <a:ext cx="3246120" cy="365760"/>
          </a:xfrm>
          <a:prstGeom prst="rect">
            <a:avLst/>
          </a:prstGeom>
          <a:noFill/>
        </p:spPr>
        <p:txBody>
          <a:bodyPr wrap="square" lIns="0" rIns="0" tIns="0" bIns="0" anchor="t">
            <a:spAutoFit/>
          </a:bodyPr>
          <a:lstStyle/>
          <a:p>
            <a:pPr algn="l">
              <a:lnSpc>
                <a:spcPct val="115000"/>
              </a:lnSpc>
            </a:pPr>
            <a:r>
              <a:rPr sz="1100" b="1">
                <a:solidFill>
                  <a:srgbClr val="D4A017"/>
                </a:solidFill>
                <a:latin typeface="Calibri"/>
              </a:rPr>
              <a:t>CO-FONDATEUR &amp; CEO</a:t>
            </a:r>
          </a:p>
        </p:txBody>
      </p:sp>
      <p:sp>
        <p:nvSpPr>
          <p:cNvPr id="18" name="TextBox 17"/>
          <p:cNvSpPr txBox="1"/>
          <p:nvPr/>
        </p:nvSpPr>
        <p:spPr>
          <a:xfrm>
            <a:off x="4645152" y="3337560"/>
            <a:ext cx="3246120" cy="457200"/>
          </a:xfrm>
          <a:prstGeom prst="rect">
            <a:avLst/>
          </a:prstGeom>
          <a:noFill/>
        </p:spPr>
        <p:txBody>
          <a:bodyPr wrap="square" lIns="0" rIns="0" tIns="0" bIns="0" anchor="t">
            <a:spAutoFit/>
          </a:bodyPr>
          <a:lstStyle/>
          <a:p>
            <a:pPr algn="l">
              <a:lnSpc>
                <a:spcPct val="115000"/>
              </a:lnSpc>
            </a:pPr>
            <a:r>
              <a:rPr sz="1800" b="1">
                <a:solidFill>
                  <a:srgbClr val="FFFFFF"/>
                </a:solidFill>
                <a:latin typeface="Calibri"/>
              </a:rPr>
              <a:t>[À compléter]</a:t>
            </a:r>
          </a:p>
        </p:txBody>
      </p:sp>
      <p:sp>
        <p:nvSpPr>
          <p:cNvPr id="19" name="TextBox 18"/>
          <p:cNvSpPr txBox="1"/>
          <p:nvPr/>
        </p:nvSpPr>
        <p:spPr>
          <a:xfrm>
            <a:off x="4645152" y="3840480"/>
            <a:ext cx="3246120" cy="1280160"/>
          </a:xfrm>
          <a:prstGeom prst="rect">
            <a:avLst/>
          </a:prstGeom>
          <a:noFill/>
        </p:spPr>
        <p:txBody>
          <a:bodyPr wrap="square" lIns="0" rIns="0" tIns="0" bIns="0" anchor="t">
            <a:spAutoFit/>
          </a:bodyPr>
          <a:lstStyle/>
          <a:p>
            <a:pPr algn="l">
              <a:lnSpc>
                <a:spcPct val="140000"/>
              </a:lnSpc>
            </a:pPr>
            <a:r>
              <a:rPr sz="1100" b="0">
                <a:solidFill>
                  <a:srgbClr val="F5F1E8"/>
                </a:solidFill>
                <a:latin typeface="Calibri Light"/>
              </a:rPr>
              <a:t>Expérience produit + business B2B deeptech. Parcours [scale-up cyber / défense / industriel]. Réseau acheteurs OIV et défense UE.</a:t>
            </a:r>
          </a:p>
        </p:txBody>
      </p:sp>
      <p:sp>
        <p:nvSpPr>
          <p:cNvPr id="20" name="Rectangle 19"/>
          <p:cNvSpPr/>
          <p:nvPr/>
        </p:nvSpPr>
        <p:spPr>
          <a:xfrm>
            <a:off x="8284464" y="2788920"/>
            <a:ext cx="3703320" cy="237744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84464" y="2788920"/>
            <a:ext cx="370332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13064" y="3017520"/>
            <a:ext cx="3246120" cy="365760"/>
          </a:xfrm>
          <a:prstGeom prst="rect">
            <a:avLst/>
          </a:prstGeom>
          <a:noFill/>
        </p:spPr>
        <p:txBody>
          <a:bodyPr wrap="square" lIns="0" rIns="0" tIns="0" bIns="0" anchor="t">
            <a:spAutoFit/>
          </a:bodyPr>
          <a:lstStyle/>
          <a:p>
            <a:pPr algn="l">
              <a:lnSpc>
                <a:spcPct val="115000"/>
              </a:lnSpc>
            </a:pPr>
            <a:r>
              <a:rPr sz="1100" b="1">
                <a:solidFill>
                  <a:srgbClr val="D4A017"/>
                </a:solidFill>
                <a:latin typeface="Calibri"/>
              </a:rPr>
              <a:t>HEAD OF SECURITY ENGINEERING</a:t>
            </a:r>
          </a:p>
        </p:txBody>
      </p:sp>
      <p:sp>
        <p:nvSpPr>
          <p:cNvPr id="23" name="TextBox 22"/>
          <p:cNvSpPr txBox="1"/>
          <p:nvPr/>
        </p:nvSpPr>
        <p:spPr>
          <a:xfrm>
            <a:off x="8513064" y="3337560"/>
            <a:ext cx="3246120" cy="457200"/>
          </a:xfrm>
          <a:prstGeom prst="rect">
            <a:avLst/>
          </a:prstGeom>
          <a:noFill/>
        </p:spPr>
        <p:txBody>
          <a:bodyPr wrap="square" lIns="0" rIns="0" tIns="0" bIns="0" anchor="t">
            <a:spAutoFit/>
          </a:bodyPr>
          <a:lstStyle/>
          <a:p>
            <a:pPr algn="l">
              <a:lnSpc>
                <a:spcPct val="115000"/>
              </a:lnSpc>
            </a:pPr>
            <a:r>
              <a:rPr sz="1800" b="1">
                <a:solidFill>
                  <a:srgbClr val="FFFFFF"/>
                </a:solidFill>
                <a:latin typeface="Calibri"/>
              </a:rPr>
              <a:t>[À recruter Q3 2026]</a:t>
            </a:r>
          </a:p>
        </p:txBody>
      </p:sp>
      <p:sp>
        <p:nvSpPr>
          <p:cNvPr id="24" name="TextBox 23"/>
          <p:cNvSpPr txBox="1"/>
          <p:nvPr/>
        </p:nvSpPr>
        <p:spPr>
          <a:xfrm>
            <a:off x="8513064" y="3840480"/>
            <a:ext cx="3246120" cy="1280160"/>
          </a:xfrm>
          <a:prstGeom prst="rect">
            <a:avLst/>
          </a:prstGeom>
          <a:noFill/>
        </p:spPr>
        <p:txBody>
          <a:bodyPr wrap="square" lIns="0" rIns="0" tIns="0" bIns="0" anchor="t">
            <a:spAutoFit/>
          </a:bodyPr>
          <a:lstStyle/>
          <a:p>
            <a:pPr algn="l">
              <a:lnSpc>
                <a:spcPct val="140000"/>
              </a:lnSpc>
            </a:pPr>
            <a:r>
              <a:rPr sz="1100" b="0">
                <a:solidFill>
                  <a:srgbClr val="F5F1E8"/>
                </a:solidFill>
                <a:latin typeface="Calibri Light"/>
              </a:rPr>
              <a:t>Cible profil senior 8-12 ans : OP-TEE, TrustZone, Yocto, Linux kernel. Expérience cycle certification CSPN ou Common Criteria souhaitée.</a:t>
            </a:r>
          </a:p>
        </p:txBody>
      </p:sp>
      <p:sp>
        <p:nvSpPr>
          <p:cNvPr id="25" name="TextBox 24"/>
          <p:cNvSpPr txBox="1"/>
          <p:nvPr/>
        </p:nvSpPr>
        <p:spPr>
          <a:xfrm>
            <a:off x="548640" y="5440680"/>
            <a:ext cx="10972800" cy="36576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CONSEIL &amp; ADVISORS</a:t>
            </a:r>
          </a:p>
        </p:txBody>
      </p:sp>
      <p:sp>
        <p:nvSpPr>
          <p:cNvPr id="26" name="TextBox 25"/>
          <p:cNvSpPr txBox="1"/>
          <p:nvPr/>
        </p:nvSpPr>
        <p:spPr>
          <a:xfrm>
            <a:off x="548640" y="5806440"/>
            <a:ext cx="10972800" cy="457200"/>
          </a:xfrm>
          <a:prstGeom prst="rect">
            <a:avLst/>
          </a:prstGeom>
          <a:noFill/>
        </p:spPr>
        <p:txBody>
          <a:bodyPr wrap="square" lIns="0" rIns="0" tIns="0" bIns="0" anchor="t">
            <a:spAutoFit/>
          </a:bodyPr>
          <a:lstStyle/>
          <a:p>
            <a:pPr algn="l">
              <a:lnSpc>
                <a:spcPct val="140000"/>
              </a:lnSpc>
            </a:pPr>
            <a:r>
              <a:rPr sz="1100" b="0">
                <a:solidFill>
                  <a:srgbClr val="F5F1E8"/>
                </a:solidFill>
                <a:latin typeface="Calibri Light"/>
              </a:rPr>
              <a:t>Conseil scientifique (cryptographie / défense) · Advisor go-to-market défense · Advisor compliance NIS2 / CRA · Mentors French Tech / EIC.</a:t>
            </a:r>
          </a:p>
        </p:txBody>
      </p:sp>
      <p:sp>
        <p:nvSpPr>
          <p:cNvPr id="27" name="Rectangle 26"/>
          <p:cNvSpPr/>
          <p:nvPr/>
        </p:nvSpPr>
        <p:spPr>
          <a:xfrm>
            <a:off x="0" y="6629400"/>
            <a:ext cx="12191695" cy="2286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647688"/>
            <a:ext cx="3657600" cy="201168"/>
          </a:xfrm>
          <a:prstGeom prst="rect">
            <a:avLst/>
          </a:prstGeom>
          <a:noFill/>
        </p:spPr>
        <p:txBody>
          <a:bodyPr wrap="square" lIns="0" rIns="0" tIns="0" bIns="0" anchor="t">
            <a:spAutoFit/>
          </a:bodyPr>
          <a:lstStyle/>
          <a:p>
            <a:pPr algn="l">
              <a:lnSpc>
                <a:spcPct val="115000"/>
              </a:lnSpc>
            </a:pPr>
            <a:r>
              <a:rPr sz="900" b="0">
                <a:solidFill>
                  <a:srgbClr val="8A95A8"/>
                </a:solidFill>
                <a:latin typeface="Calibri Light"/>
              </a:rPr>
              <a:t>HESIA — Confidential</a:t>
            </a:r>
          </a:p>
        </p:txBody>
      </p:sp>
      <p:sp>
        <p:nvSpPr>
          <p:cNvPr id="29" name="TextBox 28"/>
          <p:cNvSpPr txBox="1"/>
          <p:nvPr/>
        </p:nvSpPr>
        <p:spPr>
          <a:xfrm>
            <a:off x="4572000" y="6647688"/>
            <a:ext cx="2743200" cy="201168"/>
          </a:xfrm>
          <a:prstGeom prst="rect">
            <a:avLst/>
          </a:prstGeom>
          <a:noFill/>
        </p:spPr>
        <p:txBody>
          <a:bodyPr wrap="square" lIns="0" rIns="0" tIns="0" bIns="0" anchor="t">
            <a:spAutoFit/>
          </a:bodyPr>
          <a:lstStyle/>
          <a:p>
            <a:pPr algn="ctr">
              <a:lnSpc>
                <a:spcPct val="115000"/>
              </a:lnSpc>
            </a:pPr>
            <a:r>
              <a:rPr sz="900" b="0">
                <a:solidFill>
                  <a:srgbClr val="8A95A8"/>
                </a:solidFill>
                <a:latin typeface="Calibri Light"/>
              </a:rPr>
              <a:t>Pitch Investisseurs · 2026</a:t>
            </a:r>
          </a:p>
        </p:txBody>
      </p:sp>
      <p:sp>
        <p:nvSpPr>
          <p:cNvPr id="30" name="TextBox 29"/>
          <p:cNvSpPr txBox="1"/>
          <p:nvPr/>
        </p:nvSpPr>
        <p:spPr>
          <a:xfrm>
            <a:off x="10058400" y="6647688"/>
            <a:ext cx="1828800" cy="201168"/>
          </a:xfrm>
          <a:prstGeom prst="rect">
            <a:avLst/>
          </a:prstGeom>
          <a:noFill/>
        </p:spPr>
        <p:txBody>
          <a:bodyPr wrap="square" lIns="0" rIns="0" tIns="0" bIns="0" anchor="t">
            <a:spAutoFit/>
          </a:bodyPr>
          <a:lstStyle/>
          <a:p>
            <a:pPr algn="r">
              <a:lnSpc>
                <a:spcPct val="115000"/>
              </a:lnSpc>
            </a:pPr>
            <a:r>
              <a:rPr sz="900" b="0">
                <a:solidFill>
                  <a:srgbClr val="8A95A8"/>
                </a:solidFill>
                <a:latin typeface="Calibri Light"/>
              </a:rPr>
              <a:t>13 /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365760" y="274320"/>
            <a:ext cx="411480" cy="411480"/>
          </a:xfrm>
          <a:prstGeom prst="hexagon">
            <a:avLst/>
          </a:prstGeom>
          <a:noFill/>
          <a:ln w="1905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411480" cy="411480"/>
          </a:xfrm>
          <a:prstGeom prst="rect">
            <a:avLst/>
          </a:prstGeom>
          <a:noFill/>
        </p:spPr>
        <p:txBody>
          <a:bodyPr wrap="none" lIns="0" rIns="0" tIns="0" bIns="0" anchor="ctr">
            <a:spAutoFit/>
          </a:bodyPr>
          <a:lstStyle/>
          <a:p>
            <a:pPr algn="ctr"/>
            <a:r>
              <a:rPr b="1" sz="1700">
                <a:solidFill>
                  <a:srgbClr val="D4A017"/>
                </a:solidFill>
                <a:latin typeface="Calibri"/>
              </a:rPr>
              <a:t>H</a:t>
            </a:r>
          </a:p>
        </p:txBody>
      </p:sp>
      <p:sp>
        <p:nvSpPr>
          <p:cNvPr id="5" name="TextBox 4"/>
          <p:cNvSpPr txBox="1"/>
          <p:nvPr/>
        </p:nvSpPr>
        <p:spPr>
          <a:xfrm>
            <a:off x="868680" y="292608"/>
            <a:ext cx="1828800" cy="365760"/>
          </a:xfrm>
          <a:prstGeom prst="rect">
            <a:avLst/>
          </a:prstGeom>
          <a:noFill/>
        </p:spPr>
        <p:txBody>
          <a:bodyPr wrap="square" lIns="0" rIns="0" tIns="0" bIns="0" anchor="t">
            <a:spAutoFit/>
          </a:bodyPr>
          <a:lstStyle/>
          <a:p>
            <a:pPr algn="l">
              <a:lnSpc>
                <a:spcPct val="115000"/>
              </a:lnSpc>
            </a:pPr>
            <a:r>
              <a:rPr sz="1600" b="1">
                <a:solidFill>
                  <a:srgbClr val="FFFFFF"/>
                </a:solidFill>
                <a:latin typeface="Calibri"/>
              </a:rPr>
              <a:t>HESIA</a:t>
            </a:r>
          </a:p>
        </p:txBody>
      </p:sp>
      <p:sp>
        <p:nvSpPr>
          <p:cNvPr id="6" name="TextBox 5"/>
          <p:cNvSpPr txBox="1"/>
          <p:nvPr/>
        </p:nvSpPr>
        <p:spPr>
          <a:xfrm>
            <a:off x="548640" y="868680"/>
            <a:ext cx="7315200" cy="32004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FINANCIER</a:t>
            </a:r>
          </a:p>
        </p:txBody>
      </p:sp>
      <p:sp>
        <p:nvSpPr>
          <p:cNvPr id="7" name="TextBox 6"/>
          <p:cNvSpPr txBox="1"/>
          <p:nvPr/>
        </p:nvSpPr>
        <p:spPr>
          <a:xfrm>
            <a:off x="548640" y="1188720"/>
            <a:ext cx="10972800" cy="822960"/>
          </a:xfrm>
          <a:prstGeom prst="rect">
            <a:avLst/>
          </a:prstGeom>
          <a:noFill/>
        </p:spPr>
        <p:txBody>
          <a:bodyPr wrap="square" lIns="0" rIns="0" tIns="0" bIns="0" anchor="t">
            <a:spAutoFit/>
          </a:bodyPr>
          <a:lstStyle/>
          <a:p>
            <a:pPr algn="l">
              <a:lnSpc>
                <a:spcPct val="115000"/>
              </a:lnSpc>
            </a:pPr>
            <a:r>
              <a:rPr sz="3200" b="1">
                <a:solidFill>
                  <a:srgbClr val="FFFFFF"/>
                </a:solidFill>
                <a:latin typeface="Calibri"/>
              </a:rPr>
              <a:t>Modèle financier — projections conservatrices.</a:t>
            </a:r>
          </a:p>
        </p:txBody>
      </p:sp>
      <p:sp>
        <p:nvSpPr>
          <p:cNvPr id="8" name="Rectangle 7"/>
          <p:cNvSpPr/>
          <p:nvPr/>
        </p:nvSpPr>
        <p:spPr>
          <a:xfrm>
            <a:off x="548640" y="1965960"/>
            <a:ext cx="6400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86000"/>
            <a:ext cx="2743200" cy="182880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4069080"/>
            <a:ext cx="274320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697480"/>
            <a:ext cx="2743200" cy="822960"/>
          </a:xfrm>
          <a:prstGeom prst="rect">
            <a:avLst/>
          </a:prstGeom>
          <a:noFill/>
        </p:spPr>
        <p:txBody>
          <a:bodyPr wrap="square" lIns="0" rIns="0" tIns="0" bIns="0" anchor="t">
            <a:spAutoFit/>
          </a:bodyPr>
          <a:lstStyle/>
          <a:p>
            <a:pPr algn="ctr">
              <a:lnSpc>
                <a:spcPct val="115000"/>
              </a:lnSpc>
            </a:pPr>
            <a:r>
              <a:rPr sz="3600" b="1">
                <a:solidFill>
                  <a:srgbClr val="D4A017"/>
                </a:solidFill>
                <a:latin typeface="Calibri"/>
              </a:rPr>
              <a:t>0,8–1,5 M€</a:t>
            </a:r>
          </a:p>
        </p:txBody>
      </p:sp>
      <p:sp>
        <p:nvSpPr>
          <p:cNvPr id="12" name="TextBox 11"/>
          <p:cNvSpPr txBox="1"/>
          <p:nvPr/>
        </p:nvSpPr>
        <p:spPr>
          <a:xfrm>
            <a:off x="548640" y="3657600"/>
            <a:ext cx="2743200" cy="548640"/>
          </a:xfrm>
          <a:prstGeom prst="rect">
            <a:avLst/>
          </a:prstGeom>
          <a:noFill/>
        </p:spPr>
        <p:txBody>
          <a:bodyPr wrap="square" lIns="0" rIns="0" tIns="0" bIns="0" anchor="t">
            <a:spAutoFit/>
          </a:bodyPr>
          <a:lstStyle/>
          <a:p>
            <a:pPr algn="ctr">
              <a:lnSpc>
                <a:spcPct val="120000"/>
              </a:lnSpc>
            </a:pPr>
            <a:r>
              <a:rPr sz="1100" b="0">
                <a:solidFill>
                  <a:srgbClr val="F5F1E8"/>
                </a:solidFill>
                <a:latin typeface="Calibri Light"/>
              </a:rPr>
              <a:t>ARR cible année 1</a:t>
            </a:r>
          </a:p>
        </p:txBody>
      </p:sp>
      <p:sp>
        <p:nvSpPr>
          <p:cNvPr id="13" name="Rectangle 12"/>
          <p:cNvSpPr/>
          <p:nvPr/>
        </p:nvSpPr>
        <p:spPr>
          <a:xfrm>
            <a:off x="3429000" y="2286000"/>
            <a:ext cx="2743200" cy="182880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29000" y="4069080"/>
            <a:ext cx="274320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9000" y="2697480"/>
            <a:ext cx="2743200" cy="822960"/>
          </a:xfrm>
          <a:prstGeom prst="rect">
            <a:avLst/>
          </a:prstGeom>
          <a:noFill/>
        </p:spPr>
        <p:txBody>
          <a:bodyPr wrap="square" lIns="0" rIns="0" tIns="0" bIns="0" anchor="t">
            <a:spAutoFit/>
          </a:bodyPr>
          <a:lstStyle/>
          <a:p>
            <a:pPr algn="ctr">
              <a:lnSpc>
                <a:spcPct val="115000"/>
              </a:lnSpc>
            </a:pPr>
            <a:r>
              <a:rPr sz="3600" b="1">
                <a:solidFill>
                  <a:srgbClr val="D4A017"/>
                </a:solidFill>
                <a:latin typeface="Calibri"/>
              </a:rPr>
              <a:t>65–80 %</a:t>
            </a:r>
          </a:p>
        </p:txBody>
      </p:sp>
      <p:sp>
        <p:nvSpPr>
          <p:cNvPr id="16" name="TextBox 15"/>
          <p:cNvSpPr txBox="1"/>
          <p:nvPr/>
        </p:nvSpPr>
        <p:spPr>
          <a:xfrm>
            <a:off x="3429000" y="3657600"/>
            <a:ext cx="2743200" cy="548640"/>
          </a:xfrm>
          <a:prstGeom prst="rect">
            <a:avLst/>
          </a:prstGeom>
          <a:noFill/>
        </p:spPr>
        <p:txBody>
          <a:bodyPr wrap="square" lIns="0" rIns="0" tIns="0" bIns="0" anchor="t">
            <a:spAutoFit/>
          </a:bodyPr>
          <a:lstStyle/>
          <a:p>
            <a:pPr algn="ctr">
              <a:lnSpc>
                <a:spcPct val="120000"/>
              </a:lnSpc>
            </a:pPr>
            <a:r>
              <a:rPr sz="1100" b="0">
                <a:solidFill>
                  <a:srgbClr val="F5F1E8"/>
                </a:solidFill>
                <a:latin typeface="Calibri Light"/>
              </a:rPr>
              <a:t>Marge brute SaaS embarqué</a:t>
            </a:r>
          </a:p>
        </p:txBody>
      </p:sp>
      <p:sp>
        <p:nvSpPr>
          <p:cNvPr id="17" name="Rectangle 16"/>
          <p:cNvSpPr/>
          <p:nvPr/>
        </p:nvSpPr>
        <p:spPr>
          <a:xfrm>
            <a:off x="6309360" y="2286000"/>
            <a:ext cx="2743200" cy="182880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4069080"/>
            <a:ext cx="274320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2697480"/>
            <a:ext cx="2743200" cy="822960"/>
          </a:xfrm>
          <a:prstGeom prst="rect">
            <a:avLst/>
          </a:prstGeom>
          <a:noFill/>
        </p:spPr>
        <p:txBody>
          <a:bodyPr wrap="square" lIns="0" rIns="0" tIns="0" bIns="0" anchor="t">
            <a:spAutoFit/>
          </a:bodyPr>
          <a:lstStyle/>
          <a:p>
            <a:pPr algn="ctr">
              <a:lnSpc>
                <a:spcPct val="115000"/>
              </a:lnSpc>
            </a:pPr>
            <a:r>
              <a:rPr sz="3600" b="1">
                <a:solidFill>
                  <a:srgbClr val="D4A017"/>
                </a:solidFill>
                <a:latin typeface="Calibri"/>
              </a:rPr>
              <a:t>9–12 mois</a:t>
            </a:r>
          </a:p>
        </p:txBody>
      </p:sp>
      <p:sp>
        <p:nvSpPr>
          <p:cNvPr id="20" name="TextBox 19"/>
          <p:cNvSpPr txBox="1"/>
          <p:nvPr/>
        </p:nvSpPr>
        <p:spPr>
          <a:xfrm>
            <a:off x="6309360" y="3657600"/>
            <a:ext cx="2743200" cy="548640"/>
          </a:xfrm>
          <a:prstGeom prst="rect">
            <a:avLst/>
          </a:prstGeom>
          <a:noFill/>
        </p:spPr>
        <p:txBody>
          <a:bodyPr wrap="square" lIns="0" rIns="0" tIns="0" bIns="0" anchor="t">
            <a:spAutoFit/>
          </a:bodyPr>
          <a:lstStyle/>
          <a:p>
            <a:pPr algn="ctr">
              <a:lnSpc>
                <a:spcPct val="120000"/>
              </a:lnSpc>
            </a:pPr>
            <a:r>
              <a:rPr sz="1100" b="0">
                <a:solidFill>
                  <a:srgbClr val="F5F1E8"/>
                </a:solidFill>
                <a:latin typeface="Calibri Light"/>
              </a:rPr>
              <a:t>Cycle de vente moyen</a:t>
            </a:r>
          </a:p>
        </p:txBody>
      </p:sp>
      <p:sp>
        <p:nvSpPr>
          <p:cNvPr id="21" name="Rectangle 20"/>
          <p:cNvSpPr/>
          <p:nvPr/>
        </p:nvSpPr>
        <p:spPr>
          <a:xfrm>
            <a:off x="9189720" y="2286000"/>
            <a:ext cx="2743200" cy="182880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89720" y="4069080"/>
            <a:ext cx="274320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89720" y="2697480"/>
            <a:ext cx="2743200" cy="822960"/>
          </a:xfrm>
          <a:prstGeom prst="rect">
            <a:avLst/>
          </a:prstGeom>
          <a:noFill/>
        </p:spPr>
        <p:txBody>
          <a:bodyPr wrap="square" lIns="0" rIns="0" tIns="0" bIns="0" anchor="t">
            <a:spAutoFit/>
          </a:bodyPr>
          <a:lstStyle/>
          <a:p>
            <a:pPr algn="ctr">
              <a:lnSpc>
                <a:spcPct val="115000"/>
              </a:lnSpc>
            </a:pPr>
            <a:r>
              <a:rPr sz="3600" b="1">
                <a:solidFill>
                  <a:srgbClr val="D4A017"/>
                </a:solidFill>
                <a:latin typeface="Calibri"/>
              </a:rPr>
              <a:t>3–5×</a:t>
            </a:r>
          </a:p>
        </p:txBody>
      </p:sp>
      <p:sp>
        <p:nvSpPr>
          <p:cNvPr id="24" name="TextBox 23"/>
          <p:cNvSpPr txBox="1"/>
          <p:nvPr/>
        </p:nvSpPr>
        <p:spPr>
          <a:xfrm>
            <a:off x="9189720" y="3657600"/>
            <a:ext cx="2743200" cy="548640"/>
          </a:xfrm>
          <a:prstGeom prst="rect">
            <a:avLst/>
          </a:prstGeom>
          <a:noFill/>
        </p:spPr>
        <p:txBody>
          <a:bodyPr wrap="square" lIns="0" rIns="0" tIns="0" bIns="0" anchor="t">
            <a:spAutoFit/>
          </a:bodyPr>
          <a:lstStyle/>
          <a:p>
            <a:pPr algn="ctr">
              <a:lnSpc>
                <a:spcPct val="120000"/>
              </a:lnSpc>
            </a:pPr>
            <a:r>
              <a:rPr sz="1100" b="0">
                <a:solidFill>
                  <a:srgbClr val="F5F1E8"/>
                </a:solidFill>
                <a:latin typeface="Calibri Light"/>
              </a:rPr>
              <a:t>LTV/CAC à maturité</a:t>
            </a:r>
          </a:p>
        </p:txBody>
      </p:sp>
      <p:sp>
        <p:nvSpPr>
          <p:cNvPr id="25" name="TextBox 24"/>
          <p:cNvSpPr txBox="1"/>
          <p:nvPr/>
        </p:nvSpPr>
        <p:spPr>
          <a:xfrm>
            <a:off x="548640" y="4434840"/>
            <a:ext cx="6400800" cy="365760"/>
          </a:xfrm>
          <a:prstGeom prst="rect">
            <a:avLst/>
          </a:prstGeom>
          <a:noFill/>
        </p:spPr>
        <p:txBody>
          <a:bodyPr wrap="square" lIns="0" rIns="0" tIns="0" bIns="0" anchor="t">
            <a:spAutoFit/>
          </a:bodyPr>
          <a:lstStyle/>
          <a:p>
            <a:pPr algn="l">
              <a:lnSpc>
                <a:spcPct val="115000"/>
              </a:lnSpc>
            </a:pPr>
            <a:r>
              <a:rPr sz="1400" b="1">
                <a:solidFill>
                  <a:srgbClr val="D4A017"/>
                </a:solidFill>
                <a:latin typeface="Calibri"/>
              </a:rPr>
              <a:t>Trajectoire 5 ans (scénario médian)</a:t>
            </a:r>
          </a:p>
        </p:txBody>
      </p:sp>
      <p:sp>
        <p:nvSpPr>
          <p:cNvPr id="26" name="Rectangle 25"/>
          <p:cNvSpPr/>
          <p:nvPr/>
        </p:nvSpPr>
        <p:spPr>
          <a:xfrm>
            <a:off x="548640" y="4846320"/>
            <a:ext cx="10972800" cy="36576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919472"/>
            <a:ext cx="2560320" cy="274320"/>
          </a:xfrm>
          <a:prstGeom prst="rect">
            <a:avLst/>
          </a:prstGeom>
          <a:noFill/>
        </p:spPr>
        <p:txBody>
          <a:bodyPr wrap="square" lIns="0" rIns="0" tIns="0" bIns="0" anchor="t">
            <a:spAutoFit/>
          </a:bodyPr>
          <a:lstStyle/>
          <a:p>
            <a:pPr algn="l">
              <a:lnSpc>
                <a:spcPct val="115000"/>
              </a:lnSpc>
            </a:pPr>
            <a:r>
              <a:rPr sz="1100" b="1">
                <a:solidFill>
                  <a:srgbClr val="D4A017"/>
                </a:solidFill>
                <a:latin typeface="Calibri"/>
              </a:rPr>
              <a:t>Indicateur (M€)</a:t>
            </a:r>
          </a:p>
        </p:txBody>
      </p:sp>
      <p:sp>
        <p:nvSpPr>
          <p:cNvPr id="28" name="TextBox 27"/>
          <p:cNvSpPr txBox="1"/>
          <p:nvPr/>
        </p:nvSpPr>
        <p:spPr>
          <a:xfrm>
            <a:off x="3429000" y="4919472"/>
            <a:ext cx="1645920" cy="274320"/>
          </a:xfrm>
          <a:prstGeom prst="rect">
            <a:avLst/>
          </a:prstGeom>
          <a:noFill/>
        </p:spPr>
        <p:txBody>
          <a:bodyPr wrap="square" lIns="0" rIns="0" tIns="0" bIns="0" anchor="t">
            <a:spAutoFit/>
          </a:bodyPr>
          <a:lstStyle/>
          <a:p>
            <a:pPr algn="l">
              <a:lnSpc>
                <a:spcPct val="115000"/>
              </a:lnSpc>
            </a:pPr>
            <a:r>
              <a:rPr sz="1100" b="1">
                <a:solidFill>
                  <a:srgbClr val="D4A017"/>
                </a:solidFill>
                <a:latin typeface="Calibri"/>
              </a:rPr>
              <a:t>2026</a:t>
            </a:r>
          </a:p>
        </p:txBody>
      </p:sp>
      <p:sp>
        <p:nvSpPr>
          <p:cNvPr id="29" name="TextBox 28"/>
          <p:cNvSpPr txBox="1"/>
          <p:nvPr/>
        </p:nvSpPr>
        <p:spPr>
          <a:xfrm>
            <a:off x="5257800" y="4919472"/>
            <a:ext cx="1645920" cy="274320"/>
          </a:xfrm>
          <a:prstGeom prst="rect">
            <a:avLst/>
          </a:prstGeom>
          <a:noFill/>
        </p:spPr>
        <p:txBody>
          <a:bodyPr wrap="square" lIns="0" rIns="0" tIns="0" bIns="0" anchor="t">
            <a:spAutoFit/>
          </a:bodyPr>
          <a:lstStyle/>
          <a:p>
            <a:pPr algn="l">
              <a:lnSpc>
                <a:spcPct val="115000"/>
              </a:lnSpc>
            </a:pPr>
            <a:r>
              <a:rPr sz="1100" b="1">
                <a:solidFill>
                  <a:srgbClr val="D4A017"/>
                </a:solidFill>
                <a:latin typeface="Calibri"/>
              </a:rPr>
              <a:t>2027</a:t>
            </a:r>
          </a:p>
        </p:txBody>
      </p:sp>
      <p:sp>
        <p:nvSpPr>
          <p:cNvPr id="30" name="TextBox 29"/>
          <p:cNvSpPr txBox="1"/>
          <p:nvPr/>
        </p:nvSpPr>
        <p:spPr>
          <a:xfrm>
            <a:off x="7086600" y="4919472"/>
            <a:ext cx="1645920" cy="274320"/>
          </a:xfrm>
          <a:prstGeom prst="rect">
            <a:avLst/>
          </a:prstGeom>
          <a:noFill/>
        </p:spPr>
        <p:txBody>
          <a:bodyPr wrap="square" lIns="0" rIns="0" tIns="0" bIns="0" anchor="t">
            <a:spAutoFit/>
          </a:bodyPr>
          <a:lstStyle/>
          <a:p>
            <a:pPr algn="l">
              <a:lnSpc>
                <a:spcPct val="115000"/>
              </a:lnSpc>
            </a:pPr>
            <a:r>
              <a:rPr sz="1100" b="1">
                <a:solidFill>
                  <a:srgbClr val="D4A017"/>
                </a:solidFill>
                <a:latin typeface="Calibri"/>
              </a:rPr>
              <a:t>2028</a:t>
            </a:r>
          </a:p>
        </p:txBody>
      </p:sp>
      <p:sp>
        <p:nvSpPr>
          <p:cNvPr id="31" name="TextBox 30"/>
          <p:cNvSpPr txBox="1"/>
          <p:nvPr/>
        </p:nvSpPr>
        <p:spPr>
          <a:xfrm>
            <a:off x="8915400" y="4919472"/>
            <a:ext cx="2560320" cy="274320"/>
          </a:xfrm>
          <a:prstGeom prst="rect">
            <a:avLst/>
          </a:prstGeom>
          <a:noFill/>
        </p:spPr>
        <p:txBody>
          <a:bodyPr wrap="square" lIns="0" rIns="0" tIns="0" bIns="0" anchor="t">
            <a:spAutoFit/>
          </a:bodyPr>
          <a:lstStyle/>
          <a:p>
            <a:pPr algn="l">
              <a:lnSpc>
                <a:spcPct val="115000"/>
              </a:lnSpc>
            </a:pPr>
            <a:r>
              <a:rPr sz="1100" b="1">
                <a:solidFill>
                  <a:srgbClr val="D4A017"/>
                </a:solidFill>
                <a:latin typeface="Calibri"/>
              </a:rPr>
              <a:t>2030 cible</a:t>
            </a:r>
          </a:p>
        </p:txBody>
      </p:sp>
      <p:sp>
        <p:nvSpPr>
          <p:cNvPr id="32" name="Rectangle 31"/>
          <p:cNvSpPr/>
          <p:nvPr/>
        </p:nvSpPr>
        <p:spPr>
          <a:xfrm>
            <a:off x="548640" y="5212080"/>
            <a:ext cx="10972800" cy="32004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276088"/>
            <a:ext cx="256032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Light"/>
              </a:rPr>
              <a:t>ARR signé cumulé</a:t>
            </a:r>
          </a:p>
        </p:txBody>
      </p:sp>
      <p:sp>
        <p:nvSpPr>
          <p:cNvPr id="34" name="TextBox 33"/>
          <p:cNvSpPr txBox="1"/>
          <p:nvPr/>
        </p:nvSpPr>
        <p:spPr>
          <a:xfrm>
            <a:off x="3429000" y="5276088"/>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1,0</a:t>
            </a:r>
          </a:p>
        </p:txBody>
      </p:sp>
      <p:sp>
        <p:nvSpPr>
          <p:cNvPr id="35" name="TextBox 34"/>
          <p:cNvSpPr txBox="1"/>
          <p:nvPr/>
        </p:nvSpPr>
        <p:spPr>
          <a:xfrm>
            <a:off x="5257800" y="5276088"/>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3,5</a:t>
            </a:r>
          </a:p>
        </p:txBody>
      </p:sp>
      <p:sp>
        <p:nvSpPr>
          <p:cNvPr id="36" name="TextBox 35"/>
          <p:cNvSpPr txBox="1"/>
          <p:nvPr/>
        </p:nvSpPr>
        <p:spPr>
          <a:xfrm>
            <a:off x="7086600" y="5276088"/>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9,0</a:t>
            </a:r>
          </a:p>
        </p:txBody>
      </p:sp>
      <p:sp>
        <p:nvSpPr>
          <p:cNvPr id="37" name="TextBox 36"/>
          <p:cNvSpPr txBox="1"/>
          <p:nvPr/>
        </p:nvSpPr>
        <p:spPr>
          <a:xfrm>
            <a:off x="8915400" y="5276088"/>
            <a:ext cx="25603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22,0</a:t>
            </a:r>
          </a:p>
        </p:txBody>
      </p:sp>
      <p:sp>
        <p:nvSpPr>
          <p:cNvPr id="38" name="TextBox 37"/>
          <p:cNvSpPr txBox="1"/>
          <p:nvPr/>
        </p:nvSpPr>
        <p:spPr>
          <a:xfrm>
            <a:off x="685800" y="5596128"/>
            <a:ext cx="256032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Light"/>
              </a:rPr>
              <a:t>Clients payants</a:t>
            </a:r>
          </a:p>
        </p:txBody>
      </p:sp>
      <p:sp>
        <p:nvSpPr>
          <p:cNvPr id="39" name="TextBox 38"/>
          <p:cNvSpPr txBox="1"/>
          <p:nvPr/>
        </p:nvSpPr>
        <p:spPr>
          <a:xfrm>
            <a:off x="3429000" y="5596128"/>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5-8</a:t>
            </a:r>
          </a:p>
        </p:txBody>
      </p:sp>
      <p:sp>
        <p:nvSpPr>
          <p:cNvPr id="40" name="TextBox 39"/>
          <p:cNvSpPr txBox="1"/>
          <p:nvPr/>
        </p:nvSpPr>
        <p:spPr>
          <a:xfrm>
            <a:off x="5257800" y="5596128"/>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12-18</a:t>
            </a:r>
          </a:p>
        </p:txBody>
      </p:sp>
      <p:sp>
        <p:nvSpPr>
          <p:cNvPr id="41" name="TextBox 40"/>
          <p:cNvSpPr txBox="1"/>
          <p:nvPr/>
        </p:nvSpPr>
        <p:spPr>
          <a:xfrm>
            <a:off x="7086600" y="5596128"/>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25-35</a:t>
            </a:r>
          </a:p>
        </p:txBody>
      </p:sp>
      <p:sp>
        <p:nvSpPr>
          <p:cNvPr id="42" name="TextBox 41"/>
          <p:cNvSpPr txBox="1"/>
          <p:nvPr/>
        </p:nvSpPr>
        <p:spPr>
          <a:xfrm>
            <a:off x="8915400" y="5596128"/>
            <a:ext cx="25603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60+</a:t>
            </a:r>
          </a:p>
        </p:txBody>
      </p:sp>
      <p:sp>
        <p:nvSpPr>
          <p:cNvPr id="43" name="Rectangle 42"/>
          <p:cNvSpPr/>
          <p:nvPr/>
        </p:nvSpPr>
        <p:spPr>
          <a:xfrm>
            <a:off x="548640" y="5852160"/>
            <a:ext cx="10972800" cy="32004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 y="5916168"/>
            <a:ext cx="256032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Light"/>
              </a:rPr>
              <a:t>Effectif</a:t>
            </a:r>
          </a:p>
        </p:txBody>
      </p:sp>
      <p:sp>
        <p:nvSpPr>
          <p:cNvPr id="45" name="TextBox 44"/>
          <p:cNvSpPr txBox="1"/>
          <p:nvPr/>
        </p:nvSpPr>
        <p:spPr>
          <a:xfrm>
            <a:off x="3429000" y="5916168"/>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10</a:t>
            </a:r>
          </a:p>
        </p:txBody>
      </p:sp>
      <p:sp>
        <p:nvSpPr>
          <p:cNvPr id="46" name="TextBox 45"/>
          <p:cNvSpPr txBox="1"/>
          <p:nvPr/>
        </p:nvSpPr>
        <p:spPr>
          <a:xfrm>
            <a:off x="5257800" y="5916168"/>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20</a:t>
            </a:r>
          </a:p>
        </p:txBody>
      </p:sp>
      <p:sp>
        <p:nvSpPr>
          <p:cNvPr id="47" name="TextBox 46"/>
          <p:cNvSpPr txBox="1"/>
          <p:nvPr/>
        </p:nvSpPr>
        <p:spPr>
          <a:xfrm>
            <a:off x="7086600" y="5916168"/>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35</a:t>
            </a:r>
          </a:p>
        </p:txBody>
      </p:sp>
      <p:sp>
        <p:nvSpPr>
          <p:cNvPr id="48" name="TextBox 47"/>
          <p:cNvSpPr txBox="1"/>
          <p:nvPr/>
        </p:nvSpPr>
        <p:spPr>
          <a:xfrm>
            <a:off x="8915400" y="5916168"/>
            <a:ext cx="25603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70</a:t>
            </a:r>
          </a:p>
        </p:txBody>
      </p:sp>
      <p:sp>
        <p:nvSpPr>
          <p:cNvPr id="49" name="TextBox 48"/>
          <p:cNvSpPr txBox="1"/>
          <p:nvPr/>
        </p:nvSpPr>
        <p:spPr>
          <a:xfrm>
            <a:off x="685800" y="6236208"/>
            <a:ext cx="256032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Light"/>
              </a:rPr>
              <a:t>Burn / mois</a:t>
            </a:r>
          </a:p>
        </p:txBody>
      </p:sp>
      <p:sp>
        <p:nvSpPr>
          <p:cNvPr id="50" name="TextBox 49"/>
          <p:cNvSpPr txBox="1"/>
          <p:nvPr/>
        </p:nvSpPr>
        <p:spPr>
          <a:xfrm>
            <a:off x="3429000" y="6236208"/>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0,1</a:t>
            </a:r>
          </a:p>
        </p:txBody>
      </p:sp>
      <p:sp>
        <p:nvSpPr>
          <p:cNvPr id="51" name="TextBox 50"/>
          <p:cNvSpPr txBox="1"/>
          <p:nvPr/>
        </p:nvSpPr>
        <p:spPr>
          <a:xfrm>
            <a:off x="5257800" y="6236208"/>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0,2</a:t>
            </a:r>
          </a:p>
        </p:txBody>
      </p:sp>
      <p:sp>
        <p:nvSpPr>
          <p:cNvPr id="52" name="TextBox 51"/>
          <p:cNvSpPr txBox="1"/>
          <p:nvPr/>
        </p:nvSpPr>
        <p:spPr>
          <a:xfrm>
            <a:off x="7086600" y="6236208"/>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0,3</a:t>
            </a:r>
          </a:p>
        </p:txBody>
      </p:sp>
      <p:sp>
        <p:nvSpPr>
          <p:cNvPr id="53" name="TextBox 52"/>
          <p:cNvSpPr txBox="1"/>
          <p:nvPr/>
        </p:nvSpPr>
        <p:spPr>
          <a:xfrm>
            <a:off x="8915400" y="6236208"/>
            <a:ext cx="25603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0,4</a:t>
            </a:r>
          </a:p>
        </p:txBody>
      </p:sp>
      <p:sp>
        <p:nvSpPr>
          <p:cNvPr id="54" name="Rectangle 53"/>
          <p:cNvSpPr/>
          <p:nvPr/>
        </p:nvSpPr>
        <p:spPr>
          <a:xfrm>
            <a:off x="548640" y="6492240"/>
            <a:ext cx="10972800" cy="32004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85800" y="6556248"/>
            <a:ext cx="256032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Light"/>
              </a:rPr>
              <a:t>Marge brute</a:t>
            </a:r>
          </a:p>
        </p:txBody>
      </p:sp>
      <p:sp>
        <p:nvSpPr>
          <p:cNvPr id="56" name="TextBox 55"/>
          <p:cNvSpPr txBox="1"/>
          <p:nvPr/>
        </p:nvSpPr>
        <p:spPr>
          <a:xfrm>
            <a:off x="3429000" y="6556248"/>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60%</a:t>
            </a:r>
          </a:p>
        </p:txBody>
      </p:sp>
      <p:sp>
        <p:nvSpPr>
          <p:cNvPr id="57" name="TextBox 56"/>
          <p:cNvSpPr txBox="1"/>
          <p:nvPr/>
        </p:nvSpPr>
        <p:spPr>
          <a:xfrm>
            <a:off x="5257800" y="6556248"/>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70%</a:t>
            </a:r>
          </a:p>
        </p:txBody>
      </p:sp>
      <p:sp>
        <p:nvSpPr>
          <p:cNvPr id="58" name="TextBox 57"/>
          <p:cNvSpPr txBox="1"/>
          <p:nvPr/>
        </p:nvSpPr>
        <p:spPr>
          <a:xfrm>
            <a:off x="7086600" y="6556248"/>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75%</a:t>
            </a:r>
          </a:p>
        </p:txBody>
      </p:sp>
      <p:sp>
        <p:nvSpPr>
          <p:cNvPr id="59" name="TextBox 58"/>
          <p:cNvSpPr txBox="1"/>
          <p:nvPr/>
        </p:nvSpPr>
        <p:spPr>
          <a:xfrm>
            <a:off x="8915400" y="6556248"/>
            <a:ext cx="25603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80%</a:t>
            </a:r>
          </a:p>
        </p:txBody>
      </p:sp>
      <p:sp>
        <p:nvSpPr>
          <p:cNvPr id="60" name="TextBox 59"/>
          <p:cNvSpPr txBox="1"/>
          <p:nvPr/>
        </p:nvSpPr>
        <p:spPr>
          <a:xfrm>
            <a:off x="685800" y="6876288"/>
            <a:ext cx="2560320" cy="274320"/>
          </a:xfrm>
          <a:prstGeom prst="rect">
            <a:avLst/>
          </a:prstGeom>
          <a:noFill/>
        </p:spPr>
        <p:txBody>
          <a:bodyPr wrap="square" lIns="0" rIns="0" tIns="0" bIns="0" anchor="t">
            <a:spAutoFit/>
          </a:bodyPr>
          <a:lstStyle/>
          <a:p>
            <a:pPr algn="l">
              <a:lnSpc>
                <a:spcPct val="115000"/>
              </a:lnSpc>
            </a:pPr>
            <a:r>
              <a:rPr sz="1100" b="1">
                <a:solidFill>
                  <a:srgbClr val="FFFFFF"/>
                </a:solidFill>
                <a:latin typeface="Calibri Light"/>
              </a:rPr>
              <a:t>Cash runway</a:t>
            </a:r>
          </a:p>
        </p:txBody>
      </p:sp>
      <p:sp>
        <p:nvSpPr>
          <p:cNvPr id="61" name="TextBox 60"/>
          <p:cNvSpPr txBox="1"/>
          <p:nvPr/>
        </p:nvSpPr>
        <p:spPr>
          <a:xfrm>
            <a:off x="3429000" y="6876288"/>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&gt;18m</a:t>
            </a:r>
          </a:p>
        </p:txBody>
      </p:sp>
      <p:sp>
        <p:nvSpPr>
          <p:cNvPr id="62" name="TextBox 61"/>
          <p:cNvSpPr txBox="1"/>
          <p:nvPr/>
        </p:nvSpPr>
        <p:spPr>
          <a:xfrm>
            <a:off x="5257800" y="6876288"/>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&gt;18m</a:t>
            </a:r>
          </a:p>
        </p:txBody>
      </p:sp>
      <p:sp>
        <p:nvSpPr>
          <p:cNvPr id="63" name="TextBox 62"/>
          <p:cNvSpPr txBox="1"/>
          <p:nvPr/>
        </p:nvSpPr>
        <p:spPr>
          <a:xfrm>
            <a:off x="7086600" y="6876288"/>
            <a:ext cx="16459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&gt;18m</a:t>
            </a:r>
          </a:p>
        </p:txBody>
      </p:sp>
      <p:sp>
        <p:nvSpPr>
          <p:cNvPr id="64" name="TextBox 63"/>
          <p:cNvSpPr txBox="1"/>
          <p:nvPr/>
        </p:nvSpPr>
        <p:spPr>
          <a:xfrm>
            <a:off x="8915400" y="6876288"/>
            <a:ext cx="2560320" cy="27432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auto-financé</a:t>
            </a:r>
          </a:p>
        </p:txBody>
      </p:sp>
      <p:sp>
        <p:nvSpPr>
          <p:cNvPr id="65" name="Rectangle 64"/>
          <p:cNvSpPr/>
          <p:nvPr/>
        </p:nvSpPr>
        <p:spPr>
          <a:xfrm>
            <a:off x="0" y="6629400"/>
            <a:ext cx="12191695" cy="2286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5760" y="6647688"/>
            <a:ext cx="3657600" cy="201168"/>
          </a:xfrm>
          <a:prstGeom prst="rect">
            <a:avLst/>
          </a:prstGeom>
          <a:noFill/>
        </p:spPr>
        <p:txBody>
          <a:bodyPr wrap="square" lIns="0" rIns="0" tIns="0" bIns="0" anchor="t">
            <a:spAutoFit/>
          </a:bodyPr>
          <a:lstStyle/>
          <a:p>
            <a:pPr algn="l">
              <a:lnSpc>
                <a:spcPct val="115000"/>
              </a:lnSpc>
            </a:pPr>
            <a:r>
              <a:rPr sz="900" b="0">
                <a:solidFill>
                  <a:srgbClr val="8A95A8"/>
                </a:solidFill>
                <a:latin typeface="Calibri Light"/>
              </a:rPr>
              <a:t>HESIA — Confidential</a:t>
            </a:r>
          </a:p>
        </p:txBody>
      </p:sp>
      <p:sp>
        <p:nvSpPr>
          <p:cNvPr id="67" name="TextBox 66"/>
          <p:cNvSpPr txBox="1"/>
          <p:nvPr/>
        </p:nvSpPr>
        <p:spPr>
          <a:xfrm>
            <a:off x="4572000" y="6647688"/>
            <a:ext cx="2743200" cy="201168"/>
          </a:xfrm>
          <a:prstGeom prst="rect">
            <a:avLst/>
          </a:prstGeom>
          <a:noFill/>
        </p:spPr>
        <p:txBody>
          <a:bodyPr wrap="square" lIns="0" rIns="0" tIns="0" bIns="0" anchor="t">
            <a:spAutoFit/>
          </a:bodyPr>
          <a:lstStyle/>
          <a:p>
            <a:pPr algn="ctr">
              <a:lnSpc>
                <a:spcPct val="115000"/>
              </a:lnSpc>
            </a:pPr>
            <a:r>
              <a:rPr sz="900" b="0">
                <a:solidFill>
                  <a:srgbClr val="8A95A8"/>
                </a:solidFill>
                <a:latin typeface="Calibri Light"/>
              </a:rPr>
              <a:t>Pitch Investisseurs · 2026</a:t>
            </a:r>
          </a:p>
        </p:txBody>
      </p:sp>
      <p:sp>
        <p:nvSpPr>
          <p:cNvPr id="68" name="TextBox 67"/>
          <p:cNvSpPr txBox="1"/>
          <p:nvPr/>
        </p:nvSpPr>
        <p:spPr>
          <a:xfrm>
            <a:off x="10058400" y="6647688"/>
            <a:ext cx="1828800" cy="201168"/>
          </a:xfrm>
          <a:prstGeom prst="rect">
            <a:avLst/>
          </a:prstGeom>
          <a:noFill/>
        </p:spPr>
        <p:txBody>
          <a:bodyPr wrap="square" lIns="0" rIns="0" tIns="0" bIns="0" anchor="t">
            <a:spAutoFit/>
          </a:bodyPr>
          <a:lstStyle/>
          <a:p>
            <a:pPr algn="r">
              <a:lnSpc>
                <a:spcPct val="115000"/>
              </a:lnSpc>
            </a:pPr>
            <a:r>
              <a:rPr sz="900" b="0">
                <a:solidFill>
                  <a:srgbClr val="8A95A8"/>
                </a:solidFill>
                <a:latin typeface="Calibri Light"/>
              </a:rPr>
              <a:t>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365760" y="274320"/>
            <a:ext cx="411480" cy="411480"/>
          </a:xfrm>
          <a:prstGeom prst="hexagon">
            <a:avLst/>
          </a:prstGeom>
          <a:noFill/>
          <a:ln w="1905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411480" cy="411480"/>
          </a:xfrm>
          <a:prstGeom prst="rect">
            <a:avLst/>
          </a:prstGeom>
          <a:noFill/>
        </p:spPr>
        <p:txBody>
          <a:bodyPr wrap="none" lIns="0" rIns="0" tIns="0" bIns="0" anchor="ctr">
            <a:spAutoFit/>
          </a:bodyPr>
          <a:lstStyle/>
          <a:p>
            <a:pPr algn="ctr"/>
            <a:r>
              <a:rPr b="1" sz="1700">
                <a:solidFill>
                  <a:srgbClr val="D4A017"/>
                </a:solidFill>
                <a:latin typeface="Calibri"/>
              </a:rPr>
              <a:t>H</a:t>
            </a:r>
          </a:p>
        </p:txBody>
      </p:sp>
      <p:sp>
        <p:nvSpPr>
          <p:cNvPr id="5" name="TextBox 4"/>
          <p:cNvSpPr txBox="1"/>
          <p:nvPr/>
        </p:nvSpPr>
        <p:spPr>
          <a:xfrm>
            <a:off x="868680" y="292608"/>
            <a:ext cx="1828800" cy="365760"/>
          </a:xfrm>
          <a:prstGeom prst="rect">
            <a:avLst/>
          </a:prstGeom>
          <a:noFill/>
        </p:spPr>
        <p:txBody>
          <a:bodyPr wrap="square" lIns="0" rIns="0" tIns="0" bIns="0" anchor="t">
            <a:spAutoFit/>
          </a:bodyPr>
          <a:lstStyle/>
          <a:p>
            <a:pPr algn="l">
              <a:lnSpc>
                <a:spcPct val="115000"/>
              </a:lnSpc>
            </a:pPr>
            <a:r>
              <a:rPr sz="1600" b="1">
                <a:solidFill>
                  <a:srgbClr val="FFFFFF"/>
                </a:solidFill>
                <a:latin typeface="Calibri"/>
              </a:rPr>
              <a:t>HESIA</a:t>
            </a:r>
          </a:p>
        </p:txBody>
      </p:sp>
      <p:sp>
        <p:nvSpPr>
          <p:cNvPr id="6" name="TextBox 5"/>
          <p:cNvSpPr txBox="1"/>
          <p:nvPr/>
        </p:nvSpPr>
        <p:spPr>
          <a:xfrm>
            <a:off x="548640" y="868680"/>
            <a:ext cx="7315200" cy="32004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UTILISATION DES FONDS</a:t>
            </a:r>
          </a:p>
        </p:txBody>
      </p:sp>
      <p:sp>
        <p:nvSpPr>
          <p:cNvPr id="7" name="TextBox 6"/>
          <p:cNvSpPr txBox="1"/>
          <p:nvPr/>
        </p:nvSpPr>
        <p:spPr>
          <a:xfrm>
            <a:off x="548640" y="1188720"/>
            <a:ext cx="10972800" cy="822960"/>
          </a:xfrm>
          <a:prstGeom prst="rect">
            <a:avLst/>
          </a:prstGeom>
          <a:noFill/>
        </p:spPr>
        <p:txBody>
          <a:bodyPr wrap="square" lIns="0" rIns="0" tIns="0" bIns="0" anchor="t">
            <a:spAutoFit/>
          </a:bodyPr>
          <a:lstStyle/>
          <a:p>
            <a:pPr algn="l">
              <a:lnSpc>
                <a:spcPct val="115000"/>
              </a:lnSpc>
            </a:pPr>
            <a:r>
              <a:rPr sz="3200" b="1">
                <a:solidFill>
                  <a:srgbClr val="FFFFFF"/>
                </a:solidFill>
                <a:latin typeface="Calibri"/>
              </a:rPr>
              <a:t>Allocation des fonds levés — 18-24 mois de runway.</a:t>
            </a:r>
          </a:p>
        </p:txBody>
      </p:sp>
      <p:sp>
        <p:nvSpPr>
          <p:cNvPr id="8" name="Rectangle 7"/>
          <p:cNvSpPr/>
          <p:nvPr/>
        </p:nvSpPr>
        <p:spPr>
          <a:xfrm>
            <a:off x="548640" y="1965960"/>
            <a:ext cx="6400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194560"/>
            <a:ext cx="10972800" cy="457200"/>
          </a:xfrm>
          <a:prstGeom prst="rect">
            <a:avLst/>
          </a:prstGeom>
          <a:noFill/>
        </p:spPr>
        <p:txBody>
          <a:bodyPr wrap="square" lIns="0" rIns="0" tIns="0" bIns="0" anchor="t">
            <a:spAutoFit/>
          </a:bodyPr>
          <a:lstStyle/>
          <a:p>
            <a:pPr algn="l">
              <a:lnSpc>
                <a:spcPct val="115000"/>
              </a:lnSpc>
            </a:pPr>
            <a:r>
              <a:rPr sz="1400" b="0">
                <a:solidFill>
                  <a:srgbClr val="F5F1E8"/>
                </a:solidFill>
                <a:latin typeface="Calibri Light"/>
              </a:rPr>
              <a:t>Priorité : produit certifié + équipe technique + traction commerciale UE. Pas de dépenses brand prématurées.</a:t>
            </a:r>
          </a:p>
        </p:txBody>
      </p:sp>
      <p:sp>
        <p:nvSpPr>
          <p:cNvPr id="10" name="Rectangle 9"/>
          <p:cNvSpPr/>
          <p:nvPr/>
        </p:nvSpPr>
        <p:spPr>
          <a:xfrm>
            <a:off x="548640" y="2926080"/>
            <a:ext cx="11064240" cy="45720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926080"/>
            <a:ext cx="4978908" cy="45720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527548" y="2926080"/>
            <a:ext cx="2766060" cy="457200"/>
          </a:xfrm>
          <a:prstGeom prst="rect">
            <a:avLst/>
          </a:prstGeom>
          <a:solidFill>
            <a:srgbClr val="C99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93608" y="2926080"/>
            <a:ext cx="1659636" cy="457200"/>
          </a:xfrm>
          <a:prstGeom prst="rect">
            <a:avLst/>
          </a:prstGeom>
          <a:solidFill>
            <a:srgbClr val="A07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953244" y="2926080"/>
            <a:ext cx="1106424" cy="457200"/>
          </a:xfrm>
          <a:prstGeom prst="rect">
            <a:avLst/>
          </a:prstGeom>
          <a:solidFill>
            <a:srgbClr val="705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059668" y="2926080"/>
            <a:ext cx="553212" cy="457200"/>
          </a:xfrm>
          <a:prstGeom prst="rect">
            <a:avLst/>
          </a:prstGeom>
          <a:solidFill>
            <a:srgbClr val="4A3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840479"/>
            <a:ext cx="164592" cy="164592"/>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749039"/>
            <a:ext cx="2743200" cy="365760"/>
          </a:xfrm>
          <a:prstGeom prst="rect">
            <a:avLst/>
          </a:prstGeom>
          <a:noFill/>
        </p:spPr>
        <p:txBody>
          <a:bodyPr wrap="square" lIns="0" rIns="0" tIns="0" bIns="0" anchor="t">
            <a:spAutoFit/>
          </a:bodyPr>
          <a:lstStyle/>
          <a:p>
            <a:pPr algn="l">
              <a:lnSpc>
                <a:spcPct val="115000"/>
              </a:lnSpc>
            </a:pPr>
            <a:r>
              <a:rPr sz="1300" b="1">
                <a:solidFill>
                  <a:srgbClr val="FFFFFF"/>
                </a:solidFill>
                <a:latin typeface="Calibri"/>
              </a:rPr>
              <a:t>R&amp;D produit + certification</a:t>
            </a:r>
          </a:p>
        </p:txBody>
      </p:sp>
      <p:sp>
        <p:nvSpPr>
          <p:cNvPr id="18" name="TextBox 17"/>
          <p:cNvSpPr txBox="1"/>
          <p:nvPr/>
        </p:nvSpPr>
        <p:spPr>
          <a:xfrm>
            <a:off x="3749039" y="3749039"/>
            <a:ext cx="1097280" cy="365760"/>
          </a:xfrm>
          <a:prstGeom prst="rect">
            <a:avLst/>
          </a:prstGeom>
          <a:noFill/>
        </p:spPr>
        <p:txBody>
          <a:bodyPr wrap="square" lIns="0" rIns="0" tIns="0" bIns="0" anchor="t">
            <a:spAutoFit/>
          </a:bodyPr>
          <a:lstStyle/>
          <a:p>
            <a:pPr algn="l">
              <a:lnSpc>
                <a:spcPct val="115000"/>
              </a:lnSpc>
            </a:pPr>
            <a:r>
              <a:rPr sz="1300" b="1">
                <a:solidFill>
                  <a:srgbClr val="D4A017"/>
                </a:solidFill>
                <a:latin typeface="Calibri"/>
              </a:rPr>
              <a:t>45%</a:t>
            </a:r>
          </a:p>
        </p:txBody>
      </p:sp>
      <p:sp>
        <p:nvSpPr>
          <p:cNvPr id="19" name="TextBox 18"/>
          <p:cNvSpPr txBox="1"/>
          <p:nvPr/>
        </p:nvSpPr>
        <p:spPr>
          <a:xfrm>
            <a:off x="5029200" y="3749039"/>
            <a:ext cx="6858000" cy="36576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Recrutement ingénierie (5-7 ETP), CSPN, audit pentest externe, gap CC EAL4+.</a:t>
            </a:r>
          </a:p>
        </p:txBody>
      </p:sp>
      <p:sp>
        <p:nvSpPr>
          <p:cNvPr id="20" name="Rectangle 19"/>
          <p:cNvSpPr/>
          <p:nvPr/>
        </p:nvSpPr>
        <p:spPr>
          <a:xfrm>
            <a:off x="548640" y="4343399"/>
            <a:ext cx="164592" cy="164592"/>
          </a:xfrm>
          <a:prstGeom prst="rect">
            <a:avLst/>
          </a:prstGeom>
          <a:solidFill>
            <a:srgbClr val="C99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51959"/>
            <a:ext cx="2743200" cy="365760"/>
          </a:xfrm>
          <a:prstGeom prst="rect">
            <a:avLst/>
          </a:prstGeom>
          <a:noFill/>
        </p:spPr>
        <p:txBody>
          <a:bodyPr wrap="square" lIns="0" rIns="0" tIns="0" bIns="0" anchor="t">
            <a:spAutoFit/>
          </a:bodyPr>
          <a:lstStyle/>
          <a:p>
            <a:pPr algn="l">
              <a:lnSpc>
                <a:spcPct val="115000"/>
              </a:lnSpc>
            </a:pPr>
            <a:r>
              <a:rPr sz="1300" b="1">
                <a:solidFill>
                  <a:srgbClr val="FFFFFF"/>
                </a:solidFill>
                <a:latin typeface="Calibri"/>
              </a:rPr>
              <a:t>Sales &amp; marketing</a:t>
            </a:r>
          </a:p>
        </p:txBody>
      </p:sp>
      <p:sp>
        <p:nvSpPr>
          <p:cNvPr id="22" name="TextBox 21"/>
          <p:cNvSpPr txBox="1"/>
          <p:nvPr/>
        </p:nvSpPr>
        <p:spPr>
          <a:xfrm>
            <a:off x="3749039" y="4251959"/>
            <a:ext cx="1097280" cy="365760"/>
          </a:xfrm>
          <a:prstGeom prst="rect">
            <a:avLst/>
          </a:prstGeom>
          <a:noFill/>
        </p:spPr>
        <p:txBody>
          <a:bodyPr wrap="square" lIns="0" rIns="0" tIns="0" bIns="0" anchor="t">
            <a:spAutoFit/>
          </a:bodyPr>
          <a:lstStyle/>
          <a:p>
            <a:pPr algn="l">
              <a:lnSpc>
                <a:spcPct val="115000"/>
              </a:lnSpc>
            </a:pPr>
            <a:r>
              <a:rPr sz="1300" b="1">
                <a:solidFill>
                  <a:srgbClr val="D4A017"/>
                </a:solidFill>
                <a:latin typeface="Calibri"/>
              </a:rPr>
              <a:t>25%</a:t>
            </a:r>
          </a:p>
        </p:txBody>
      </p:sp>
      <p:sp>
        <p:nvSpPr>
          <p:cNvPr id="23" name="TextBox 22"/>
          <p:cNvSpPr txBox="1"/>
          <p:nvPr/>
        </p:nvSpPr>
        <p:spPr>
          <a:xfrm>
            <a:off x="5029200" y="4251959"/>
            <a:ext cx="6858000" cy="36576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AE senior + SE + content marketing + 2 salons stand UE.</a:t>
            </a:r>
          </a:p>
        </p:txBody>
      </p:sp>
      <p:sp>
        <p:nvSpPr>
          <p:cNvPr id="24" name="Rectangle 23"/>
          <p:cNvSpPr/>
          <p:nvPr/>
        </p:nvSpPr>
        <p:spPr>
          <a:xfrm>
            <a:off x="548640" y="4846319"/>
            <a:ext cx="164592" cy="164592"/>
          </a:xfrm>
          <a:prstGeom prst="rect">
            <a:avLst/>
          </a:prstGeom>
          <a:solidFill>
            <a:srgbClr val="A07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4754879"/>
            <a:ext cx="2743200" cy="365760"/>
          </a:xfrm>
          <a:prstGeom prst="rect">
            <a:avLst/>
          </a:prstGeom>
          <a:noFill/>
        </p:spPr>
        <p:txBody>
          <a:bodyPr wrap="square" lIns="0" rIns="0" tIns="0" bIns="0" anchor="t">
            <a:spAutoFit/>
          </a:bodyPr>
          <a:lstStyle/>
          <a:p>
            <a:pPr algn="l">
              <a:lnSpc>
                <a:spcPct val="115000"/>
              </a:lnSpc>
            </a:pPr>
            <a:r>
              <a:rPr sz="1300" b="1">
                <a:solidFill>
                  <a:srgbClr val="FFFFFF"/>
                </a:solidFill>
                <a:latin typeface="Calibri"/>
              </a:rPr>
              <a:t>Opérations &amp; équipe</a:t>
            </a:r>
          </a:p>
        </p:txBody>
      </p:sp>
      <p:sp>
        <p:nvSpPr>
          <p:cNvPr id="26" name="TextBox 25"/>
          <p:cNvSpPr txBox="1"/>
          <p:nvPr/>
        </p:nvSpPr>
        <p:spPr>
          <a:xfrm>
            <a:off x="3749039" y="4754879"/>
            <a:ext cx="1097280" cy="365760"/>
          </a:xfrm>
          <a:prstGeom prst="rect">
            <a:avLst/>
          </a:prstGeom>
          <a:noFill/>
        </p:spPr>
        <p:txBody>
          <a:bodyPr wrap="square" lIns="0" rIns="0" tIns="0" bIns="0" anchor="t">
            <a:spAutoFit/>
          </a:bodyPr>
          <a:lstStyle/>
          <a:p>
            <a:pPr algn="l">
              <a:lnSpc>
                <a:spcPct val="115000"/>
              </a:lnSpc>
            </a:pPr>
            <a:r>
              <a:rPr sz="1300" b="1">
                <a:solidFill>
                  <a:srgbClr val="D4A017"/>
                </a:solidFill>
                <a:latin typeface="Calibri"/>
              </a:rPr>
              <a:t>15%</a:t>
            </a:r>
          </a:p>
        </p:txBody>
      </p:sp>
      <p:sp>
        <p:nvSpPr>
          <p:cNvPr id="27" name="TextBox 26"/>
          <p:cNvSpPr txBox="1"/>
          <p:nvPr/>
        </p:nvSpPr>
        <p:spPr>
          <a:xfrm>
            <a:off x="5029200" y="4754879"/>
            <a:ext cx="6858000" cy="36576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CFO fractional, juridique, RH, outils, infrastructure.</a:t>
            </a:r>
          </a:p>
        </p:txBody>
      </p:sp>
      <p:sp>
        <p:nvSpPr>
          <p:cNvPr id="28" name="Rectangle 27"/>
          <p:cNvSpPr/>
          <p:nvPr/>
        </p:nvSpPr>
        <p:spPr>
          <a:xfrm>
            <a:off x="548640" y="5349239"/>
            <a:ext cx="164592" cy="164592"/>
          </a:xfrm>
          <a:prstGeom prst="rect">
            <a:avLst/>
          </a:prstGeom>
          <a:solidFill>
            <a:srgbClr val="705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5257799"/>
            <a:ext cx="2743200" cy="365760"/>
          </a:xfrm>
          <a:prstGeom prst="rect">
            <a:avLst/>
          </a:prstGeom>
          <a:noFill/>
        </p:spPr>
        <p:txBody>
          <a:bodyPr wrap="square" lIns="0" rIns="0" tIns="0" bIns="0" anchor="t">
            <a:spAutoFit/>
          </a:bodyPr>
          <a:lstStyle/>
          <a:p>
            <a:pPr algn="l">
              <a:lnSpc>
                <a:spcPct val="115000"/>
              </a:lnSpc>
            </a:pPr>
            <a:r>
              <a:rPr sz="1300" b="1">
                <a:solidFill>
                  <a:srgbClr val="FFFFFF"/>
                </a:solidFill>
                <a:latin typeface="Calibri"/>
              </a:rPr>
              <a:t>Buffer stratégique</a:t>
            </a:r>
          </a:p>
        </p:txBody>
      </p:sp>
      <p:sp>
        <p:nvSpPr>
          <p:cNvPr id="30" name="TextBox 29"/>
          <p:cNvSpPr txBox="1"/>
          <p:nvPr/>
        </p:nvSpPr>
        <p:spPr>
          <a:xfrm>
            <a:off x="3749039" y="5257799"/>
            <a:ext cx="1097280" cy="365760"/>
          </a:xfrm>
          <a:prstGeom prst="rect">
            <a:avLst/>
          </a:prstGeom>
          <a:noFill/>
        </p:spPr>
        <p:txBody>
          <a:bodyPr wrap="square" lIns="0" rIns="0" tIns="0" bIns="0" anchor="t">
            <a:spAutoFit/>
          </a:bodyPr>
          <a:lstStyle/>
          <a:p>
            <a:pPr algn="l">
              <a:lnSpc>
                <a:spcPct val="115000"/>
              </a:lnSpc>
            </a:pPr>
            <a:r>
              <a:rPr sz="1300" b="1">
                <a:solidFill>
                  <a:srgbClr val="D4A017"/>
                </a:solidFill>
                <a:latin typeface="Calibri"/>
              </a:rPr>
              <a:t>10%</a:t>
            </a:r>
          </a:p>
        </p:txBody>
      </p:sp>
      <p:sp>
        <p:nvSpPr>
          <p:cNvPr id="31" name="TextBox 30"/>
          <p:cNvSpPr txBox="1"/>
          <p:nvPr/>
        </p:nvSpPr>
        <p:spPr>
          <a:xfrm>
            <a:off x="5029200" y="5257799"/>
            <a:ext cx="6858000" cy="36576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Réserve opportunités M&amp;A, partenariats stratégiques.</a:t>
            </a:r>
          </a:p>
        </p:txBody>
      </p:sp>
      <p:sp>
        <p:nvSpPr>
          <p:cNvPr id="32" name="Rectangle 31"/>
          <p:cNvSpPr/>
          <p:nvPr/>
        </p:nvSpPr>
        <p:spPr>
          <a:xfrm>
            <a:off x="548640" y="5852159"/>
            <a:ext cx="164592" cy="164592"/>
          </a:xfrm>
          <a:prstGeom prst="rect">
            <a:avLst/>
          </a:prstGeom>
          <a:solidFill>
            <a:srgbClr val="4A37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8680" y="5760719"/>
            <a:ext cx="2743200" cy="365760"/>
          </a:xfrm>
          <a:prstGeom prst="rect">
            <a:avLst/>
          </a:prstGeom>
          <a:noFill/>
        </p:spPr>
        <p:txBody>
          <a:bodyPr wrap="square" lIns="0" rIns="0" tIns="0" bIns="0" anchor="t">
            <a:spAutoFit/>
          </a:bodyPr>
          <a:lstStyle/>
          <a:p>
            <a:pPr algn="l">
              <a:lnSpc>
                <a:spcPct val="115000"/>
              </a:lnSpc>
            </a:pPr>
            <a:r>
              <a:rPr sz="1300" b="1">
                <a:solidFill>
                  <a:srgbClr val="FFFFFF"/>
                </a:solidFill>
                <a:latin typeface="Calibri"/>
              </a:rPr>
              <a:t>Frais juridiques &amp; gouvernance</a:t>
            </a:r>
          </a:p>
        </p:txBody>
      </p:sp>
      <p:sp>
        <p:nvSpPr>
          <p:cNvPr id="34" name="TextBox 33"/>
          <p:cNvSpPr txBox="1"/>
          <p:nvPr/>
        </p:nvSpPr>
        <p:spPr>
          <a:xfrm>
            <a:off x="3749039" y="5760719"/>
            <a:ext cx="1097280" cy="365760"/>
          </a:xfrm>
          <a:prstGeom prst="rect">
            <a:avLst/>
          </a:prstGeom>
          <a:noFill/>
        </p:spPr>
        <p:txBody>
          <a:bodyPr wrap="square" lIns="0" rIns="0" tIns="0" bIns="0" anchor="t">
            <a:spAutoFit/>
          </a:bodyPr>
          <a:lstStyle/>
          <a:p>
            <a:pPr algn="l">
              <a:lnSpc>
                <a:spcPct val="115000"/>
              </a:lnSpc>
            </a:pPr>
            <a:r>
              <a:rPr sz="1300" b="1">
                <a:solidFill>
                  <a:srgbClr val="D4A017"/>
                </a:solidFill>
                <a:latin typeface="Calibri"/>
              </a:rPr>
              <a:t>5%</a:t>
            </a:r>
          </a:p>
        </p:txBody>
      </p:sp>
      <p:sp>
        <p:nvSpPr>
          <p:cNvPr id="35" name="TextBox 34"/>
          <p:cNvSpPr txBox="1"/>
          <p:nvPr/>
        </p:nvSpPr>
        <p:spPr>
          <a:xfrm>
            <a:off x="5029200" y="5760719"/>
            <a:ext cx="6858000" cy="365760"/>
          </a:xfrm>
          <a:prstGeom prst="rect">
            <a:avLst/>
          </a:prstGeom>
          <a:noFill/>
        </p:spPr>
        <p:txBody>
          <a:bodyPr wrap="square" lIns="0" rIns="0" tIns="0" bIns="0" anchor="t">
            <a:spAutoFit/>
          </a:bodyPr>
          <a:lstStyle/>
          <a:p>
            <a:pPr algn="l">
              <a:lnSpc>
                <a:spcPct val="115000"/>
              </a:lnSpc>
            </a:pPr>
            <a:r>
              <a:rPr sz="1100" b="0">
                <a:solidFill>
                  <a:srgbClr val="F5F1E8"/>
                </a:solidFill>
                <a:latin typeface="Calibri Light"/>
              </a:rPr>
              <a:t>Levée, pacte associés, propriété intellectuelle, conformité.</a:t>
            </a:r>
          </a:p>
        </p:txBody>
      </p:sp>
      <p:sp>
        <p:nvSpPr>
          <p:cNvPr id="36" name="Rectangle 35"/>
          <p:cNvSpPr/>
          <p:nvPr/>
        </p:nvSpPr>
        <p:spPr>
          <a:xfrm>
            <a:off x="0" y="6629400"/>
            <a:ext cx="12191695" cy="2286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647688"/>
            <a:ext cx="3657600" cy="201168"/>
          </a:xfrm>
          <a:prstGeom prst="rect">
            <a:avLst/>
          </a:prstGeom>
          <a:noFill/>
        </p:spPr>
        <p:txBody>
          <a:bodyPr wrap="square" lIns="0" rIns="0" tIns="0" bIns="0" anchor="t">
            <a:spAutoFit/>
          </a:bodyPr>
          <a:lstStyle/>
          <a:p>
            <a:pPr algn="l">
              <a:lnSpc>
                <a:spcPct val="115000"/>
              </a:lnSpc>
            </a:pPr>
            <a:r>
              <a:rPr sz="900" b="0">
                <a:solidFill>
                  <a:srgbClr val="8A95A8"/>
                </a:solidFill>
                <a:latin typeface="Calibri Light"/>
              </a:rPr>
              <a:t>HESIA — Confidential</a:t>
            </a:r>
          </a:p>
        </p:txBody>
      </p:sp>
      <p:sp>
        <p:nvSpPr>
          <p:cNvPr id="38" name="TextBox 37"/>
          <p:cNvSpPr txBox="1"/>
          <p:nvPr/>
        </p:nvSpPr>
        <p:spPr>
          <a:xfrm>
            <a:off x="4572000" y="6647688"/>
            <a:ext cx="2743200" cy="201168"/>
          </a:xfrm>
          <a:prstGeom prst="rect">
            <a:avLst/>
          </a:prstGeom>
          <a:noFill/>
        </p:spPr>
        <p:txBody>
          <a:bodyPr wrap="square" lIns="0" rIns="0" tIns="0" bIns="0" anchor="t">
            <a:spAutoFit/>
          </a:bodyPr>
          <a:lstStyle/>
          <a:p>
            <a:pPr algn="ctr">
              <a:lnSpc>
                <a:spcPct val="115000"/>
              </a:lnSpc>
            </a:pPr>
            <a:r>
              <a:rPr sz="900" b="0">
                <a:solidFill>
                  <a:srgbClr val="8A95A8"/>
                </a:solidFill>
                <a:latin typeface="Calibri Light"/>
              </a:rPr>
              <a:t>Pitch Investisseurs · 2026</a:t>
            </a:r>
          </a:p>
        </p:txBody>
      </p:sp>
      <p:sp>
        <p:nvSpPr>
          <p:cNvPr id="39" name="TextBox 38"/>
          <p:cNvSpPr txBox="1"/>
          <p:nvPr/>
        </p:nvSpPr>
        <p:spPr>
          <a:xfrm>
            <a:off x="10058400" y="6647688"/>
            <a:ext cx="1828800" cy="201168"/>
          </a:xfrm>
          <a:prstGeom prst="rect">
            <a:avLst/>
          </a:prstGeom>
          <a:noFill/>
        </p:spPr>
        <p:txBody>
          <a:bodyPr wrap="square" lIns="0" rIns="0" tIns="0" bIns="0" anchor="t">
            <a:spAutoFit/>
          </a:bodyPr>
          <a:lstStyle/>
          <a:p>
            <a:pPr algn="r">
              <a:lnSpc>
                <a:spcPct val="115000"/>
              </a:lnSpc>
            </a:pPr>
            <a:r>
              <a:rPr sz="900" b="0">
                <a:solidFill>
                  <a:srgbClr val="8A95A8"/>
                </a:solidFill>
                <a:latin typeface="Calibri Light"/>
              </a:rPr>
              <a:t>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365760" y="274320"/>
            <a:ext cx="411480" cy="411480"/>
          </a:xfrm>
          <a:prstGeom prst="hexagon">
            <a:avLst/>
          </a:prstGeom>
          <a:noFill/>
          <a:ln w="1905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0"/>
            <a:ext cx="411480" cy="411480"/>
          </a:xfrm>
          <a:prstGeom prst="rect">
            <a:avLst/>
          </a:prstGeom>
          <a:noFill/>
        </p:spPr>
        <p:txBody>
          <a:bodyPr wrap="none" lIns="0" rIns="0" tIns="0" bIns="0" anchor="ctr">
            <a:spAutoFit/>
          </a:bodyPr>
          <a:lstStyle/>
          <a:p>
            <a:pPr algn="ctr"/>
            <a:r>
              <a:rPr b="1" sz="1700">
                <a:solidFill>
                  <a:srgbClr val="D4A017"/>
                </a:solidFill>
                <a:latin typeface="Calibri"/>
              </a:rPr>
              <a:t>H</a:t>
            </a:r>
          </a:p>
        </p:txBody>
      </p:sp>
      <p:sp>
        <p:nvSpPr>
          <p:cNvPr id="5" name="TextBox 4"/>
          <p:cNvSpPr txBox="1"/>
          <p:nvPr/>
        </p:nvSpPr>
        <p:spPr>
          <a:xfrm>
            <a:off x="868680" y="292608"/>
            <a:ext cx="1828800" cy="365760"/>
          </a:xfrm>
          <a:prstGeom prst="rect">
            <a:avLst/>
          </a:prstGeom>
          <a:noFill/>
        </p:spPr>
        <p:txBody>
          <a:bodyPr wrap="square" lIns="0" rIns="0" tIns="0" bIns="0" anchor="t">
            <a:spAutoFit/>
          </a:bodyPr>
          <a:lstStyle/>
          <a:p>
            <a:pPr algn="l">
              <a:lnSpc>
                <a:spcPct val="115000"/>
              </a:lnSpc>
            </a:pPr>
            <a:r>
              <a:rPr sz="1600" b="1">
                <a:solidFill>
                  <a:srgbClr val="FFFFFF"/>
                </a:solidFill>
                <a:latin typeface="Calibri"/>
              </a:rPr>
              <a:t>HESIA</a:t>
            </a:r>
          </a:p>
        </p:txBody>
      </p:sp>
      <p:sp>
        <p:nvSpPr>
          <p:cNvPr id="6" name="TextBox 5"/>
          <p:cNvSpPr txBox="1"/>
          <p:nvPr/>
        </p:nvSpPr>
        <p:spPr>
          <a:xfrm>
            <a:off x="548640" y="868680"/>
            <a:ext cx="7315200" cy="32004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ASK</a:t>
            </a:r>
          </a:p>
        </p:txBody>
      </p:sp>
      <p:sp>
        <p:nvSpPr>
          <p:cNvPr id="7" name="TextBox 6"/>
          <p:cNvSpPr txBox="1"/>
          <p:nvPr/>
        </p:nvSpPr>
        <p:spPr>
          <a:xfrm>
            <a:off x="548640" y="1188720"/>
            <a:ext cx="10972800" cy="822960"/>
          </a:xfrm>
          <a:prstGeom prst="rect">
            <a:avLst/>
          </a:prstGeom>
          <a:noFill/>
        </p:spPr>
        <p:txBody>
          <a:bodyPr wrap="square" lIns="0" rIns="0" tIns="0" bIns="0" anchor="t">
            <a:spAutoFit/>
          </a:bodyPr>
          <a:lstStyle/>
          <a:p>
            <a:pPr algn="l">
              <a:lnSpc>
                <a:spcPct val="115000"/>
              </a:lnSpc>
            </a:pPr>
            <a:r>
              <a:rPr sz="3200" b="1">
                <a:solidFill>
                  <a:srgbClr val="FFFFFF"/>
                </a:solidFill>
                <a:latin typeface="Calibri"/>
              </a:rPr>
              <a:t>Notre demande — partenariat sur 18 mois.</a:t>
            </a:r>
          </a:p>
        </p:txBody>
      </p:sp>
      <p:sp>
        <p:nvSpPr>
          <p:cNvPr id="8" name="Rectangle 7"/>
          <p:cNvSpPr/>
          <p:nvPr/>
        </p:nvSpPr>
        <p:spPr>
          <a:xfrm>
            <a:off x="548640" y="1965960"/>
            <a:ext cx="640080"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377440"/>
            <a:ext cx="7315200" cy="365760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77440"/>
            <a:ext cx="73152" cy="365760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06040"/>
            <a:ext cx="6400800" cy="36576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MONTANT RECHERCHÉ</a:t>
            </a:r>
          </a:p>
        </p:txBody>
      </p:sp>
      <p:sp>
        <p:nvSpPr>
          <p:cNvPr id="12" name="TextBox 11"/>
          <p:cNvSpPr txBox="1"/>
          <p:nvPr/>
        </p:nvSpPr>
        <p:spPr>
          <a:xfrm>
            <a:off x="822960" y="3017520"/>
            <a:ext cx="6400800" cy="1097280"/>
          </a:xfrm>
          <a:prstGeom prst="rect">
            <a:avLst/>
          </a:prstGeom>
          <a:noFill/>
        </p:spPr>
        <p:txBody>
          <a:bodyPr wrap="square" lIns="0" rIns="0" tIns="0" bIns="0" anchor="t">
            <a:spAutoFit/>
          </a:bodyPr>
          <a:lstStyle/>
          <a:p>
            <a:pPr algn="l">
              <a:lnSpc>
                <a:spcPct val="115000"/>
              </a:lnSpc>
            </a:pPr>
            <a:r>
              <a:rPr sz="6400" b="1">
                <a:solidFill>
                  <a:srgbClr val="FFFFFF"/>
                </a:solidFill>
                <a:latin typeface="Calibri"/>
              </a:rPr>
              <a:t>5 – 8 M€</a:t>
            </a:r>
          </a:p>
        </p:txBody>
      </p:sp>
      <p:sp>
        <p:nvSpPr>
          <p:cNvPr id="13" name="TextBox 12"/>
          <p:cNvSpPr txBox="1"/>
          <p:nvPr/>
        </p:nvSpPr>
        <p:spPr>
          <a:xfrm>
            <a:off x="822960" y="4206240"/>
            <a:ext cx="6400800" cy="457200"/>
          </a:xfrm>
          <a:prstGeom prst="rect">
            <a:avLst/>
          </a:prstGeom>
          <a:noFill/>
        </p:spPr>
        <p:txBody>
          <a:bodyPr wrap="square" lIns="0" rIns="0" tIns="0" bIns="0" anchor="t">
            <a:spAutoFit/>
          </a:bodyPr>
          <a:lstStyle/>
          <a:p>
            <a:pPr algn="l">
              <a:lnSpc>
                <a:spcPct val="115000"/>
              </a:lnSpc>
            </a:pPr>
            <a:r>
              <a:rPr sz="1800" b="0">
                <a:solidFill>
                  <a:srgbClr val="F5F1E8"/>
                </a:solidFill>
                <a:latin typeface="Calibri Light"/>
              </a:rPr>
              <a:t>Série Seed+ / Série A</a:t>
            </a:r>
          </a:p>
        </p:txBody>
      </p:sp>
      <p:sp>
        <p:nvSpPr>
          <p:cNvPr id="14" name="TextBox 13"/>
          <p:cNvSpPr txBox="1"/>
          <p:nvPr/>
        </p:nvSpPr>
        <p:spPr>
          <a:xfrm>
            <a:off x="822960" y="4846320"/>
            <a:ext cx="6400800" cy="1188720"/>
          </a:xfrm>
          <a:prstGeom prst="rect">
            <a:avLst/>
          </a:prstGeom>
          <a:noFill/>
        </p:spPr>
        <p:txBody>
          <a:bodyPr wrap="square" lIns="0" rIns="0" tIns="0" bIns="0">
            <a:spAutoFit/>
          </a:bodyPr>
          <a:lstStyle/>
          <a:p>
            <a:pPr algn="l">
              <a:lnSpc>
                <a:spcPct val="160000"/>
              </a:lnSpc>
            </a:pPr>
            <a:r>
              <a:rPr sz="1100" b="0">
                <a:solidFill>
                  <a:srgbClr val="F5F1E8"/>
                </a:solidFill>
                <a:latin typeface="Calibri Light"/>
              </a:rPr>
              <a:t>  Lead investor recherché : 2-4 M€</a:t>
            </a:r>
          </a:p>
          <a:p>
            <a:pPr algn="l">
              <a:lnSpc>
                <a:spcPct val="160000"/>
              </a:lnSpc>
            </a:pPr>
            <a:r>
              <a:rPr sz="1100" b="0">
                <a:solidFill>
                  <a:srgbClr val="F5F1E8"/>
                </a:solidFill>
                <a:latin typeface="Calibri Light"/>
              </a:rPr>
              <a:t>  Co-lead souhaité : 1-2 M€</a:t>
            </a:r>
          </a:p>
          <a:p>
            <a:pPr algn="l">
              <a:lnSpc>
                <a:spcPct val="160000"/>
              </a:lnSpc>
            </a:pPr>
            <a:r>
              <a:rPr sz="1100" b="0">
                <a:solidFill>
                  <a:srgbClr val="F5F1E8"/>
                </a:solidFill>
                <a:latin typeface="Calibri Light"/>
              </a:rPr>
              <a:t>  Tickets stratégiques : 0,5-1 M€</a:t>
            </a:r>
          </a:p>
          <a:p>
            <a:pPr algn="l">
              <a:lnSpc>
                <a:spcPct val="160000"/>
              </a:lnSpc>
            </a:pPr>
            <a:r>
              <a:rPr sz="1100" b="0">
                <a:solidFill>
                  <a:srgbClr val="F5F1E8"/>
                </a:solidFill>
                <a:latin typeface="Calibri Light"/>
              </a:rPr>
              <a:t>  Dispositifs publics complémentaires : Bpifrance, EIC, France 2030</a:t>
            </a:r>
          </a:p>
          <a:p>
            <a:pPr algn="l">
              <a:lnSpc>
                <a:spcPct val="160000"/>
              </a:lnSpc>
            </a:pPr>
            <a:r>
              <a:rPr sz="1100" b="0">
                <a:solidFill>
                  <a:srgbClr val="F5F1E8"/>
                </a:solidFill>
                <a:latin typeface="Calibri Light"/>
              </a:rPr>
              <a:t>  Préférence investisseurs UE / souverains</a:t>
            </a:r>
          </a:p>
        </p:txBody>
      </p:sp>
      <p:sp>
        <p:nvSpPr>
          <p:cNvPr id="15" name="TextBox 14"/>
          <p:cNvSpPr txBox="1"/>
          <p:nvPr/>
        </p:nvSpPr>
        <p:spPr>
          <a:xfrm>
            <a:off x="8229600" y="2606040"/>
            <a:ext cx="3657600" cy="365760"/>
          </a:xfrm>
          <a:prstGeom prst="rect">
            <a:avLst/>
          </a:prstGeom>
          <a:noFill/>
        </p:spPr>
        <p:txBody>
          <a:bodyPr wrap="square" lIns="0" rIns="0" tIns="0" bIns="0" anchor="t">
            <a:spAutoFit/>
          </a:bodyPr>
          <a:lstStyle/>
          <a:p>
            <a:pPr algn="l">
              <a:lnSpc>
                <a:spcPct val="115000"/>
              </a:lnSpc>
            </a:pPr>
            <a:r>
              <a:rPr sz="1200" b="1">
                <a:solidFill>
                  <a:srgbClr val="D4A017"/>
                </a:solidFill>
                <a:latin typeface="Calibri"/>
              </a:rPr>
              <a:t>MILESTONES SUR 18 MOIS</a:t>
            </a:r>
          </a:p>
        </p:txBody>
      </p:sp>
      <p:sp>
        <p:nvSpPr>
          <p:cNvPr id="16" name="TextBox 15"/>
          <p:cNvSpPr txBox="1"/>
          <p:nvPr/>
        </p:nvSpPr>
        <p:spPr>
          <a:xfrm>
            <a:off x="8229600" y="3017520"/>
            <a:ext cx="457200" cy="365760"/>
          </a:xfrm>
          <a:prstGeom prst="rect">
            <a:avLst/>
          </a:prstGeom>
          <a:noFill/>
        </p:spPr>
        <p:txBody>
          <a:bodyPr wrap="square" lIns="0" rIns="0" tIns="0" bIns="0" anchor="t">
            <a:spAutoFit/>
          </a:bodyPr>
          <a:lstStyle/>
          <a:p>
            <a:pPr algn="l">
              <a:lnSpc>
                <a:spcPct val="115000"/>
              </a:lnSpc>
            </a:pPr>
            <a:r>
              <a:rPr sz="1400" b="1">
                <a:solidFill>
                  <a:srgbClr val="D4A017"/>
                </a:solidFill>
                <a:latin typeface="Calibri"/>
              </a:rPr>
              <a:t>▸</a:t>
            </a:r>
          </a:p>
        </p:txBody>
      </p:sp>
      <p:sp>
        <p:nvSpPr>
          <p:cNvPr id="17" name="TextBox 16"/>
          <p:cNvSpPr txBox="1"/>
          <p:nvPr/>
        </p:nvSpPr>
        <p:spPr>
          <a:xfrm>
            <a:off x="8549640" y="3017520"/>
            <a:ext cx="3383280" cy="457200"/>
          </a:xfrm>
          <a:prstGeom prst="rect">
            <a:avLst/>
          </a:prstGeom>
          <a:noFill/>
        </p:spPr>
        <p:txBody>
          <a:bodyPr wrap="square" lIns="0" rIns="0" tIns="0" bIns="0" anchor="t">
            <a:spAutoFit/>
          </a:bodyPr>
          <a:lstStyle/>
          <a:p>
            <a:pPr algn="l">
              <a:lnSpc>
                <a:spcPct val="130000"/>
              </a:lnSpc>
            </a:pPr>
            <a:r>
              <a:rPr sz="1200" b="0">
                <a:solidFill>
                  <a:srgbClr val="F5F1E8"/>
                </a:solidFill>
                <a:latin typeface="Calibri Light"/>
              </a:rPr>
              <a:t>ARR signé ≥ 3 M€ d'ici fin 2027</a:t>
            </a:r>
          </a:p>
        </p:txBody>
      </p:sp>
      <p:sp>
        <p:nvSpPr>
          <p:cNvPr id="18" name="TextBox 17"/>
          <p:cNvSpPr txBox="1"/>
          <p:nvPr/>
        </p:nvSpPr>
        <p:spPr>
          <a:xfrm>
            <a:off x="8229600" y="3520440"/>
            <a:ext cx="457200" cy="365760"/>
          </a:xfrm>
          <a:prstGeom prst="rect">
            <a:avLst/>
          </a:prstGeom>
          <a:noFill/>
        </p:spPr>
        <p:txBody>
          <a:bodyPr wrap="square" lIns="0" rIns="0" tIns="0" bIns="0" anchor="t">
            <a:spAutoFit/>
          </a:bodyPr>
          <a:lstStyle/>
          <a:p>
            <a:pPr algn="l">
              <a:lnSpc>
                <a:spcPct val="115000"/>
              </a:lnSpc>
            </a:pPr>
            <a:r>
              <a:rPr sz="1400" b="1">
                <a:solidFill>
                  <a:srgbClr val="D4A017"/>
                </a:solidFill>
                <a:latin typeface="Calibri"/>
              </a:rPr>
              <a:t>▸</a:t>
            </a:r>
          </a:p>
        </p:txBody>
      </p:sp>
      <p:sp>
        <p:nvSpPr>
          <p:cNvPr id="19" name="TextBox 18"/>
          <p:cNvSpPr txBox="1"/>
          <p:nvPr/>
        </p:nvSpPr>
        <p:spPr>
          <a:xfrm>
            <a:off x="8549640" y="3520440"/>
            <a:ext cx="3383280" cy="457200"/>
          </a:xfrm>
          <a:prstGeom prst="rect">
            <a:avLst/>
          </a:prstGeom>
          <a:noFill/>
        </p:spPr>
        <p:txBody>
          <a:bodyPr wrap="square" lIns="0" rIns="0" tIns="0" bIns="0" anchor="t">
            <a:spAutoFit/>
          </a:bodyPr>
          <a:lstStyle/>
          <a:p>
            <a:pPr algn="l">
              <a:lnSpc>
                <a:spcPct val="130000"/>
              </a:lnSpc>
            </a:pPr>
            <a:r>
              <a:rPr sz="1200" b="0">
                <a:solidFill>
                  <a:srgbClr val="F5F1E8"/>
                </a:solidFill>
                <a:latin typeface="Calibri Light"/>
              </a:rPr>
              <a:t>Certification CSPN obtenue</a:t>
            </a:r>
          </a:p>
        </p:txBody>
      </p:sp>
      <p:sp>
        <p:nvSpPr>
          <p:cNvPr id="20" name="TextBox 19"/>
          <p:cNvSpPr txBox="1"/>
          <p:nvPr/>
        </p:nvSpPr>
        <p:spPr>
          <a:xfrm>
            <a:off x="8229600" y="4023360"/>
            <a:ext cx="457200" cy="365760"/>
          </a:xfrm>
          <a:prstGeom prst="rect">
            <a:avLst/>
          </a:prstGeom>
          <a:noFill/>
        </p:spPr>
        <p:txBody>
          <a:bodyPr wrap="square" lIns="0" rIns="0" tIns="0" bIns="0" anchor="t">
            <a:spAutoFit/>
          </a:bodyPr>
          <a:lstStyle/>
          <a:p>
            <a:pPr algn="l">
              <a:lnSpc>
                <a:spcPct val="115000"/>
              </a:lnSpc>
            </a:pPr>
            <a:r>
              <a:rPr sz="1400" b="1">
                <a:solidFill>
                  <a:srgbClr val="D4A017"/>
                </a:solidFill>
                <a:latin typeface="Calibri"/>
              </a:rPr>
              <a:t>▸</a:t>
            </a:r>
          </a:p>
        </p:txBody>
      </p:sp>
      <p:sp>
        <p:nvSpPr>
          <p:cNvPr id="21" name="TextBox 20"/>
          <p:cNvSpPr txBox="1"/>
          <p:nvPr/>
        </p:nvSpPr>
        <p:spPr>
          <a:xfrm>
            <a:off x="8549640" y="4023360"/>
            <a:ext cx="3383280" cy="457200"/>
          </a:xfrm>
          <a:prstGeom prst="rect">
            <a:avLst/>
          </a:prstGeom>
          <a:noFill/>
        </p:spPr>
        <p:txBody>
          <a:bodyPr wrap="square" lIns="0" rIns="0" tIns="0" bIns="0" anchor="t">
            <a:spAutoFit/>
          </a:bodyPr>
          <a:lstStyle/>
          <a:p>
            <a:pPr algn="l">
              <a:lnSpc>
                <a:spcPct val="130000"/>
              </a:lnSpc>
            </a:pPr>
            <a:r>
              <a:rPr sz="1200" b="0">
                <a:solidFill>
                  <a:srgbClr val="F5F1E8"/>
                </a:solidFill>
                <a:latin typeface="Calibri Light"/>
              </a:rPr>
              <a:t>OP-TEE TA en production</a:t>
            </a:r>
          </a:p>
        </p:txBody>
      </p:sp>
      <p:sp>
        <p:nvSpPr>
          <p:cNvPr id="22" name="TextBox 21"/>
          <p:cNvSpPr txBox="1"/>
          <p:nvPr/>
        </p:nvSpPr>
        <p:spPr>
          <a:xfrm>
            <a:off x="8229600" y="4526280"/>
            <a:ext cx="457200" cy="365760"/>
          </a:xfrm>
          <a:prstGeom prst="rect">
            <a:avLst/>
          </a:prstGeom>
          <a:noFill/>
        </p:spPr>
        <p:txBody>
          <a:bodyPr wrap="square" lIns="0" rIns="0" tIns="0" bIns="0" anchor="t">
            <a:spAutoFit/>
          </a:bodyPr>
          <a:lstStyle/>
          <a:p>
            <a:pPr algn="l">
              <a:lnSpc>
                <a:spcPct val="115000"/>
              </a:lnSpc>
            </a:pPr>
            <a:r>
              <a:rPr sz="1400" b="1">
                <a:solidFill>
                  <a:srgbClr val="D4A017"/>
                </a:solidFill>
                <a:latin typeface="Calibri"/>
              </a:rPr>
              <a:t>▸</a:t>
            </a:r>
          </a:p>
        </p:txBody>
      </p:sp>
      <p:sp>
        <p:nvSpPr>
          <p:cNvPr id="23" name="TextBox 22"/>
          <p:cNvSpPr txBox="1"/>
          <p:nvPr/>
        </p:nvSpPr>
        <p:spPr>
          <a:xfrm>
            <a:off x="8549640" y="4526280"/>
            <a:ext cx="3383280" cy="457200"/>
          </a:xfrm>
          <a:prstGeom prst="rect">
            <a:avLst/>
          </a:prstGeom>
          <a:noFill/>
        </p:spPr>
        <p:txBody>
          <a:bodyPr wrap="square" lIns="0" rIns="0" tIns="0" bIns="0" anchor="t">
            <a:spAutoFit/>
          </a:bodyPr>
          <a:lstStyle/>
          <a:p>
            <a:pPr algn="l">
              <a:lnSpc>
                <a:spcPct val="130000"/>
              </a:lnSpc>
            </a:pPr>
            <a:r>
              <a:rPr sz="1200" b="0">
                <a:solidFill>
                  <a:srgbClr val="F5F1E8"/>
                </a:solidFill>
                <a:latin typeface="Calibri Light"/>
              </a:rPr>
              <a:t>10+ clients pilotes UE</a:t>
            </a:r>
          </a:p>
        </p:txBody>
      </p:sp>
      <p:sp>
        <p:nvSpPr>
          <p:cNvPr id="24" name="TextBox 23"/>
          <p:cNvSpPr txBox="1"/>
          <p:nvPr/>
        </p:nvSpPr>
        <p:spPr>
          <a:xfrm>
            <a:off x="8229600" y="5029200"/>
            <a:ext cx="457200" cy="365760"/>
          </a:xfrm>
          <a:prstGeom prst="rect">
            <a:avLst/>
          </a:prstGeom>
          <a:noFill/>
        </p:spPr>
        <p:txBody>
          <a:bodyPr wrap="square" lIns="0" rIns="0" tIns="0" bIns="0" anchor="t">
            <a:spAutoFit/>
          </a:bodyPr>
          <a:lstStyle/>
          <a:p>
            <a:pPr algn="l">
              <a:lnSpc>
                <a:spcPct val="115000"/>
              </a:lnSpc>
            </a:pPr>
            <a:r>
              <a:rPr sz="1400" b="1">
                <a:solidFill>
                  <a:srgbClr val="D4A017"/>
                </a:solidFill>
                <a:latin typeface="Calibri"/>
              </a:rPr>
              <a:t>▸</a:t>
            </a:r>
          </a:p>
        </p:txBody>
      </p:sp>
      <p:sp>
        <p:nvSpPr>
          <p:cNvPr id="25" name="TextBox 24"/>
          <p:cNvSpPr txBox="1"/>
          <p:nvPr/>
        </p:nvSpPr>
        <p:spPr>
          <a:xfrm>
            <a:off x="8549640" y="5029200"/>
            <a:ext cx="3383280" cy="457200"/>
          </a:xfrm>
          <a:prstGeom prst="rect">
            <a:avLst/>
          </a:prstGeom>
          <a:noFill/>
        </p:spPr>
        <p:txBody>
          <a:bodyPr wrap="square" lIns="0" rIns="0" tIns="0" bIns="0" anchor="t">
            <a:spAutoFit/>
          </a:bodyPr>
          <a:lstStyle/>
          <a:p>
            <a:pPr algn="l">
              <a:lnSpc>
                <a:spcPct val="130000"/>
              </a:lnSpc>
            </a:pPr>
            <a:r>
              <a:rPr sz="1200" b="0">
                <a:solidFill>
                  <a:srgbClr val="F5F1E8"/>
                </a:solidFill>
                <a:latin typeface="Calibri Light"/>
              </a:rPr>
              <a:t>1er contrat défense souveraine signé</a:t>
            </a:r>
          </a:p>
        </p:txBody>
      </p:sp>
      <p:sp>
        <p:nvSpPr>
          <p:cNvPr id="26" name="TextBox 25"/>
          <p:cNvSpPr txBox="1"/>
          <p:nvPr/>
        </p:nvSpPr>
        <p:spPr>
          <a:xfrm>
            <a:off x="8229600" y="5532120"/>
            <a:ext cx="457200" cy="365760"/>
          </a:xfrm>
          <a:prstGeom prst="rect">
            <a:avLst/>
          </a:prstGeom>
          <a:noFill/>
        </p:spPr>
        <p:txBody>
          <a:bodyPr wrap="square" lIns="0" rIns="0" tIns="0" bIns="0" anchor="t">
            <a:spAutoFit/>
          </a:bodyPr>
          <a:lstStyle/>
          <a:p>
            <a:pPr algn="l">
              <a:lnSpc>
                <a:spcPct val="115000"/>
              </a:lnSpc>
            </a:pPr>
            <a:r>
              <a:rPr sz="1400" b="1">
                <a:solidFill>
                  <a:srgbClr val="D4A017"/>
                </a:solidFill>
                <a:latin typeface="Calibri"/>
              </a:rPr>
              <a:t>▸</a:t>
            </a:r>
          </a:p>
        </p:txBody>
      </p:sp>
      <p:sp>
        <p:nvSpPr>
          <p:cNvPr id="27" name="TextBox 26"/>
          <p:cNvSpPr txBox="1"/>
          <p:nvPr/>
        </p:nvSpPr>
        <p:spPr>
          <a:xfrm>
            <a:off x="8549640" y="5532120"/>
            <a:ext cx="3383280" cy="457200"/>
          </a:xfrm>
          <a:prstGeom prst="rect">
            <a:avLst/>
          </a:prstGeom>
          <a:noFill/>
        </p:spPr>
        <p:txBody>
          <a:bodyPr wrap="square" lIns="0" rIns="0" tIns="0" bIns="0" anchor="t">
            <a:spAutoFit/>
          </a:bodyPr>
          <a:lstStyle/>
          <a:p>
            <a:pPr algn="l">
              <a:lnSpc>
                <a:spcPct val="130000"/>
              </a:lnSpc>
            </a:pPr>
            <a:r>
              <a:rPr sz="1200" b="0">
                <a:solidFill>
                  <a:srgbClr val="F5F1E8"/>
                </a:solidFill>
                <a:latin typeface="Calibri Light"/>
              </a:rPr>
              <a:t>Préparation Série A (12-25 M€)</a:t>
            </a:r>
          </a:p>
        </p:txBody>
      </p:sp>
      <p:sp>
        <p:nvSpPr>
          <p:cNvPr id="28" name="Rectangle 27"/>
          <p:cNvSpPr/>
          <p:nvPr/>
        </p:nvSpPr>
        <p:spPr>
          <a:xfrm>
            <a:off x="0" y="6629400"/>
            <a:ext cx="12191695" cy="2286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647688"/>
            <a:ext cx="3657600" cy="201168"/>
          </a:xfrm>
          <a:prstGeom prst="rect">
            <a:avLst/>
          </a:prstGeom>
          <a:noFill/>
        </p:spPr>
        <p:txBody>
          <a:bodyPr wrap="square" lIns="0" rIns="0" tIns="0" bIns="0" anchor="t">
            <a:spAutoFit/>
          </a:bodyPr>
          <a:lstStyle/>
          <a:p>
            <a:pPr algn="l">
              <a:lnSpc>
                <a:spcPct val="115000"/>
              </a:lnSpc>
            </a:pPr>
            <a:r>
              <a:rPr sz="900" b="0">
                <a:solidFill>
                  <a:srgbClr val="8A95A8"/>
                </a:solidFill>
                <a:latin typeface="Calibri Light"/>
              </a:rPr>
              <a:t>HESIA — Confidential</a:t>
            </a:r>
          </a:p>
        </p:txBody>
      </p:sp>
      <p:sp>
        <p:nvSpPr>
          <p:cNvPr id="30" name="TextBox 29"/>
          <p:cNvSpPr txBox="1"/>
          <p:nvPr/>
        </p:nvSpPr>
        <p:spPr>
          <a:xfrm>
            <a:off x="4572000" y="6647688"/>
            <a:ext cx="2743200" cy="201168"/>
          </a:xfrm>
          <a:prstGeom prst="rect">
            <a:avLst/>
          </a:prstGeom>
          <a:noFill/>
        </p:spPr>
        <p:txBody>
          <a:bodyPr wrap="square" lIns="0" rIns="0" tIns="0" bIns="0" anchor="t">
            <a:spAutoFit/>
          </a:bodyPr>
          <a:lstStyle/>
          <a:p>
            <a:pPr algn="ctr">
              <a:lnSpc>
                <a:spcPct val="115000"/>
              </a:lnSpc>
            </a:pPr>
            <a:r>
              <a:rPr sz="900" b="0">
                <a:solidFill>
                  <a:srgbClr val="8A95A8"/>
                </a:solidFill>
                <a:latin typeface="Calibri Light"/>
              </a:rPr>
              <a:t>Pitch Investisseurs · 2026</a:t>
            </a:r>
          </a:p>
        </p:txBody>
      </p:sp>
      <p:sp>
        <p:nvSpPr>
          <p:cNvPr id="31" name="TextBox 30"/>
          <p:cNvSpPr txBox="1"/>
          <p:nvPr/>
        </p:nvSpPr>
        <p:spPr>
          <a:xfrm>
            <a:off x="10058400" y="6647688"/>
            <a:ext cx="1828800" cy="201168"/>
          </a:xfrm>
          <a:prstGeom prst="rect">
            <a:avLst/>
          </a:prstGeom>
          <a:noFill/>
        </p:spPr>
        <p:txBody>
          <a:bodyPr wrap="square" lIns="0" rIns="0" tIns="0" bIns="0" anchor="t">
            <a:spAutoFit/>
          </a:bodyPr>
          <a:lstStyle/>
          <a:p>
            <a:pPr algn="r">
              <a:lnSpc>
                <a:spcPct val="115000"/>
              </a:lnSpc>
            </a:pPr>
            <a:r>
              <a:rPr sz="900" b="0">
                <a:solidFill>
                  <a:srgbClr val="8A95A8"/>
                </a:solidFill>
                <a:latin typeface="Calibri Light"/>
              </a:rP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286000"/>
          </a:xfrm>
          <a:prstGeom prst="rect">
            <a:avLst/>
          </a:prstGeom>
          <a:solidFill>
            <a:srgbClr val="1332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xagon 3"/>
          <p:cNvSpPr/>
          <p:nvPr/>
        </p:nvSpPr>
        <p:spPr>
          <a:xfrm>
            <a:off x="5852160" y="2606040"/>
            <a:ext cx="548640" cy="548640"/>
          </a:xfrm>
          <a:prstGeom prst="hexagon">
            <a:avLst/>
          </a:prstGeom>
          <a:noFill/>
          <a:ln w="19050">
            <a:solidFill>
              <a:srgbClr val="D4A0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852160" y="2606040"/>
            <a:ext cx="548640" cy="548640"/>
          </a:xfrm>
          <a:prstGeom prst="rect">
            <a:avLst/>
          </a:prstGeom>
          <a:noFill/>
        </p:spPr>
        <p:txBody>
          <a:bodyPr wrap="none" lIns="0" rIns="0" tIns="0" bIns="0" anchor="ctr">
            <a:spAutoFit/>
          </a:bodyPr>
          <a:lstStyle/>
          <a:p>
            <a:pPr algn="ctr"/>
            <a:r>
              <a:rPr b="1" sz="2300">
                <a:solidFill>
                  <a:srgbClr val="D4A017"/>
                </a:solidFill>
                <a:latin typeface="Calibri"/>
              </a:rPr>
              <a:t>H</a:t>
            </a:r>
          </a:p>
        </p:txBody>
      </p:sp>
      <p:sp>
        <p:nvSpPr>
          <p:cNvPr id="6" name="TextBox 5"/>
          <p:cNvSpPr txBox="1"/>
          <p:nvPr/>
        </p:nvSpPr>
        <p:spPr>
          <a:xfrm>
            <a:off x="6446520" y="2679192"/>
            <a:ext cx="1828800" cy="457200"/>
          </a:xfrm>
          <a:prstGeom prst="rect">
            <a:avLst/>
          </a:prstGeom>
          <a:noFill/>
        </p:spPr>
        <p:txBody>
          <a:bodyPr wrap="square" lIns="0" rIns="0" tIns="0" bIns="0" anchor="t">
            <a:spAutoFit/>
          </a:bodyPr>
          <a:lstStyle/>
          <a:p>
            <a:pPr algn="l">
              <a:lnSpc>
                <a:spcPct val="115000"/>
              </a:lnSpc>
            </a:pPr>
            <a:r>
              <a:rPr sz="2200" b="1">
                <a:solidFill>
                  <a:srgbClr val="FFFFFF"/>
                </a:solidFill>
                <a:latin typeface="Calibri"/>
              </a:rPr>
              <a:t>HESIA</a:t>
            </a:r>
          </a:p>
        </p:txBody>
      </p:sp>
      <p:sp>
        <p:nvSpPr>
          <p:cNvPr id="7" name="Rectangle 6"/>
          <p:cNvSpPr/>
          <p:nvPr/>
        </p:nvSpPr>
        <p:spPr>
          <a:xfrm>
            <a:off x="5760720" y="3383280"/>
            <a:ext cx="64008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657600"/>
            <a:ext cx="11064240" cy="1097280"/>
          </a:xfrm>
          <a:prstGeom prst="rect">
            <a:avLst/>
          </a:prstGeom>
          <a:noFill/>
        </p:spPr>
        <p:txBody>
          <a:bodyPr wrap="square" lIns="0" rIns="0" tIns="0" bIns="0" anchor="t">
            <a:spAutoFit/>
          </a:bodyPr>
          <a:lstStyle/>
          <a:p>
            <a:pPr algn="ctr">
              <a:lnSpc>
                <a:spcPct val="120000"/>
              </a:lnSpc>
            </a:pPr>
            <a:r>
              <a:rPr sz="3400" b="1">
                <a:solidFill>
                  <a:srgbClr val="FFFFFF"/>
                </a:solidFill>
                <a:latin typeface="Calibri"/>
              </a:rPr>
              <a:t>Sécurité souveraine.
Post-quantique. Aujourd'hui.</a:t>
            </a:r>
          </a:p>
        </p:txBody>
      </p:sp>
      <p:sp>
        <p:nvSpPr>
          <p:cNvPr id="9" name="TextBox 8"/>
          <p:cNvSpPr txBox="1"/>
          <p:nvPr/>
        </p:nvSpPr>
        <p:spPr>
          <a:xfrm>
            <a:off x="548640" y="4937760"/>
            <a:ext cx="11064240" cy="548640"/>
          </a:xfrm>
          <a:prstGeom prst="rect">
            <a:avLst/>
          </a:prstGeom>
          <a:noFill/>
        </p:spPr>
        <p:txBody>
          <a:bodyPr wrap="square" lIns="0" rIns="0" tIns="0" bIns="0" anchor="t">
            <a:spAutoFit/>
          </a:bodyPr>
          <a:lstStyle/>
          <a:p>
            <a:pPr algn="ctr">
              <a:lnSpc>
                <a:spcPct val="140000"/>
              </a:lnSpc>
            </a:pPr>
            <a:r>
              <a:rPr sz="1500" b="0">
                <a:solidFill>
                  <a:srgbClr val="F5F1E8"/>
                </a:solidFill>
                <a:latin typeface="Calibri Light"/>
              </a:rPr>
              <a:t>Échanger avec l'équipe fondatrice : nous sommes ouverts aux discussions stratégiques, partenariats techniques et investissements.</a:t>
            </a:r>
          </a:p>
        </p:txBody>
      </p:sp>
      <p:sp>
        <p:nvSpPr>
          <p:cNvPr id="10" name="TextBox 9"/>
          <p:cNvSpPr txBox="1"/>
          <p:nvPr/>
        </p:nvSpPr>
        <p:spPr>
          <a:xfrm>
            <a:off x="548640" y="5852160"/>
            <a:ext cx="11064240" cy="365760"/>
          </a:xfrm>
          <a:prstGeom prst="rect">
            <a:avLst/>
          </a:prstGeom>
          <a:noFill/>
        </p:spPr>
        <p:txBody>
          <a:bodyPr wrap="square" lIns="0" rIns="0" tIns="0" bIns="0" anchor="t">
            <a:spAutoFit/>
          </a:bodyPr>
          <a:lstStyle/>
          <a:p>
            <a:pPr algn="ctr">
              <a:lnSpc>
                <a:spcPct val="115000"/>
              </a:lnSpc>
            </a:pPr>
            <a:r>
              <a:rPr sz="1400" b="1">
                <a:solidFill>
                  <a:srgbClr val="D4A017"/>
                </a:solidFill>
                <a:latin typeface="Calibri"/>
              </a:rPr>
              <a:t>investors@hesia.eu  ·  hesia.eu</a:t>
            </a:r>
          </a:p>
        </p:txBody>
      </p:sp>
      <p:sp>
        <p:nvSpPr>
          <p:cNvPr id="11" name="TextBox 10"/>
          <p:cNvSpPr txBox="1"/>
          <p:nvPr/>
        </p:nvSpPr>
        <p:spPr>
          <a:xfrm>
            <a:off x="548640" y="6263640"/>
            <a:ext cx="11064240" cy="274320"/>
          </a:xfrm>
          <a:prstGeom prst="rect">
            <a:avLst/>
          </a:prstGeom>
          <a:noFill/>
        </p:spPr>
        <p:txBody>
          <a:bodyPr wrap="square" lIns="0" rIns="0" tIns="0" bIns="0" anchor="t">
            <a:spAutoFit/>
          </a:bodyPr>
          <a:lstStyle/>
          <a:p>
            <a:pPr algn="ctr">
              <a:lnSpc>
                <a:spcPct val="115000"/>
              </a:lnSpc>
            </a:pPr>
            <a:r>
              <a:rPr sz="1000" b="0">
                <a:solidFill>
                  <a:srgbClr val="8A95A8"/>
                </a:solidFill>
                <a:latin typeface="Calibri Light"/>
              </a:rPr>
              <a:t>Document confidentiel — usage limité aux destinataires identifiés. © HESIA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